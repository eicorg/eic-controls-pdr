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6858000" cy="9144000"/>
  <p:embeddedFontLst>
    <p:embeddedFont>
      <p:font typeface="Helvetica Neue"/>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i89Nxe6hPc4HxEMm6Sjl8hmcN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HelveticaNeue-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HelveticaNeue-italic.fntdata"/><Relationship Id="rId14" Type="http://schemas.openxmlformats.org/officeDocument/2006/relationships/slide" Target="slides/slide10.xml"/><Relationship Id="rId36" Type="http://schemas.openxmlformats.org/officeDocument/2006/relationships/font" Target="fonts/HelveticaNeue-bold.fntdata"/><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font" Target="fonts/HelveticaNeue-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9" name="Google Shape;9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Phoebus is more than just a collection of applications. It’s a technology stack. For operators, it provides a unified toolkit of workflows. Underneath, it offers a suite of microservices that handle alarms, logbooks, archiving, and configuration. And for developers, it’s a framework to build new tools and services on top of EPICS.</a:t>
            </a:r>
            <a:endParaRPr/>
          </a:p>
        </p:txBody>
      </p:sp>
      <p:sp>
        <p:nvSpPr>
          <p:cNvPr id="108" name="Google Shape;10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each of the modules</a:t>
            </a:r>
            <a:endParaRPr/>
          </a:p>
        </p:txBody>
      </p:sp>
      <p:sp>
        <p:nvSpPr>
          <p:cNvPr id="116" name="Google Shape;11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Case 2: manually fixing the converted screens</a:t>
            </a:r>
            <a:br>
              <a:rPr lang="en-US"/>
            </a:br>
            <a:br>
              <a:rPr lang="en-US"/>
            </a:br>
            <a:r>
              <a:rPr lang="en-US"/>
              <a:t>e.g. 1 Image / Camera opis</a:t>
            </a:r>
            <a:endParaRPr/>
          </a:p>
          <a:p>
            <a:pPr indent="0" lvl="0" marL="0" rtl="0" algn="l">
              <a:spcBef>
                <a:spcPts val="0"/>
              </a:spcBef>
              <a:spcAft>
                <a:spcPts val="0"/>
              </a:spcAft>
              <a:buNone/>
            </a:pPr>
            <a:r>
              <a:t/>
            </a:r>
            <a:endParaRPr/>
          </a:p>
        </p:txBody>
      </p:sp>
      <p:sp>
        <p:nvSpPr>
          <p:cNvPr id="139" name="Google Shape;13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Converted screens used in webruntime</a:t>
            </a:r>
            <a:endParaRPr/>
          </a:p>
          <a:p>
            <a:pPr indent="0" lvl="0" marL="0" rtl="0" algn="l">
              <a:spcBef>
                <a:spcPts val="0"/>
              </a:spcBef>
              <a:spcAft>
                <a:spcPts val="0"/>
              </a:spcAft>
              <a:buNone/>
            </a:pPr>
            <a:r>
              <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000000"/>
                </a:solidFill>
                <a:latin typeface="Consolas"/>
                <a:ea typeface="Consolas"/>
                <a:cs typeface="Consolas"/>
                <a:sym typeface="Consolas"/>
              </a:rPr>
              <a:t>- name: mcf8_camera_optics # Used as file name. Must contain no spaces</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type: motors</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config</a:t>
            </a:r>
            <a:r>
              <a:rPr lang="en-US"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tab_name: MCF8 </a:t>
            </a:r>
            <a:r>
              <a:rPr lang="en-US" sz="1800" u="sng">
                <a:solidFill>
                  <a:srgbClr val="000000"/>
                </a:solidFill>
                <a:latin typeface="Consolas"/>
                <a:ea typeface="Consolas"/>
                <a:cs typeface="Consolas"/>
                <a:sym typeface="Consolas"/>
              </a:rPr>
              <a:t>Cam</a:t>
            </a:r>
            <a:r>
              <a:rPr lang="en-US" sz="1800">
                <a:solidFill>
                  <a:srgbClr val="000000"/>
                </a:solidFill>
                <a:latin typeface="Consolas"/>
                <a:ea typeface="Consolas"/>
                <a:cs typeface="Consolas"/>
                <a:sym typeface="Consolas"/>
              </a:rPr>
              <a:t> Optics</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title: MCF8 Camera Optics</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header_title: "[mcf8:10.66.210.111 - xf27id1-ioc1:5011] Camera Optics, Sample Tower Ry1, Rx1, Rz1"</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directory: motors</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margin_top: 20</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margin_bottom: 20</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margin_left: 15</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margin_right: 15</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axes_all:</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controller: PowerPMAC</a:t>
            </a:r>
            <a:endParaRPr sz="1800">
              <a:solidFill>
                <a:srgbClr val="000000"/>
              </a:solidFill>
              <a:latin typeface="Consolas"/>
              <a:ea typeface="Consolas"/>
              <a:cs typeface="Consolas"/>
              <a:sym typeface="Consolas"/>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widget_desc_width: 200</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widget_val_width: 150</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show_home_status: true</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macros:</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Sys</a:t>
            </a:r>
            <a:r>
              <a:rPr lang="en-US" sz="1800">
                <a:solidFill>
                  <a:srgbClr val="000000"/>
                </a:solidFill>
                <a:latin typeface="Consolas"/>
                <a:ea typeface="Consolas"/>
                <a:cs typeface="Consolas"/>
                <a:sym typeface="Consolas"/>
              </a:rPr>
              <a:t>: "XF:27IDF-OP:1"</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CntlSys: "XF:27IDF-CT"</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CntlDev: "MC:08"</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Mtr</a:t>
            </a:r>
            <a:r>
              <a:rPr lang="en-US" sz="1800">
                <a:solidFill>
                  <a:srgbClr val="000000"/>
                </a:solidFill>
                <a:latin typeface="Consolas"/>
                <a:ea typeface="Consolas"/>
                <a:cs typeface="Consolas"/>
                <a:sym typeface="Consolas"/>
              </a:rPr>
              <a:t>: "</a:t>
            </a:r>
            <a:r>
              <a:rPr lang="en-US" sz="1800" u="sng">
                <a:solidFill>
                  <a:srgbClr val="000000"/>
                </a:solidFill>
                <a:latin typeface="Consolas"/>
                <a:ea typeface="Consolas"/>
                <a:cs typeface="Consolas"/>
                <a:sym typeface="Consolas"/>
              </a:rPr>
              <a:t>Mtr</a:t>
            </a:r>
            <a:r>
              <a:rPr lang="en-US" sz="1800">
                <a:solidFill>
                  <a:srgbClr val="000000"/>
                </a:solidFill>
                <a:latin typeface="Consolas"/>
                <a:ea typeface="Consolas"/>
                <a:cs typeface="Consolas"/>
                <a:sym typeface="Consolas"/>
              </a:rPr>
              <a:t>"</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axes:</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 macros:</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Dev</a:t>
            </a:r>
            <a:r>
              <a:rPr lang="en-US" sz="1800">
                <a:solidFill>
                  <a:srgbClr val="000000"/>
                </a:solidFill>
                <a:latin typeface="Consolas"/>
                <a:ea typeface="Consolas"/>
                <a:cs typeface="Consolas"/>
                <a:sym typeface="Consolas"/>
              </a:rPr>
              <a:t>: "{OPT:1-Ax:CamRot}"</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CntlAxis: 1</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 macros:</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Dev</a:t>
            </a:r>
            <a:r>
              <a:rPr lang="en-US" sz="1800">
                <a:solidFill>
                  <a:srgbClr val="000000"/>
                </a:solidFill>
                <a:latin typeface="Consolas"/>
                <a:ea typeface="Consolas"/>
                <a:cs typeface="Consolas"/>
                <a:sym typeface="Consolas"/>
              </a:rPr>
              <a:t>: "{OPT:1-Ax:ObjSel}"</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CntlAxis: 2</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 macros:</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Dev</a:t>
            </a:r>
            <a:r>
              <a:rPr lang="en-US" sz="1800">
                <a:solidFill>
                  <a:srgbClr val="000000"/>
                </a:solidFill>
                <a:latin typeface="Consolas"/>
                <a:ea typeface="Consolas"/>
                <a:cs typeface="Consolas"/>
                <a:sym typeface="Consolas"/>
              </a:rPr>
              <a:t>: "{OPT:1-Ax:Focus2}"</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CntlAxis: 3</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 macros:</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Dev</a:t>
            </a:r>
            <a:r>
              <a:rPr lang="en-US" sz="1800">
                <a:solidFill>
                  <a:srgbClr val="000000"/>
                </a:solidFill>
                <a:latin typeface="Consolas"/>
                <a:ea typeface="Consolas"/>
                <a:cs typeface="Consolas"/>
                <a:sym typeface="Consolas"/>
              </a:rPr>
              <a:t>: "{OPT:1-Ax:Focus1}"</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CntlAxis: 4</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 macros:</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Dev</a:t>
            </a:r>
            <a:r>
              <a:rPr lang="en-US" sz="1800">
                <a:solidFill>
                  <a:srgbClr val="000000"/>
                </a:solidFill>
                <a:latin typeface="Consolas"/>
                <a:ea typeface="Consolas"/>
                <a:cs typeface="Consolas"/>
                <a:sym typeface="Consolas"/>
              </a:rPr>
              <a:t>: "{OPT:2-Ax:Focus}"</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CntlAxis: 5</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 macros:</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Dev</a:t>
            </a:r>
            <a:r>
              <a:rPr lang="en-US" sz="1800">
                <a:solidFill>
                  <a:srgbClr val="000000"/>
                </a:solidFill>
                <a:latin typeface="Consolas"/>
                <a:ea typeface="Consolas"/>
                <a:cs typeface="Consolas"/>
                <a:sym typeface="Consolas"/>
              </a:rPr>
              <a:t>: "{OPT:2-Ax:CamRot}"</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CntlAxis: 6</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 macros:</a:t>
            </a:r>
            <a:endParaRPr/>
          </a:p>
          <a:p>
            <a:pPr indent="0" lvl="0" marL="0" marR="0" rtl="0" algn="l">
              <a:spcBef>
                <a:spcPts val="0"/>
              </a:spcBef>
              <a:spcAft>
                <a:spcPts val="0"/>
              </a:spcAft>
              <a:buNone/>
            </a:pPr>
            <a:r>
              <a:rPr lang="en-US" sz="1800" u="sng">
                <a:solidFill>
                  <a:srgbClr val="000000"/>
                </a:solidFill>
                <a:latin typeface="Consolas"/>
                <a:ea typeface="Consolas"/>
                <a:cs typeface="Consolas"/>
                <a:sym typeface="Consolas"/>
              </a:rPr>
              <a:t>Dev</a:t>
            </a:r>
            <a:r>
              <a:rPr lang="en-US" sz="1800">
                <a:solidFill>
                  <a:srgbClr val="000000"/>
                </a:solidFill>
                <a:latin typeface="Consolas"/>
                <a:ea typeface="Consolas"/>
                <a:cs typeface="Consolas"/>
                <a:sym typeface="Consolas"/>
              </a:rPr>
              <a:t>: "{SMPL:1-Ax:Ry1}"</a:t>
            </a:r>
            <a:endParaRPr/>
          </a:p>
          <a:p>
            <a:pPr indent="0" lvl="0" marL="0" marR="0" rtl="0" algn="l">
              <a:spcBef>
                <a:spcPts val="0"/>
              </a:spcBef>
              <a:spcAft>
                <a:spcPts val="0"/>
              </a:spcAft>
              <a:buNone/>
            </a:pPr>
            <a:r>
              <a:rPr lang="en-US" sz="1800">
                <a:solidFill>
                  <a:srgbClr val="000000"/>
                </a:solidFill>
                <a:latin typeface="Consolas"/>
                <a:ea typeface="Consolas"/>
                <a:cs typeface="Consolas"/>
                <a:sym typeface="Consolas"/>
              </a:rPr>
              <a:t>CntlAxis: 7</a:t>
            </a:r>
            <a:endParaRPr/>
          </a:p>
        </p:txBody>
      </p:sp>
      <p:sp>
        <p:nvSpPr>
          <p:cNvPr id="155" name="Google Shape;15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8" name="Google Shape;16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Beyond Display Builder and Data Browser, Phoebus offers a rich suite of applications. The Alarm UI provides dedicated views for managing alarms, while logbook clients integrate seamlessly for recording operations. Save &amp; Restore lets operators snapshot and restore system states. Channel Finder clients enable PV discovery with metadata, and smaller utilities like Probe, PV Table, and PV Tree support diagnostics and day-to-day operations. All of these applications share context, so operators move fluidly between them without duplication of effort</a:t>
            </a:r>
            <a:endParaRPr/>
          </a:p>
        </p:txBody>
      </p:sp>
      <p:sp>
        <p:nvSpPr>
          <p:cNvPr id="178" name="Google Shape;17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each of the modules</a:t>
            </a:r>
            <a:endParaRPr/>
          </a:p>
        </p:txBody>
      </p:sp>
      <p:sp>
        <p:nvSpPr>
          <p:cNvPr id="185" name="Google Shape;18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0" name="Google Shape;20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Phoebus provides a family of middle-layer services that extend EPICS. They are implemented as modular microservices, which means they can scale independently, are resilient to failures, and integrate well with modern practices like CI/CD and containerized deployments. Many of them share a common foundation — for example, CorePV and VTypes — so data flows consistently between services and applications.</a:t>
            </a:r>
            <a:endParaRPr/>
          </a:p>
        </p:txBody>
      </p:sp>
      <p:sp>
        <p:nvSpPr>
          <p:cNvPr id="201" name="Google Shape;20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8" name="Google Shape;20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Alarm system is implemented as three cooperating services: the Alarm Server monitors PVs and issues events, the Alarm Logger records history and operator actions, and the Alarm Configuration Manager tracks versioned configurations. Alongside this, ChannelFinder acts as a searchable directory of PVs, enriched with metadata like IOC host and record type, supporting discovery and navigation in large systems.</a:t>
            </a:r>
            <a:endParaRPr/>
          </a:p>
        </p:txBody>
      </p:sp>
      <p:sp>
        <p:nvSpPr>
          <p:cNvPr id="209" name="Google Shape;20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Other services handle persistence and logging. Save &amp; Restore lets operators capture and restore system states. Olog is a logbook built on Elastic and MongoDB, with clients in Phoebus and the web. For archiving, the Archive Engine offers simplicity and relational DB integration, while the Archiver Appliance scales to millions of PVs using distributed clustering and protocol-buffer storage.</a:t>
            </a:r>
            <a:endParaRPr/>
          </a:p>
        </p:txBody>
      </p:sp>
      <p:sp>
        <p:nvSpPr>
          <p:cNvPr id="216" name="Google Shape;21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2" name="Google Shape;22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each of the modules</a:t>
            </a:r>
            <a:endParaRPr/>
          </a:p>
        </p:txBody>
      </p:sp>
      <p:sp>
        <p:nvSpPr>
          <p:cNvPr id="223" name="Google Shape;22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Phoebus builds directly on the Java Development Kit (JDK), using only standard Java and JavaFX. By avoiding Eclipse RCP, we keep the runtime lightweight, portable across platforms, and easier to maintain, while still benefiting from the stability of long-term support JDK releases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Phoebus is organized as a modular stack. At the bottom, we rely only on standard Java and JavaFX, not Eclipse RCP. On top of this, the </a:t>
            </a:r>
            <a:r>
              <a:rPr b="1" lang="en-US"/>
              <a:t>core</a:t>
            </a:r>
            <a:r>
              <a:rPr lang="en-US"/>
              <a:t> and </a:t>
            </a:r>
            <a:r>
              <a:rPr b="1" lang="en-US"/>
              <a:t>core-UI modules</a:t>
            </a:r>
            <a:r>
              <a:rPr lang="en-US"/>
              <a:t> provide reusable libraries: PV access, VTypes, docking, menus, selection, logging. These support both the </a:t>
            </a:r>
            <a:r>
              <a:rPr b="1" lang="en-US"/>
              <a:t>applications</a:t>
            </a:r>
            <a:r>
              <a:rPr lang="en-US"/>
              <a:t> that operators use and the </a:t>
            </a:r>
            <a:r>
              <a:rPr b="1" lang="en-US"/>
              <a:t>services</a:t>
            </a:r>
            <a:r>
              <a:rPr lang="en-US"/>
              <a:t> that provide alarms, logbooks, save/restore, and archiving. Thanks to the </a:t>
            </a:r>
            <a:r>
              <a:rPr b="1" lang="en-US"/>
              <a:t>SPI extension mechanism</a:t>
            </a:r>
            <a:r>
              <a:rPr lang="en-US"/>
              <a:t>, sites can plug in their own protocols, clients, or applications, keeping the system both stable and flexible.</a:t>
            </a:r>
            <a:endParaRPr/>
          </a:p>
          <a:p>
            <a:pPr indent="0" lvl="0" marL="0" rtl="0" algn="l">
              <a:spcBef>
                <a:spcPts val="0"/>
              </a:spcBef>
              <a:spcAft>
                <a:spcPts val="0"/>
              </a:spcAft>
              <a:buNone/>
            </a:pPr>
            <a:r>
              <a:t/>
            </a:r>
            <a:endParaRPr/>
          </a:p>
          <a:p>
            <a:pPr indent="0" lvl="0" marL="0" marR="0" rtl="0" algn="l">
              <a:lnSpc>
                <a:spcPct val="100000"/>
              </a:lnSpc>
              <a:spcBef>
                <a:spcPts val="0"/>
              </a:spcBef>
              <a:spcAft>
                <a:spcPts val="0"/>
              </a:spcAft>
              <a:buClr>
                <a:schemeClr val="dk1"/>
              </a:buClr>
              <a:buSzPts val="1200"/>
              <a:buFont typeface="Calibri"/>
              <a:buNone/>
            </a:pPr>
            <a:r>
              <a:rPr lang="en-US"/>
              <a:t>Foundation for both </a:t>
            </a:r>
            <a:r>
              <a:rPr b="1" lang="en-US"/>
              <a:t>applications</a:t>
            </a:r>
            <a:r>
              <a:rPr lang="en-US"/>
              <a:t> and </a:t>
            </a:r>
            <a:r>
              <a:rPr b="1" lang="en-US"/>
              <a:t>microservices</a:t>
            </a:r>
            <a:endParaRPr/>
          </a:p>
          <a:p>
            <a:pPr indent="0" lvl="0" marL="0" rtl="0" algn="l">
              <a:spcBef>
                <a:spcPts val="0"/>
              </a:spcBef>
              <a:spcAft>
                <a:spcPts val="0"/>
              </a:spcAft>
              <a:buNone/>
            </a:pPr>
            <a:r>
              <a:t/>
            </a:r>
            <a:endParaRPr/>
          </a:p>
        </p:txBody>
      </p:sp>
      <p:sp>
        <p:nvSpPr>
          <p:cNvPr id="236" name="Google Shape;23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3" name="Google Shape;243;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lang="en-US"/>
              <a:t>Under the hood, Phoebus is made up of small, focused modules. Jobs and connection management ensure responsiveness and efficient resource use. VTypes provide a canonical, immutable value model that decouples data from protocol or memory representation. Formula functions enable lightweight, thread-safe data processing off the UI thread. Preferences and layouts guarantee a consistent user experience across deployments</a:t>
            </a:r>
            <a:endParaRPr/>
          </a:p>
          <a:p>
            <a:pPr indent="0" lvl="0" marL="0" rtl="0" algn="l">
              <a:spcBef>
                <a:spcPts val="0"/>
              </a:spcBef>
              <a:spcAft>
                <a:spcPts val="0"/>
              </a:spcAft>
              <a:buNone/>
            </a:pPr>
            <a:r>
              <a:rPr lang="en-US"/>
              <a:t>In addition, the Selection and Adapter services are crucial for integration. The Selection Service lets applications publish what the user has selected — like a PV or an alarm — and other tools can immediately act on it. The Adapter Service allows Phoebus applications to interoperate at runtime without tight coupling, so they remain modular but still feel seamlessly connected.</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t/>
            </a:r>
            <a:endParaRPr b="0" i="0" sz="1200" u="none" strike="noStrike">
              <a:solidFill>
                <a:schemeClr val="dk1"/>
              </a:solidFill>
              <a:latin typeface="Calibri"/>
              <a:ea typeface="Calibri"/>
              <a:cs typeface="Calibri"/>
              <a:sym typeface="Calibri"/>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Selection Services</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The Selection Service provides a clean and</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powerful mechanism for allowing Phoebus</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applications to share the user selected data.</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 Adapter Service</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The Adapter services provided by the framework</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is a means for Phoebus applications to provide</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runtime integration between loosely coupled</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applications.</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 Jobs</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CancellableJob A helper class which provides the</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framework for running tasks in the background while</a:t>
            </a:r>
            <a:endParaRPr/>
          </a:p>
          <a:p>
            <a:pPr indent="0" lvl="0" marL="0" rtl="0" algn="l">
              <a:spcBef>
                <a:spcPts val="0"/>
              </a:spcBef>
              <a:spcAft>
                <a:spcPts val="0"/>
              </a:spcAft>
              <a:buNone/>
            </a:pPr>
            <a:r>
              <a:rPr b="0" i="0" lang="en-US" sz="1200" u="none" strike="noStrike">
                <a:solidFill>
                  <a:schemeClr val="dk1"/>
                </a:solidFill>
                <a:latin typeface="Calibri"/>
                <a:ea typeface="Calibri"/>
                <a:cs typeface="Calibri"/>
                <a:sym typeface="Calibri"/>
              </a:rPr>
              <a:t>still monitoring for cancel requests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Some applications may need to prompt the user for credentials, e.g. when interacting with a protected</a:t>
            </a:r>
            <a:br>
              <a:rPr lang="en-US"/>
            </a:br>
            <a:r>
              <a:rPr lang="en-US"/>
              <a:t>remote service. One such example would be the electronic logbook.</a:t>
            </a:r>
            <a:br>
              <a:rPr lang="en-US"/>
            </a:br>
            <a:br>
              <a:rPr lang="en-US"/>
            </a:br>
            <a:r>
              <a:rPr lang="en-US"/>
              <a:t>Further, Phoebus may be configured to store the credentials entered by the user to avoid repeated prompts.</a:t>
            </a:r>
            <a:br>
              <a:rPr lang="en-US"/>
            </a:br>
            <a:r>
              <a:rPr lang="en-US"/>
              <a:t>In order to also support an explicit logout capability, the Credentials Management application offers means to</a:t>
            </a:r>
            <a:br>
              <a:rPr lang="en-US"/>
            </a:br>
            <a:r>
              <a:rPr lang="en-US"/>
              <a:t>remove stored credentials.</a:t>
            </a:r>
            <a:endParaRPr/>
          </a:p>
        </p:txBody>
      </p:sp>
      <p:sp>
        <p:nvSpPr>
          <p:cNvPr id="244" name="Google Shape;244;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Extensibility is built in through Java’s Service Provider Interface. Sites can add new data sources and protocols, integrate with different services, or provide their own applications and UI extensions. Because extensions are loosely coupled, the core stays stable while deployments remain flexible and site-specific.</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Datasources SPI (core-pv)</a:t>
            </a:r>
            <a:endParaRPr/>
          </a:p>
          <a:p>
            <a:pPr indent="0" lvl="1" marL="457200" rtl="0" algn="l">
              <a:spcBef>
                <a:spcPts val="0"/>
              </a:spcBef>
              <a:spcAft>
                <a:spcPts val="0"/>
              </a:spcAft>
              <a:buNone/>
            </a:pPr>
            <a:r>
              <a:rPr lang="en-US"/>
              <a:t>Provides a pluggable interface for accessing data as </a:t>
            </a:r>
            <a:r>
              <a:rPr b="1" lang="en-US"/>
              <a:t>Process Variables (PVs)</a:t>
            </a:r>
            <a:r>
              <a:rPr lang="en-US"/>
              <a:t> across multiple data sources and control protocols.</a:t>
            </a:r>
            <a:endParaRPr/>
          </a:p>
          <a:p>
            <a:pPr indent="0" lvl="2" marL="914400" rtl="0" algn="l">
              <a:spcBef>
                <a:spcPts val="0"/>
              </a:spcBef>
              <a:spcAft>
                <a:spcPts val="0"/>
              </a:spcAft>
              <a:buNone/>
            </a:pPr>
            <a:r>
              <a:rPr lang="en-US"/>
              <a:t>Channel Access (ca://) &amp; PVAccess (pva://) 🡪 Connect to live EPICS PVs.</a:t>
            </a:r>
            <a:endParaRPr/>
          </a:p>
          <a:p>
            <a:pPr indent="0" lvl="2" marL="914400" rtl="0" algn="l">
              <a:spcBef>
                <a:spcPts val="0"/>
              </a:spcBef>
              <a:spcAft>
                <a:spcPts val="0"/>
              </a:spcAft>
              <a:buNone/>
            </a:pPr>
            <a:r>
              <a:rPr lang="en-US"/>
              <a:t>Simulated (sim://) 🡪 Generate test signals (sine, noise, ramp, etc.).</a:t>
            </a:r>
            <a:endParaRPr/>
          </a:p>
          <a:p>
            <a:pPr indent="0" lvl="2" marL="914400" rtl="0" algn="l">
              <a:spcBef>
                <a:spcPts val="0"/>
              </a:spcBef>
              <a:spcAft>
                <a:spcPts val="0"/>
              </a:spcAft>
              <a:buNone/>
            </a:pPr>
            <a:r>
              <a:rPr lang="en-US"/>
              <a:t>Archive Data Source (archive://), Replay Data Source (replay://)</a:t>
            </a:r>
            <a:endParaRPr/>
          </a:p>
          <a:p>
            <a:pPr indent="0" lvl="2" marL="914400" rtl="0" algn="l">
              <a:spcBef>
                <a:spcPts val="0"/>
              </a:spcBef>
              <a:spcAft>
                <a:spcPts val="0"/>
              </a:spcAft>
              <a:buNone/>
            </a:pPr>
            <a:r>
              <a:rPr lang="en-US"/>
              <a:t>MQTT (mqtt://) &amp; Tango (tga://, tgc://) 🡪 Access MQTT &amp; Tango control system data. </a:t>
            </a:r>
            <a:endParaRPr/>
          </a:p>
          <a:p>
            <a:pPr indent="0" lvl="0" marL="0" rtl="0" algn="l">
              <a:spcBef>
                <a:spcPts val="0"/>
              </a:spcBef>
              <a:spcAft>
                <a:spcPts val="0"/>
              </a:spcAft>
              <a:buNone/>
            </a:pPr>
            <a:r>
              <a:rPr lang="en-US"/>
              <a:t>Logbook Clients SPI</a:t>
            </a:r>
            <a:endParaRPr/>
          </a:p>
          <a:p>
            <a:pPr indent="0" lvl="1" marL="457200" rtl="0" algn="l">
              <a:spcBef>
                <a:spcPts val="0"/>
              </a:spcBef>
              <a:spcAft>
                <a:spcPts val="0"/>
              </a:spcAft>
              <a:buNone/>
            </a:pPr>
            <a:r>
              <a:rPr lang="en-US"/>
              <a:t>Provide pluggable interface for integrating multiple lobook services</a:t>
            </a:r>
            <a:endParaRPr/>
          </a:p>
          <a:p>
            <a:pPr indent="0" lvl="2" marL="914400" rtl="0" algn="l">
              <a:spcBef>
                <a:spcPts val="0"/>
              </a:spcBef>
              <a:spcAft>
                <a:spcPts val="0"/>
              </a:spcAft>
              <a:buNone/>
            </a:pPr>
            <a:r>
              <a:rPr lang="en-US"/>
              <a:t>Olog 🡪 client to create/retrieve logs from olog</a:t>
            </a:r>
            <a:endParaRPr/>
          </a:p>
          <a:p>
            <a:pPr indent="0" lvl="2" marL="914400" rtl="0" algn="l">
              <a:spcBef>
                <a:spcPts val="0"/>
              </a:spcBef>
              <a:spcAft>
                <a:spcPts val="0"/>
              </a:spcAft>
              <a:buNone/>
            </a:pPr>
            <a:r>
              <a:rPr lang="en-US"/>
              <a:t>Elog 🡪 client to create/retrieve logs from elog</a:t>
            </a:r>
            <a:endParaRPr/>
          </a:p>
          <a:p>
            <a:pPr indent="0" lvl="0" marL="0" rtl="0" algn="l">
              <a:spcBef>
                <a:spcPts val="0"/>
              </a:spcBef>
              <a:spcAft>
                <a:spcPts val="0"/>
              </a:spcAft>
              <a:buNone/>
            </a:pPr>
            <a:r>
              <a:t/>
            </a:r>
            <a:endParaRPr b="1"/>
          </a:p>
          <a:p>
            <a:pPr indent="0" lvl="0" marL="0" rtl="0" algn="l">
              <a:spcBef>
                <a:spcPts val="0"/>
              </a:spcBef>
              <a:spcAft>
                <a:spcPts val="0"/>
              </a:spcAft>
              <a:buClr>
                <a:schemeClr val="dk1"/>
              </a:buClr>
              <a:buSzPts val="1200"/>
              <a:buFont typeface="Calibri"/>
              <a:buNone/>
            </a:pPr>
            <a:r>
              <a:t/>
            </a:r>
            <a:endParaRPr b="1"/>
          </a:p>
          <a:p>
            <a:pPr indent="0" lvl="0" marL="0" rtl="0" algn="l">
              <a:spcBef>
                <a:spcPts val="0"/>
              </a:spcBef>
              <a:spcAft>
                <a:spcPts val="0"/>
              </a:spcAft>
              <a:buClr>
                <a:schemeClr val="dk1"/>
              </a:buClr>
              <a:buSzPts val="1200"/>
              <a:buFont typeface="Calibri"/>
              <a:buNone/>
            </a:pPr>
            <a:r>
              <a:rPr b="1" lang="en-US"/>
              <a:t>core-pv</a:t>
            </a:r>
            <a:endParaRPr b="1"/>
          </a:p>
          <a:p>
            <a:pPr indent="0" lvl="1" marL="457200" rtl="0" algn="l">
              <a:spcBef>
                <a:spcPts val="0"/>
              </a:spcBef>
              <a:spcAft>
                <a:spcPts val="0"/>
              </a:spcAft>
              <a:buNone/>
            </a:pPr>
            <a:r>
              <a:rPr lang="en-US"/>
              <a:t>Provides a pluggable/extendable interface for accessing data as </a:t>
            </a:r>
            <a:r>
              <a:rPr b="1" lang="en-US"/>
              <a:t>Process Variables (PVs)</a:t>
            </a:r>
            <a:r>
              <a:rPr lang="en-US"/>
              <a:t> across multiple data sources and control protocols.</a:t>
            </a:r>
            <a:endParaRPr/>
          </a:p>
          <a:p>
            <a:pPr indent="0" lvl="1" marL="457200" rtl="0" algn="l">
              <a:spcBef>
                <a:spcPts val="0"/>
              </a:spcBef>
              <a:spcAft>
                <a:spcPts val="0"/>
              </a:spcAft>
              <a:buNone/>
            </a:pPr>
            <a:r>
              <a:rPr lang="en-US"/>
              <a:t>Data Sources define how to:</a:t>
            </a:r>
            <a:endParaRPr/>
          </a:p>
          <a:p>
            <a:pPr indent="0" lvl="2" marL="914400" rtl="0" algn="l">
              <a:spcBef>
                <a:spcPts val="0"/>
              </a:spcBef>
              <a:spcAft>
                <a:spcPts val="0"/>
              </a:spcAft>
              <a:buNone/>
            </a:pPr>
            <a:r>
              <a:rPr b="1" lang="en-US"/>
              <a:t>Subscribe</a:t>
            </a:r>
            <a:r>
              <a:rPr lang="en-US"/>
              <a:t> (CA, PVA, Sim, Sys, MQTT, PVWS, …)</a:t>
            </a:r>
            <a:endParaRPr/>
          </a:p>
          <a:p>
            <a:pPr indent="0" lvl="2" marL="914400" rtl="0" algn="l">
              <a:spcBef>
                <a:spcPts val="0"/>
              </a:spcBef>
              <a:spcAft>
                <a:spcPts val="0"/>
              </a:spcAft>
              <a:buNone/>
            </a:pPr>
            <a:r>
              <a:rPr b="1" lang="en-US"/>
              <a:t>Read/Monitor</a:t>
            </a:r>
            <a:r>
              <a:rPr lang="en-US"/>
              <a:t> (value + metadata updates)</a:t>
            </a:r>
            <a:endParaRPr/>
          </a:p>
          <a:p>
            <a:pPr indent="0" lvl="2" marL="914400" rtl="0" algn="l">
              <a:spcBef>
                <a:spcPts val="0"/>
              </a:spcBef>
              <a:spcAft>
                <a:spcPts val="0"/>
              </a:spcAft>
              <a:buNone/>
            </a:pPr>
            <a:r>
              <a:rPr b="1" lang="en-US"/>
              <a:t>Write</a:t>
            </a:r>
            <a:r>
              <a:rPr lang="en-US"/>
              <a:t> (when permitted)</a:t>
            </a:r>
            <a:endParaRPr/>
          </a:p>
          <a:p>
            <a:pPr indent="0" lvl="1" marL="457200" rtl="0" algn="l">
              <a:spcBef>
                <a:spcPts val="0"/>
              </a:spcBef>
              <a:spcAft>
                <a:spcPts val="0"/>
              </a:spcAft>
              <a:buNone/>
            </a:pPr>
            <a:r>
              <a:rPr lang="en-US"/>
              <a:t>Vtype mapping</a:t>
            </a:r>
            <a:endParaRPr/>
          </a:p>
          <a:p>
            <a:pPr indent="0" lvl="1" marL="457200" rtl="0" algn="l">
              <a:spcBef>
                <a:spcPts val="0"/>
              </a:spcBef>
              <a:spcAft>
                <a:spcPts val="0"/>
              </a:spcAft>
              <a:buNone/>
            </a:pPr>
            <a:r>
              <a:t/>
            </a:r>
            <a:endParaRPr/>
          </a:p>
          <a:p>
            <a:pPr indent="0" lvl="0" marL="0" rtl="0" algn="l">
              <a:spcBef>
                <a:spcPts val="0"/>
              </a:spcBef>
              <a:spcAft>
                <a:spcPts val="0"/>
              </a:spcAft>
              <a:buNone/>
            </a:pPr>
            <a:r>
              <a:rPr b="1" lang="en-US"/>
              <a:t>Example Data Sources:</a:t>
            </a:r>
            <a:endParaRPr/>
          </a:p>
          <a:p>
            <a:pPr indent="0" lvl="1" marL="457200" rtl="0" algn="l">
              <a:spcBef>
                <a:spcPts val="0"/>
              </a:spcBef>
              <a:spcAft>
                <a:spcPts val="0"/>
              </a:spcAft>
              <a:buNone/>
            </a:pPr>
            <a:r>
              <a:rPr b="1" lang="en-US"/>
              <a:t>Channel Access (ca://) &amp; PVAccess (pva://) → Connect to live EPICS PVs.</a:t>
            </a:r>
            <a:endParaRPr/>
          </a:p>
          <a:p>
            <a:pPr indent="0" lvl="1" marL="457200" rtl="0" algn="l">
              <a:spcBef>
                <a:spcPts val="0"/>
              </a:spcBef>
              <a:spcAft>
                <a:spcPts val="0"/>
              </a:spcAft>
              <a:buNone/>
            </a:pPr>
            <a:r>
              <a:rPr b="1" lang="en-US"/>
              <a:t>Simulated (sim://) → Generate test signals (sine, noise, ramp, etc.).</a:t>
            </a:r>
            <a:endParaRPr/>
          </a:p>
          <a:p>
            <a:pPr indent="0" lvl="1" marL="457200" rtl="0" algn="l">
              <a:spcBef>
                <a:spcPts val="0"/>
              </a:spcBef>
              <a:spcAft>
                <a:spcPts val="0"/>
              </a:spcAft>
              <a:buNone/>
            </a:pPr>
            <a:r>
              <a:rPr b="1" lang="en-US"/>
              <a:t>Archive Data Source (archive://),</a:t>
            </a:r>
            <a:r>
              <a:rPr lang="en-US"/>
              <a:t> </a:t>
            </a:r>
            <a:r>
              <a:rPr b="1" lang="en-US"/>
              <a:t>Replay Data Source (replay://)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2" name="Google Shape;252;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1" name="Google Shape;261;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Because Phoebus is modular, facilities can assemble their own products. Each distribution is a curated set of applications, protocols, and services, packaged with site defaults and branding. This makes it possible to tailor Phoebus to different facilities’ workflows, while keeping deployment lightweight and secure.</a:t>
            </a:r>
            <a:endParaRPr/>
          </a:p>
        </p:txBody>
      </p:sp>
      <p:sp>
        <p:nvSpPr>
          <p:cNvPr id="262" name="Google Shape;262;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0" name="Google Shape;27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Explain each of the modules</a:t>
            </a:r>
            <a:endParaRPr/>
          </a:p>
        </p:txBody>
      </p:sp>
      <p:sp>
        <p:nvSpPr>
          <p:cNvPr id="271" name="Google Shape;27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3" name="Google Shape;28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0" name="Google Shape;32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8" name="Google Shape;348;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Java interfaces for values</a:t>
            </a:r>
            <a:endParaRPr/>
          </a:p>
          <a:p>
            <a:pPr indent="0" lvl="1" marL="457200" rtl="0" algn="l">
              <a:spcBef>
                <a:spcPts val="0"/>
              </a:spcBef>
              <a:spcAft>
                <a:spcPts val="0"/>
              </a:spcAft>
              <a:buNone/>
            </a:pPr>
            <a:r>
              <a:rPr lang="en-US"/>
              <a:t>Not tied to protocol or implementation  (i.e. we can read them from databases, epics protocol, file, …)</a:t>
            </a:r>
            <a:endParaRPr/>
          </a:p>
          <a:p>
            <a:pPr indent="0" lvl="1" marL="457200" rtl="0" algn="l">
              <a:spcBef>
                <a:spcPts val="0"/>
              </a:spcBef>
              <a:spcAft>
                <a:spcPts val="0"/>
              </a:spcAft>
              <a:buNone/>
            </a:pPr>
            <a:r>
              <a:rPr lang="en-US"/>
              <a:t>Not tied to memory representation (i.e. they can come directly from the network buffer, can be lazily calculated, …)</a:t>
            </a:r>
            <a:endParaRPr/>
          </a:p>
          <a:p>
            <a:pPr indent="0" lvl="1" marL="457200" rtl="0" algn="l">
              <a:spcBef>
                <a:spcPts val="0"/>
              </a:spcBef>
              <a:spcAft>
                <a:spcPts val="0"/>
              </a:spcAft>
              <a:buNone/>
            </a:pPr>
            <a:r>
              <a:rPr lang="en-US"/>
              <a:t>Immutable</a:t>
            </a:r>
            <a:endParaRPr/>
          </a:p>
          <a:p>
            <a:pPr indent="0" lvl="0" marL="0" rtl="0" algn="l">
              <a:spcBef>
                <a:spcPts val="0"/>
              </a:spcBef>
              <a:spcAft>
                <a:spcPts val="0"/>
              </a:spcAft>
              <a:buNone/>
            </a:pPr>
            <a:r>
              <a:rPr lang="en-US"/>
              <a:t>It’s the “just give me some value from somewhere that is safe to read”</a:t>
            </a:r>
            <a:endParaRPr/>
          </a:p>
          <a:p>
            <a:pPr indent="0" lvl="0" marL="0" marR="0" rtl="0" algn="l">
              <a:lnSpc>
                <a:spcPct val="100000"/>
              </a:lnSpc>
              <a:spcBef>
                <a:spcPts val="0"/>
              </a:spcBef>
              <a:spcAft>
                <a:spcPts val="0"/>
              </a:spcAft>
              <a:buClr>
                <a:schemeClr val="dk1"/>
              </a:buClr>
              <a:buSzPts val="1200"/>
              <a:buFont typeface="Calibri"/>
              <a:buNone/>
            </a:pPr>
            <a:br>
              <a:rPr lang="en-US"/>
            </a:br>
            <a:r>
              <a:rPr lang="en-US"/>
              <a:t>Alarm, Time, Display, … through composition (not inheritance)</a:t>
            </a:r>
            <a:endParaRPr/>
          </a:p>
          <a:p>
            <a:pPr indent="0" lvl="0" marL="0" rtl="0" algn="l">
              <a:spcBef>
                <a:spcPts val="0"/>
              </a:spcBef>
              <a:spcAft>
                <a:spcPts val="0"/>
              </a:spcAft>
              <a:buNone/>
            </a:pPr>
            <a:br>
              <a:rPr lang="en-US"/>
            </a:br>
            <a:endParaRPr/>
          </a:p>
          <a:p>
            <a:pPr indent="0" lvl="0" marL="0" rtl="0" algn="l">
              <a:spcBef>
                <a:spcPts val="0"/>
              </a:spcBef>
              <a:spcAft>
                <a:spcPts val="0"/>
              </a:spcAft>
              <a:buNone/>
            </a:pPr>
            <a:r>
              <a:t/>
            </a:r>
            <a:endParaRPr/>
          </a:p>
          <a:p>
            <a:pPr indent="0" lvl="0" marL="0" rtl="0" algn="l">
              <a:spcBef>
                <a:spcPts val="0"/>
              </a:spcBef>
              <a:spcAft>
                <a:spcPts val="0"/>
              </a:spcAft>
              <a:buNone/>
            </a:pPr>
            <a:r>
              <a:rPr lang="en-US"/>
              <a:t>Expanding vtype and Vimage su</a:t>
            </a:r>
            <a:br>
              <a:rPr lang="en-US"/>
            </a:br>
            <a:br>
              <a:rPr lang="en-US"/>
            </a:br>
            <a:r>
              <a:rPr b="0" i="0" lang="en-US">
                <a:solidFill>
                  <a:srgbClr val="24292F"/>
                </a:solidFill>
                <a:latin typeface="Arial"/>
                <a:ea typeface="Arial"/>
                <a:cs typeface="Arial"/>
                <a:sym typeface="Arial"/>
              </a:rPr>
              <a:t>PVA clients do receive the description within the NTScalar, at least with QSRV.</a:t>
            </a:r>
            <a:br>
              <a:rPr lang="en-US"/>
            </a:br>
            <a:r>
              <a:rPr b="0" i="0" lang="en-US">
                <a:solidFill>
                  <a:srgbClr val="24292F"/>
                </a:solidFill>
                <a:latin typeface="Arial"/>
                <a:ea typeface="Arial"/>
                <a:cs typeface="Arial"/>
                <a:sym typeface="Arial"/>
              </a:rPr>
              <a:t>CA clients on the other hand don't get that with any dbr_.. type for a record "xx" unless they create a separate channel to "xx.DESC", which would double the number of channels and fail for non-IOC CA servers.</a:t>
            </a:r>
            <a:r>
              <a:rPr lang="en-US"/>
              <a:t>pport</a:t>
            </a:r>
            <a:br>
              <a:rPr lang="en-US"/>
            </a:br>
            <a:br>
              <a:rPr lang="en-US"/>
            </a:br>
            <a:r>
              <a:rPr b="0" i="0" lang="en-US">
                <a:solidFill>
                  <a:srgbClr val="24292F"/>
                </a:solidFill>
                <a:latin typeface="Arial"/>
                <a:ea typeface="Arial"/>
                <a:cs typeface="Arial"/>
                <a:sym typeface="Arial"/>
              </a:rPr>
              <a:t>On an IOC, it's perfectly fine to only set an analog record's HIGH limit to say 100 but not the LOW limit</a:t>
            </a:r>
            <a:endParaRPr/>
          </a:p>
        </p:txBody>
      </p:sp>
      <p:sp>
        <p:nvSpPr>
          <p:cNvPr id="349" name="Google Shape;349;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6" name="Google Shape;356;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1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Title">
  <p:cSld name="Main Title">
    <p:spTree>
      <p:nvGrpSpPr>
        <p:cNvPr id="15" name="Shape 15"/>
        <p:cNvGrpSpPr/>
        <p:nvPr/>
      </p:nvGrpSpPr>
      <p:grpSpPr>
        <a:xfrm>
          <a:off x="0" y="0"/>
          <a:ext cx="0" cy="0"/>
          <a:chOff x="0" y="0"/>
          <a:chExt cx="0" cy="0"/>
        </a:xfrm>
      </p:grpSpPr>
      <p:sp>
        <p:nvSpPr>
          <p:cNvPr id="16" name="Google Shape;16;p33"/>
          <p:cNvSpPr/>
          <p:nvPr/>
        </p:nvSpPr>
        <p:spPr>
          <a:xfrm>
            <a:off x="0" y="1"/>
            <a:ext cx="12192000" cy="6857999"/>
          </a:xfrm>
          <a:prstGeom prst="rect">
            <a:avLst/>
          </a:prstGeom>
          <a:gradFill>
            <a:gsLst>
              <a:gs pos="0">
                <a:srgbClr val="3F90C1"/>
              </a:gs>
              <a:gs pos="100000">
                <a:srgbClr val="22669D"/>
              </a:gs>
            </a:gsLst>
            <a:lin ang="16800000" scaled="0"/>
          </a:gra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757070"/>
              </a:solidFill>
              <a:latin typeface="Calibri"/>
              <a:ea typeface="Calibri"/>
              <a:cs typeface="Calibri"/>
              <a:sym typeface="Calibri"/>
            </a:endParaRPr>
          </a:p>
        </p:txBody>
      </p:sp>
      <p:pic>
        <p:nvPicPr>
          <p:cNvPr id="17" name="Google Shape;17;p33"/>
          <p:cNvPicPr preferRelativeResize="0"/>
          <p:nvPr/>
        </p:nvPicPr>
        <p:blipFill rotWithShape="1">
          <a:blip r:embed="rId2">
            <a:alphaModFix/>
          </a:blip>
          <a:srcRect b="0" l="0" r="0" t="0"/>
          <a:stretch/>
        </p:blipFill>
        <p:spPr>
          <a:xfrm>
            <a:off x="0" y="1"/>
            <a:ext cx="12192000" cy="6858000"/>
          </a:xfrm>
          <a:prstGeom prst="rect">
            <a:avLst/>
          </a:prstGeom>
          <a:noFill/>
          <a:ln>
            <a:noFill/>
          </a:ln>
        </p:spPr>
      </p:pic>
      <p:pic>
        <p:nvPicPr>
          <p:cNvPr id="18" name="Google Shape;18;p33"/>
          <p:cNvPicPr preferRelativeResize="0"/>
          <p:nvPr/>
        </p:nvPicPr>
        <p:blipFill rotWithShape="1">
          <a:blip r:embed="rId3">
            <a:alphaModFix/>
          </a:blip>
          <a:srcRect b="0" l="0" r="0" t="0"/>
          <a:stretch/>
        </p:blipFill>
        <p:spPr>
          <a:xfrm>
            <a:off x="10877550" y="6092957"/>
            <a:ext cx="848861" cy="346074"/>
          </a:xfrm>
          <a:prstGeom prst="rect">
            <a:avLst/>
          </a:prstGeom>
          <a:noFill/>
          <a:ln>
            <a:noFill/>
          </a:ln>
        </p:spPr>
      </p:pic>
      <p:sp>
        <p:nvSpPr>
          <p:cNvPr id="19" name="Google Shape;19;p33"/>
          <p:cNvSpPr txBox="1"/>
          <p:nvPr>
            <p:ph type="title"/>
          </p:nvPr>
        </p:nvSpPr>
        <p:spPr>
          <a:xfrm>
            <a:off x="6015656" y="452176"/>
            <a:ext cx="5710755" cy="174061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000"/>
              <a:buFont typeface="Calibri"/>
              <a:buNone/>
              <a:defRPr sz="4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3"/>
          <p:cNvSpPr txBox="1"/>
          <p:nvPr>
            <p:ph idx="1" type="body"/>
          </p:nvPr>
        </p:nvSpPr>
        <p:spPr>
          <a:xfrm>
            <a:off x="6030000" y="2198687"/>
            <a:ext cx="5696411" cy="3924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400"/>
              <a:buFont typeface="Helvetica Neue"/>
              <a:buNone/>
              <a:defRPr b="1" i="0" sz="1400">
                <a:latin typeface="Helvetica Neue"/>
                <a:ea typeface="Helvetica Neue"/>
                <a:cs typeface="Helvetica Neue"/>
                <a:sym typeface="Helvetica Neue"/>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3"/>
          <p:cNvSpPr txBox="1"/>
          <p:nvPr>
            <p:ph idx="2" type="body"/>
          </p:nvPr>
        </p:nvSpPr>
        <p:spPr>
          <a:xfrm>
            <a:off x="9600772" y="2729509"/>
            <a:ext cx="2125639" cy="328433"/>
          </a:xfrm>
          <a:prstGeom prst="rect">
            <a:avLst/>
          </a:prstGeom>
          <a:noFill/>
          <a:ln>
            <a:noFill/>
          </a:ln>
        </p:spPr>
        <p:txBody>
          <a:bodyPr anchorCtr="0" anchor="ctr"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100"/>
              <a:buFont typeface="Helvetica Neue"/>
              <a:buNone/>
              <a:defRPr b="0" i="0" sz="1100">
                <a:latin typeface="Helvetica Neue"/>
                <a:ea typeface="Helvetica Neue"/>
                <a:cs typeface="Helvetica Neue"/>
                <a:sym typeface="Helvetica Neue"/>
              </a:defRPr>
            </a:lvl1pPr>
            <a:lvl2pPr indent="-228600" lvl="1" marL="914400" algn="l">
              <a:lnSpc>
                <a:spcPct val="90000"/>
              </a:lnSpc>
              <a:spcBef>
                <a:spcPts val="500"/>
              </a:spcBef>
              <a:spcAft>
                <a:spcPts val="0"/>
              </a:spcAft>
              <a:buClr>
                <a:schemeClr val="dk1"/>
              </a:buClr>
              <a:buSzPts val="1400"/>
              <a:buFont typeface="Calibri"/>
              <a:buNone/>
              <a:defRPr sz="1400"/>
            </a:lvl2pPr>
            <a:lvl3pPr indent="-228600" lvl="2" marL="1371600" algn="l">
              <a:lnSpc>
                <a:spcPct val="90000"/>
              </a:lnSpc>
              <a:spcBef>
                <a:spcPts val="500"/>
              </a:spcBef>
              <a:spcAft>
                <a:spcPts val="0"/>
              </a:spcAft>
              <a:buClr>
                <a:schemeClr val="dk1"/>
              </a:buClr>
              <a:buSzPts val="1400"/>
              <a:buFont typeface="Calibri"/>
              <a:buNone/>
              <a:defRPr sz="1400"/>
            </a:lvl3pPr>
            <a:lvl4pPr indent="-228600" lvl="3" marL="1828800" algn="l">
              <a:lnSpc>
                <a:spcPct val="90000"/>
              </a:lnSpc>
              <a:spcBef>
                <a:spcPts val="500"/>
              </a:spcBef>
              <a:spcAft>
                <a:spcPts val="0"/>
              </a:spcAft>
              <a:buClr>
                <a:schemeClr val="dk1"/>
              </a:buClr>
              <a:buSzPts val="1400"/>
              <a:buFont typeface="Calibri"/>
              <a:buNone/>
              <a:defRPr sz="1400"/>
            </a:lvl4pPr>
            <a:lvl5pPr indent="-228600" lvl="4" marL="2286000" algn="l">
              <a:lnSpc>
                <a:spcPct val="90000"/>
              </a:lnSpc>
              <a:spcBef>
                <a:spcPts val="500"/>
              </a:spcBef>
              <a:spcAft>
                <a:spcPts val="0"/>
              </a:spcAft>
              <a:buClr>
                <a:schemeClr val="dk1"/>
              </a:buClr>
              <a:buSzPts val="1400"/>
              <a:buFont typeface="Calibri"/>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 name="Shape 22"/>
        <p:cNvGrpSpPr/>
        <p:nvPr/>
      </p:nvGrpSpPr>
      <p:grpSpPr>
        <a:xfrm>
          <a:off x="0" y="0"/>
          <a:ext cx="0" cy="0"/>
          <a:chOff x="0" y="0"/>
          <a:chExt cx="0" cy="0"/>
        </a:xfrm>
      </p:grpSpPr>
      <p:sp>
        <p:nvSpPr>
          <p:cNvPr id="23" name="Google Shape;23;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5" name="Google Shape;25;p3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6" name="Google Shape;26;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3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3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9" name="Google Shape;39;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3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3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3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1" name="Shape 51"/>
        <p:cNvGrpSpPr/>
        <p:nvPr/>
      </p:nvGrpSpPr>
      <p:grpSpPr>
        <a:xfrm>
          <a:off x="0" y="0"/>
          <a:ext cx="0" cy="0"/>
          <a:chOff x="0" y="0"/>
          <a:chExt cx="0" cy="0"/>
        </a:xfrm>
      </p:grpSpPr>
      <p:sp>
        <p:nvSpPr>
          <p:cNvPr id="52" name="Google Shape;5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7" name="Shape 57"/>
        <p:cNvGrpSpPr/>
        <p:nvPr/>
      </p:nvGrpSpPr>
      <p:grpSpPr>
        <a:xfrm>
          <a:off x="0" y="0"/>
          <a:ext cx="0" cy="0"/>
          <a:chOff x="0" y="0"/>
          <a:chExt cx="0" cy="0"/>
        </a:xfrm>
      </p:grpSpPr>
      <p:sp>
        <p:nvSpPr>
          <p:cNvPr id="58" name="Google Shape;58;p3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3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0" name="Google Shape;6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2" name="Shape 72"/>
        <p:cNvGrpSpPr/>
        <p:nvPr/>
      </p:nvGrpSpPr>
      <p:grpSpPr>
        <a:xfrm>
          <a:off x="0" y="0"/>
          <a:ext cx="0" cy="0"/>
          <a:chOff x="0" y="0"/>
          <a:chExt cx="0" cy="0"/>
        </a:xfrm>
      </p:grpSpPr>
      <p:sp>
        <p:nvSpPr>
          <p:cNvPr id="73" name="Google Shape;73;p4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2"/>
          <p:cNvSpPr/>
          <p:nvPr>
            <p:ph idx="2" type="pic"/>
          </p:nvPr>
        </p:nvSpPr>
        <p:spPr>
          <a:xfrm>
            <a:off x="5183188" y="987425"/>
            <a:ext cx="6172200" cy="4873625"/>
          </a:xfrm>
          <a:prstGeom prst="rect">
            <a:avLst/>
          </a:prstGeom>
          <a:noFill/>
          <a:ln>
            <a:noFill/>
          </a:ln>
        </p:spPr>
      </p:sp>
      <p:sp>
        <p:nvSpPr>
          <p:cNvPr id="75" name="Google Shape;75;p4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6" name="Google Shape;76;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9" name="Shape 79"/>
        <p:cNvGrpSpPr/>
        <p:nvPr/>
      </p:nvGrpSpPr>
      <p:grpSpPr>
        <a:xfrm>
          <a:off x="0" y="0"/>
          <a:ext cx="0" cy="0"/>
          <a:chOff x="0" y="0"/>
          <a:chExt cx="0" cy="0"/>
        </a:xfrm>
      </p:grpSpPr>
      <p:sp>
        <p:nvSpPr>
          <p:cNvPr id="80" name="Google Shape;80;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4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2" name="Google Shape;82;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5" name="Shape 85"/>
        <p:cNvGrpSpPr/>
        <p:nvPr/>
      </p:nvGrpSpPr>
      <p:grpSpPr>
        <a:xfrm>
          <a:off x="0" y="0"/>
          <a:ext cx="0" cy="0"/>
          <a:chOff x="0" y="0"/>
          <a:chExt cx="0" cy="0"/>
        </a:xfrm>
      </p:grpSpPr>
      <p:sp>
        <p:nvSpPr>
          <p:cNvPr id="86" name="Google Shape;86;p4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4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0.png"/><Relationship Id="rId6"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9.png"/><Relationship Id="rId4" Type="http://schemas.openxmlformats.org/officeDocument/2006/relationships/image" Target="../media/image22.png"/><Relationship Id="rId5"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20.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38.png"/><Relationship Id="rId4" Type="http://schemas.openxmlformats.org/officeDocument/2006/relationships/image" Target="../media/image26.png"/><Relationship Id="rId5" Type="http://schemas.openxmlformats.org/officeDocument/2006/relationships/image" Target="../media/image37.png"/><Relationship Id="rId6" Type="http://schemas.openxmlformats.org/officeDocument/2006/relationships/image" Target="../media/image25.jpg"/><Relationship Id="rId7" Type="http://schemas.openxmlformats.org/officeDocument/2006/relationships/image" Target="../media/image29.jpg"/><Relationship Id="rId8" Type="http://schemas.openxmlformats.org/officeDocument/2006/relationships/image" Target="../media/image2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hyperlink" Target="https://github.com/ControlSystemStudio" TargetMode="External"/><Relationship Id="rId4" Type="http://schemas.openxmlformats.org/officeDocument/2006/relationships/image" Target="../media/image23.png"/><Relationship Id="rId5" Type="http://schemas.openxmlformats.org/officeDocument/2006/relationships/image" Target="../media/image28.png"/><Relationship Id="rId6" Type="http://schemas.openxmlformats.org/officeDocument/2006/relationships/image" Target="../media/image3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hyperlink" Target="http://phoebus.org/" TargetMode="External"/><Relationship Id="rId4" Type="http://schemas.openxmlformats.org/officeDocument/2006/relationships/hyperlink" Target="https://github.com/ControlSystemStudio" TargetMode="External"/><Relationship Id="rId5" Type="http://schemas.openxmlformats.org/officeDocument/2006/relationships/hyperlink" Target="http://channelfinder.github.io/" TargetMode="External"/><Relationship Id="rId6" Type="http://schemas.openxmlformats.org/officeDocument/2006/relationships/hyperlink" Target="https://github.com/Olog" TargetMode="External"/><Relationship Id="rId7" Type="http://schemas.openxmlformats.org/officeDocument/2006/relationships/hyperlink" Target="https://github.com/ControlSystemStudio/phoebus/tree/master/services" TargetMode="External"/><Relationship Id="rId8"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0.png"/><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4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6.jp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
          <p:cNvSpPr txBox="1"/>
          <p:nvPr>
            <p:ph type="title"/>
          </p:nvPr>
        </p:nvSpPr>
        <p:spPr>
          <a:xfrm>
            <a:off x="4762919" y="440143"/>
            <a:ext cx="7522073" cy="69532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rPr lang="en-US" sz="4000"/>
              <a:t>Phoebus Tools and Services</a:t>
            </a:r>
            <a:endParaRPr/>
          </a:p>
        </p:txBody>
      </p:sp>
      <p:sp>
        <p:nvSpPr>
          <p:cNvPr id="96" name="Google Shape;96;p1"/>
          <p:cNvSpPr txBox="1"/>
          <p:nvPr>
            <p:ph idx="1" type="body"/>
          </p:nvPr>
        </p:nvSpPr>
        <p:spPr>
          <a:xfrm>
            <a:off x="4762919" y="1312007"/>
            <a:ext cx="6561573" cy="267719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1200"/>
              <a:buFont typeface="Helvetica Neue"/>
              <a:buNone/>
            </a:pPr>
            <a:r>
              <a:rPr i="1" lang="en-US" sz="1200">
                <a:solidFill>
                  <a:schemeClr val="lt1"/>
                </a:solidFill>
              </a:rPr>
              <a:t>Kunal Shroff – NSLS2</a:t>
            </a:r>
            <a:endParaRPr/>
          </a:p>
          <a:p>
            <a:pPr indent="0" lvl="0" marL="0" rtl="0" algn="l">
              <a:lnSpc>
                <a:spcPct val="90000"/>
              </a:lnSpc>
              <a:spcBef>
                <a:spcPts val="1000"/>
              </a:spcBef>
              <a:spcAft>
                <a:spcPts val="0"/>
              </a:spcAft>
              <a:buClr>
                <a:schemeClr val="lt1"/>
              </a:buClr>
              <a:buSzPts val="1200"/>
              <a:buFont typeface="Helvetica Neue"/>
              <a:buNone/>
            </a:pPr>
            <a:r>
              <a:rPr i="1" lang="en-US" sz="1200">
                <a:solidFill>
                  <a:schemeClr val="lt1"/>
                </a:solidFill>
              </a:rPr>
              <a:t>Kay Kasemir – SNS</a:t>
            </a:r>
            <a:endParaRPr/>
          </a:p>
          <a:p>
            <a:pPr indent="0" lvl="0" marL="0" rtl="0" algn="l">
              <a:lnSpc>
                <a:spcPct val="90000"/>
              </a:lnSpc>
              <a:spcBef>
                <a:spcPts val="1000"/>
              </a:spcBef>
              <a:spcAft>
                <a:spcPts val="0"/>
              </a:spcAft>
              <a:buClr>
                <a:schemeClr val="lt1"/>
              </a:buClr>
              <a:buSzPts val="1200"/>
              <a:buFont typeface="Helvetica Neue"/>
              <a:buNone/>
            </a:pPr>
            <a:r>
              <a:rPr i="1" lang="en-US" sz="1200">
                <a:solidFill>
                  <a:schemeClr val="lt1"/>
                </a:solidFill>
              </a:rPr>
              <a:t>Georg Weiss – ESS</a:t>
            </a:r>
            <a:endParaRPr/>
          </a:p>
          <a:p>
            <a:pPr indent="0" lvl="0" marL="0" rtl="0" algn="l">
              <a:lnSpc>
                <a:spcPct val="90000"/>
              </a:lnSpc>
              <a:spcBef>
                <a:spcPts val="1000"/>
              </a:spcBef>
              <a:spcAft>
                <a:spcPts val="0"/>
              </a:spcAft>
              <a:buClr>
                <a:schemeClr val="lt1"/>
              </a:buClr>
              <a:buSzPts val="1200"/>
              <a:buFont typeface="Helvetica Neue"/>
              <a:buNone/>
            </a:pPr>
            <a:r>
              <a:rPr i="1" lang="en-US" sz="1200">
                <a:solidFill>
                  <a:schemeClr val="lt1"/>
                </a:solidFill>
              </a:rPr>
              <a:t>Ivan Finch - ISIS</a:t>
            </a:r>
            <a:endParaRPr/>
          </a:p>
          <a:p>
            <a:pPr indent="0" lvl="0" marL="0" rtl="0" algn="l">
              <a:lnSpc>
                <a:spcPct val="90000"/>
              </a:lnSpc>
              <a:spcBef>
                <a:spcPts val="1000"/>
              </a:spcBef>
              <a:spcAft>
                <a:spcPts val="0"/>
              </a:spcAft>
              <a:buClr>
                <a:schemeClr val="lt1"/>
              </a:buClr>
              <a:buSzPts val="1200"/>
              <a:buFont typeface="Helvetica Neue"/>
              <a:buNone/>
            </a:pPr>
            <a:r>
              <a:rPr i="1" lang="en-US" sz="1200">
                <a:solidFill>
                  <a:schemeClr val="lt1"/>
                </a:solidFill>
              </a:rPr>
              <a:t>Tynan Ford – ALS</a:t>
            </a:r>
            <a:endParaRPr/>
          </a:p>
          <a:p>
            <a:pPr indent="0" lvl="0" marL="0" rtl="0" algn="l">
              <a:lnSpc>
                <a:spcPct val="90000"/>
              </a:lnSpc>
              <a:spcBef>
                <a:spcPts val="1000"/>
              </a:spcBef>
              <a:spcAft>
                <a:spcPts val="0"/>
              </a:spcAft>
              <a:buClr>
                <a:schemeClr val="lt1"/>
              </a:buClr>
              <a:buSzPts val="1200"/>
              <a:buFont typeface="Helvetica Neue"/>
              <a:buNone/>
            </a:pPr>
            <a:r>
              <a:rPr i="1" lang="en-US" sz="1200">
                <a:solidFill>
                  <a:schemeClr val="lt1"/>
                </a:solidFill>
              </a:rPr>
              <a:t>Ralph Lange – ITER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
          <p:cNvSpPr txBox="1"/>
          <p:nvPr>
            <p:ph type="title"/>
          </p:nvPr>
        </p:nvSpPr>
        <p:spPr>
          <a:xfrm>
            <a:off x="761802" y="762001"/>
            <a:ext cx="4080362" cy="1708242"/>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4000"/>
              <a:t>Phoebus / </a:t>
            </a:r>
            <a:r>
              <a:rPr lang="en-US" sz="4000">
                <a:solidFill>
                  <a:schemeClr val="dk1"/>
                </a:solidFill>
                <a:latin typeface="Calibri"/>
                <a:ea typeface="Calibri"/>
                <a:cs typeface="Calibri"/>
                <a:sym typeface="Calibri"/>
              </a:rPr>
              <a:t>CS-Studio Collaboration</a:t>
            </a:r>
            <a:endParaRPr/>
          </a:p>
        </p:txBody>
      </p:sp>
      <p:sp>
        <p:nvSpPr>
          <p:cNvPr id="103" name="Google Shape;103;p2"/>
          <p:cNvSpPr txBox="1"/>
          <p:nvPr>
            <p:ph idx="2" type="body"/>
          </p:nvPr>
        </p:nvSpPr>
        <p:spPr>
          <a:xfrm>
            <a:off x="761803" y="2470244"/>
            <a:ext cx="5017205" cy="376983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700"/>
              <a:buFont typeface="Arial"/>
              <a:buChar char="•"/>
            </a:pPr>
            <a:r>
              <a:rPr i="1" lang="en-US" sz="1700"/>
              <a:t>Multiple sites participating in the development of one or more of the EPICS services</a:t>
            </a:r>
            <a:endParaRPr/>
          </a:p>
          <a:p>
            <a:pPr indent="0" lvl="0" marL="0" rtl="0" algn="l">
              <a:lnSpc>
                <a:spcPct val="90000"/>
              </a:lnSpc>
              <a:spcBef>
                <a:spcPts val="1000"/>
              </a:spcBef>
              <a:spcAft>
                <a:spcPts val="0"/>
              </a:spcAft>
              <a:buClr>
                <a:schemeClr val="dk1"/>
              </a:buClr>
              <a:buSzPts val="1700"/>
              <a:buFont typeface="Arial"/>
              <a:buChar char="•"/>
            </a:pPr>
            <a:r>
              <a:rPr i="1" lang="en-US" sz="1700"/>
              <a:t>(NSLS2, SNS, ESS, FRIB, ALS, ITER, DLS, ISIS, CEA, NSRCC, KEK, FZB, DESY, CSNS, LNLS, ROAN, JLAB,…)</a:t>
            </a:r>
            <a:endParaRPr/>
          </a:p>
          <a:p>
            <a:pPr indent="0" lvl="0" marL="0" rtl="0" algn="l">
              <a:lnSpc>
                <a:spcPct val="90000"/>
              </a:lnSpc>
              <a:spcBef>
                <a:spcPts val="1000"/>
              </a:spcBef>
              <a:spcAft>
                <a:spcPts val="0"/>
              </a:spcAft>
              <a:buClr>
                <a:schemeClr val="dk1"/>
              </a:buClr>
              <a:buSzPts val="1700"/>
              <a:buNone/>
            </a:pPr>
            <a:r>
              <a:t/>
            </a:r>
            <a:endParaRPr sz="1700"/>
          </a:p>
        </p:txBody>
      </p:sp>
      <p:pic>
        <p:nvPicPr>
          <p:cNvPr id="104" name="Google Shape;104;p2"/>
          <p:cNvPicPr preferRelativeResize="0"/>
          <p:nvPr>
            <p:ph idx="1" type="body"/>
          </p:nvPr>
        </p:nvPicPr>
        <p:blipFill rotWithShape="1">
          <a:blip r:embed="rId3">
            <a:alphaModFix/>
          </a:blip>
          <a:srcRect b="0" l="0" r="0" t="0"/>
          <a:stretch/>
        </p:blipFill>
        <p:spPr>
          <a:xfrm>
            <a:off x="6096000" y="122307"/>
            <a:ext cx="5793089" cy="673569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Phoebus in the EPICS Controls Ecosystem </a:t>
            </a:r>
            <a:endParaRPr/>
          </a:p>
        </p:txBody>
      </p:sp>
      <p:pic>
        <p:nvPicPr>
          <p:cNvPr descr="Diagram&#10;&#10;AI-generated content may be incorrect." id="111" name="Google Shape;111;p3"/>
          <p:cNvPicPr preferRelativeResize="0"/>
          <p:nvPr>
            <p:ph idx="1" type="body"/>
          </p:nvPr>
        </p:nvPicPr>
        <p:blipFill rotWithShape="1">
          <a:blip r:embed="rId3">
            <a:alphaModFix/>
          </a:blip>
          <a:srcRect b="0" l="0" r="0" t="0"/>
          <a:stretch/>
        </p:blipFill>
        <p:spPr>
          <a:xfrm>
            <a:off x="838200" y="1380701"/>
            <a:ext cx="6764867" cy="4658823"/>
          </a:xfrm>
          <a:prstGeom prst="rect">
            <a:avLst/>
          </a:prstGeom>
          <a:noFill/>
          <a:ln>
            <a:noFill/>
          </a:ln>
        </p:spPr>
      </p:pic>
      <p:sp>
        <p:nvSpPr>
          <p:cNvPr id="112" name="Google Shape;112;p3"/>
          <p:cNvSpPr txBox="1"/>
          <p:nvPr>
            <p:ph idx="2" type="body"/>
          </p:nvPr>
        </p:nvSpPr>
        <p:spPr>
          <a:xfrm>
            <a:off x="7806266" y="1518140"/>
            <a:ext cx="3547533" cy="465882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Operator-facing toolkit for integrated workflows</a:t>
            </a:r>
            <a:endParaRPr/>
          </a:p>
          <a:p>
            <a:pPr indent="-228600" lvl="0" marL="228600" rtl="0" algn="l">
              <a:lnSpc>
                <a:spcPct val="90000"/>
              </a:lnSpc>
              <a:spcBef>
                <a:spcPts val="1000"/>
              </a:spcBef>
              <a:spcAft>
                <a:spcPts val="0"/>
              </a:spcAft>
              <a:buClr>
                <a:schemeClr val="dk1"/>
              </a:buClr>
              <a:buSzPts val="2800"/>
              <a:buChar char="•"/>
            </a:pPr>
            <a:r>
              <a:rPr lang="en-US"/>
              <a:t>A group of middle layer micro services</a:t>
            </a:r>
            <a:endParaRPr/>
          </a:p>
          <a:p>
            <a:pPr indent="-228600" lvl="0" marL="228600" rtl="0" algn="l">
              <a:lnSpc>
                <a:spcPct val="90000"/>
              </a:lnSpc>
              <a:spcBef>
                <a:spcPts val="1000"/>
              </a:spcBef>
              <a:spcAft>
                <a:spcPts val="0"/>
              </a:spcAft>
              <a:buClr>
                <a:schemeClr val="dk1"/>
              </a:buClr>
              <a:buSzPts val="2800"/>
              <a:buChar char="•"/>
            </a:pPr>
            <a:r>
              <a:rPr lang="en-US"/>
              <a:t>A Framework for building tools and services</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4"/>
          <p:cNvSpPr txBox="1"/>
          <p:nvPr>
            <p:ph type="title"/>
          </p:nvPr>
        </p:nvSpPr>
        <p:spPr>
          <a:xfrm>
            <a:off x="3096768" y="3635298"/>
            <a:ext cx="8243068" cy="2852737"/>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6000"/>
              <a:buFont typeface="Calibri"/>
              <a:buNone/>
            </a:pPr>
            <a:r>
              <a:rPr lang="en-US"/>
              <a:t>CS-Studio &amp; Phoebus</a:t>
            </a:r>
            <a:endParaRPr/>
          </a:p>
        </p:txBody>
      </p:sp>
      <p:sp>
        <p:nvSpPr>
          <p:cNvPr id="119" name="Google Shape;119;p4"/>
          <p:cNvSpPr/>
          <p:nvPr/>
        </p:nvSpPr>
        <p:spPr>
          <a:xfrm>
            <a:off x="316992" y="4901184"/>
            <a:ext cx="2535936" cy="1591691"/>
          </a:xfrm>
          <a:prstGeom prst="rect">
            <a:avLst/>
          </a:prstGeom>
          <a:solidFill>
            <a:srgbClr val="1F3864"/>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4"/>
          <p:cNvSpPr/>
          <p:nvPr/>
        </p:nvSpPr>
        <p:spPr>
          <a:xfrm>
            <a:off x="316992" y="2633154"/>
            <a:ext cx="2535936" cy="1591691"/>
          </a:xfrm>
          <a:prstGeom prst="rect">
            <a:avLst/>
          </a:prstGeom>
          <a:solidFill>
            <a:srgbClr val="8DA9DB"/>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EPICS Service</a:t>
            </a:r>
            <a:br>
              <a:rPr b="0" i="0"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Archiver, ChannelFinder</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Save Restore, Olog,</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Alarm</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t>
            </a:r>
            <a:endParaRPr/>
          </a:p>
        </p:txBody>
      </p:sp>
      <p:sp>
        <p:nvSpPr>
          <p:cNvPr id="121" name="Google Shape;121;p4"/>
          <p:cNvSpPr/>
          <p:nvPr/>
        </p:nvSpPr>
        <p:spPr>
          <a:xfrm>
            <a:off x="316992" y="365125"/>
            <a:ext cx="2535936" cy="1591691"/>
          </a:xfrm>
          <a:prstGeom prst="rect">
            <a:avLst/>
          </a:prstGeom>
          <a:solidFill>
            <a:srgbClr val="D8E2F3"/>
          </a:solidFill>
          <a:ln cap="flat" cmpd="sng" w="12700">
            <a:solidFill>
              <a:srgbClr val="D8E2F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EPICS Tools</a:t>
            </a:r>
            <a:br>
              <a:rPr b="1" i="0"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Phoebus</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CS-Studio</a:t>
            </a:r>
            <a:endParaRPr/>
          </a:p>
        </p:txBody>
      </p:sp>
      <p:pic>
        <p:nvPicPr>
          <p:cNvPr id="122" name="Google Shape;122;p4"/>
          <p:cNvPicPr preferRelativeResize="0"/>
          <p:nvPr/>
        </p:nvPicPr>
        <p:blipFill rotWithShape="1">
          <a:blip r:embed="rId3">
            <a:alphaModFix/>
          </a:blip>
          <a:srcRect b="0" l="0" r="0" t="0"/>
          <a:stretch/>
        </p:blipFill>
        <p:spPr>
          <a:xfrm>
            <a:off x="852159" y="5309654"/>
            <a:ext cx="1465602" cy="774749"/>
          </a:xfrm>
          <a:prstGeom prst="rect">
            <a:avLst/>
          </a:prstGeom>
          <a:noFill/>
          <a:ln>
            <a:noFill/>
          </a:ln>
        </p:spPr>
      </p:pic>
      <p:cxnSp>
        <p:nvCxnSpPr>
          <p:cNvPr id="123" name="Google Shape;123;p4"/>
          <p:cNvCxnSpPr/>
          <p:nvPr/>
        </p:nvCxnSpPr>
        <p:spPr>
          <a:xfrm>
            <a:off x="0" y="2290437"/>
            <a:ext cx="3096768" cy="0"/>
          </a:xfrm>
          <a:prstGeom prst="straightConnector1">
            <a:avLst/>
          </a:prstGeom>
          <a:noFill/>
          <a:ln cap="flat" cmpd="sng" w="76200">
            <a:solidFill>
              <a:schemeClr val="dk1"/>
            </a:solidFill>
            <a:prstDash val="solid"/>
            <a:miter lim="800000"/>
            <a:headEnd len="sm" w="sm" type="none"/>
            <a:tailEnd len="sm" w="sm" type="none"/>
          </a:ln>
        </p:spPr>
      </p:cxnSp>
      <p:cxnSp>
        <p:nvCxnSpPr>
          <p:cNvPr id="124" name="Google Shape;124;p4"/>
          <p:cNvCxnSpPr/>
          <p:nvPr/>
        </p:nvCxnSpPr>
        <p:spPr>
          <a:xfrm>
            <a:off x="0" y="4582355"/>
            <a:ext cx="3096768" cy="0"/>
          </a:xfrm>
          <a:prstGeom prst="straightConnector1">
            <a:avLst/>
          </a:prstGeom>
          <a:noFill/>
          <a:ln cap="flat" cmpd="sng" w="76200">
            <a:solidFill>
              <a:schemeClr val="dk1"/>
            </a:solidFill>
            <a:prstDash val="solid"/>
            <a:miter lim="800000"/>
            <a:headEnd len="sm" w="sm" type="none"/>
            <a:tailEnd len="sm" w="sm" type="none"/>
          </a:ln>
        </p:spPr>
      </p:cxnSp>
      <p:cxnSp>
        <p:nvCxnSpPr>
          <p:cNvPr id="125" name="Google Shape;125;p4"/>
          <p:cNvCxnSpPr/>
          <p:nvPr/>
        </p:nvCxnSpPr>
        <p:spPr>
          <a:xfrm>
            <a:off x="35512" y="2290437"/>
            <a:ext cx="0" cy="2277124"/>
          </a:xfrm>
          <a:prstGeom prst="straightConnector1">
            <a:avLst/>
          </a:prstGeom>
          <a:noFill/>
          <a:ln cap="flat" cmpd="sng" w="76200">
            <a:solidFill>
              <a:schemeClr val="dk1"/>
            </a:solidFill>
            <a:prstDash val="solid"/>
            <a:miter lim="800000"/>
            <a:headEnd len="sm" w="sm" type="none"/>
            <a:tailEnd len="sm" w="sm" type="none"/>
          </a:ln>
        </p:spPr>
      </p:cxnSp>
      <p:sp>
        <p:nvSpPr>
          <p:cNvPr id="126" name="Google Shape;126;p4"/>
          <p:cNvSpPr/>
          <p:nvPr/>
        </p:nvSpPr>
        <p:spPr>
          <a:xfrm>
            <a:off x="0" y="2055119"/>
            <a:ext cx="3096768" cy="4713326"/>
          </a:xfrm>
          <a:prstGeom prst="rect">
            <a:avLst/>
          </a:pr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Display Builder</a:t>
            </a:r>
            <a:endParaRPr/>
          </a:p>
        </p:txBody>
      </p:sp>
      <p:sp>
        <p:nvSpPr>
          <p:cNvPr id="132" name="Google Shape;132;p6"/>
          <p:cNvSpPr txBox="1"/>
          <p:nvPr>
            <p:ph idx="1" type="body"/>
          </p:nvPr>
        </p:nvSpPr>
        <p:spPr>
          <a:xfrm>
            <a:off x="836612" y="4454302"/>
            <a:ext cx="5157787"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runtime</a:t>
            </a:r>
            <a:endParaRPr/>
          </a:p>
        </p:txBody>
      </p:sp>
      <p:sp>
        <p:nvSpPr>
          <p:cNvPr id="133" name="Google Shape;133;p6"/>
          <p:cNvSpPr txBox="1"/>
          <p:nvPr>
            <p:ph idx="3" type="body"/>
          </p:nvPr>
        </p:nvSpPr>
        <p:spPr>
          <a:xfrm>
            <a:off x="4097866" y="5668963"/>
            <a:ext cx="5183188" cy="823912"/>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editor</a:t>
            </a:r>
            <a:endParaRPr/>
          </a:p>
        </p:txBody>
      </p:sp>
      <p:pic>
        <p:nvPicPr>
          <p:cNvPr id="134" name="Google Shape;134;p6"/>
          <p:cNvPicPr preferRelativeResize="0"/>
          <p:nvPr>
            <p:ph idx="2" type="body"/>
          </p:nvPr>
        </p:nvPicPr>
        <p:blipFill rotWithShape="1">
          <a:blip r:embed="rId3">
            <a:alphaModFix/>
          </a:blip>
          <a:srcRect b="0" l="0" r="0" t="0"/>
          <a:stretch/>
        </p:blipFill>
        <p:spPr>
          <a:xfrm>
            <a:off x="836612" y="1437701"/>
            <a:ext cx="5157787" cy="3428557"/>
          </a:xfrm>
          <a:prstGeom prst="rect">
            <a:avLst/>
          </a:prstGeom>
          <a:noFill/>
          <a:ln>
            <a:noFill/>
          </a:ln>
        </p:spPr>
      </p:pic>
      <p:pic>
        <p:nvPicPr>
          <p:cNvPr id="135" name="Google Shape;135;p6"/>
          <p:cNvPicPr preferRelativeResize="0"/>
          <p:nvPr>
            <p:ph idx="4" type="body"/>
          </p:nvPr>
        </p:nvPicPr>
        <p:blipFill rotWithShape="1">
          <a:blip r:embed="rId4">
            <a:alphaModFix/>
          </a:blip>
          <a:srcRect b="0" l="0" r="0" t="0"/>
          <a:stretch/>
        </p:blipFill>
        <p:spPr>
          <a:xfrm>
            <a:off x="4097866" y="1690688"/>
            <a:ext cx="7467600" cy="432540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pic>
        <p:nvPicPr>
          <p:cNvPr id="141" name="Google Shape;141;p7"/>
          <p:cNvPicPr preferRelativeResize="0"/>
          <p:nvPr>
            <p:ph idx="1" type="body"/>
          </p:nvPr>
        </p:nvPicPr>
        <p:blipFill rotWithShape="1">
          <a:blip r:embed="rId3">
            <a:alphaModFix/>
          </a:blip>
          <a:srcRect b="0" l="0" r="0" t="0"/>
          <a:stretch/>
        </p:blipFill>
        <p:spPr>
          <a:xfrm>
            <a:off x="1777170" y="14581"/>
            <a:ext cx="10414830" cy="6843419"/>
          </a:xfrm>
          <a:prstGeom prst="rect">
            <a:avLst/>
          </a:prstGeom>
          <a:noFill/>
          <a:ln>
            <a:noFill/>
          </a:ln>
        </p:spPr>
      </p:pic>
      <p:pic>
        <p:nvPicPr>
          <p:cNvPr descr="Graphical user interface, table&#10;&#10;Description automatically generated" id="142" name="Google Shape;142;p7"/>
          <p:cNvPicPr preferRelativeResize="0"/>
          <p:nvPr/>
        </p:nvPicPr>
        <p:blipFill rotWithShape="1">
          <a:blip r:embed="rId4">
            <a:alphaModFix/>
          </a:blip>
          <a:srcRect b="0" l="0" r="0" t="18875"/>
          <a:stretch/>
        </p:blipFill>
        <p:spPr>
          <a:xfrm>
            <a:off x="0" y="3670852"/>
            <a:ext cx="7067564" cy="318714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txBox="1"/>
          <p:nvPr>
            <p:ph type="title"/>
          </p:nvPr>
        </p:nvSpPr>
        <p:spPr>
          <a:xfrm>
            <a:off x="838200" y="365125"/>
            <a:ext cx="10515600" cy="108910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Phoebus on the web</a:t>
            </a:r>
            <a:endParaRPr/>
          </a:p>
        </p:txBody>
      </p:sp>
      <p:sp>
        <p:nvSpPr>
          <p:cNvPr id="149" name="Google Shape;149;p8"/>
          <p:cNvSpPr txBox="1"/>
          <p:nvPr/>
        </p:nvSpPr>
        <p:spPr>
          <a:xfrm>
            <a:off x="838200" y="1441607"/>
            <a:ext cx="3356473" cy="5002442"/>
          </a:xfrm>
          <a:prstGeom prst="rect">
            <a:avLst/>
          </a:prstGeom>
          <a:noFill/>
          <a:ln>
            <a:noFill/>
          </a:ln>
        </p:spPr>
        <p:txBody>
          <a:bodyPr anchorCtr="0" anchor="t" bIns="45700" lIns="91425" spcFirstLastPara="1" rIns="91425" wrap="square" tIns="45700">
            <a:normAutofit/>
          </a:bodyPr>
          <a:lstStyle/>
          <a:p>
            <a:pPr indent="-50800" lvl="0" marL="228600" marR="0" rtl="0" algn="l">
              <a:lnSpc>
                <a:spcPct val="9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Help support remote operations by bringing OPI screens to the web</a:t>
            </a:r>
            <a:endParaRPr/>
          </a:p>
          <a:p>
            <a:pPr indent="0" lvl="0" marL="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.bob files converted to web runtime OPI’s</a:t>
            </a:r>
            <a:br>
              <a:rPr b="0" i="0" lang="en-US" sz="2800" u="none" cap="none" strike="noStrike">
                <a:solidFill>
                  <a:schemeClr val="dk1"/>
                </a:solidFill>
                <a:latin typeface="Calibri"/>
                <a:ea typeface="Calibri"/>
                <a:cs typeface="Calibri"/>
                <a:sym typeface="Calibri"/>
              </a:rPr>
            </a:br>
            <a:endParaRPr b="0" i="0" sz="2800" u="none" cap="none" strike="noStrike">
              <a:solidFill>
                <a:schemeClr val="dk1"/>
              </a:solidFill>
              <a:latin typeface="Calibri"/>
              <a:ea typeface="Calibri"/>
              <a:cs typeface="Calibri"/>
              <a:sym typeface="Calibri"/>
            </a:endParaRPr>
          </a:p>
        </p:txBody>
      </p:sp>
      <p:pic>
        <p:nvPicPr>
          <p:cNvPr id="150" name="Google Shape;150;p8"/>
          <p:cNvPicPr preferRelativeResize="0"/>
          <p:nvPr/>
        </p:nvPicPr>
        <p:blipFill rotWithShape="1">
          <a:blip r:embed="rId3">
            <a:alphaModFix/>
          </a:blip>
          <a:srcRect b="0" l="0" r="0" t="0"/>
          <a:stretch/>
        </p:blipFill>
        <p:spPr>
          <a:xfrm>
            <a:off x="6829425" y="123825"/>
            <a:ext cx="5229225" cy="4795772"/>
          </a:xfrm>
          <a:prstGeom prst="rect">
            <a:avLst/>
          </a:prstGeom>
          <a:noFill/>
          <a:ln>
            <a:noFill/>
          </a:ln>
        </p:spPr>
      </p:pic>
      <p:pic>
        <p:nvPicPr>
          <p:cNvPr id="151" name="Google Shape;151;p8"/>
          <p:cNvPicPr preferRelativeResize="0"/>
          <p:nvPr/>
        </p:nvPicPr>
        <p:blipFill rotWithShape="1">
          <a:blip r:embed="rId4">
            <a:alphaModFix/>
          </a:blip>
          <a:srcRect b="0" l="0" r="0" t="0"/>
          <a:stretch/>
        </p:blipFill>
        <p:spPr>
          <a:xfrm>
            <a:off x="3995875" y="1356734"/>
            <a:ext cx="4200250" cy="508731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Converted screens…but better</a:t>
            </a:r>
            <a:br>
              <a:rPr lang="en-US"/>
            </a:br>
            <a:r>
              <a:rPr lang="en-US"/>
              <a:t>ALS Phoebusgen</a:t>
            </a:r>
            <a:endParaRPr/>
          </a:p>
        </p:txBody>
      </p:sp>
      <p:pic>
        <p:nvPicPr>
          <p:cNvPr id="158" name="Google Shape;158;p9"/>
          <p:cNvPicPr preferRelativeResize="0"/>
          <p:nvPr>
            <p:ph idx="2" type="body"/>
          </p:nvPr>
        </p:nvPicPr>
        <p:blipFill rotWithShape="1">
          <a:blip r:embed="rId3">
            <a:alphaModFix/>
          </a:blip>
          <a:srcRect b="0" l="0" r="0" t="0"/>
          <a:stretch/>
        </p:blipFill>
        <p:spPr>
          <a:xfrm>
            <a:off x="838200" y="3652780"/>
            <a:ext cx="10515598" cy="2524184"/>
          </a:xfrm>
          <a:prstGeom prst="rect">
            <a:avLst/>
          </a:prstGeom>
          <a:noFill/>
          <a:ln>
            <a:noFill/>
          </a:ln>
        </p:spPr>
      </p:pic>
      <p:sp>
        <p:nvSpPr>
          <p:cNvPr id="159" name="Google Shape;159;p9"/>
          <p:cNvSpPr/>
          <p:nvPr/>
        </p:nvSpPr>
        <p:spPr>
          <a:xfrm>
            <a:off x="4244340" y="1882140"/>
            <a:ext cx="3185160" cy="1546860"/>
          </a:xfrm>
          <a:prstGeom prst="rect">
            <a:avLst/>
          </a:prstGeom>
          <a:solidFill>
            <a:schemeClr val="accent1"/>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autogen.py</a:t>
            </a:r>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0" name="Google Shape;160;p9"/>
          <p:cNvSpPr/>
          <p:nvPr/>
        </p:nvSpPr>
        <p:spPr>
          <a:xfrm>
            <a:off x="4530090" y="2491740"/>
            <a:ext cx="2613660" cy="815340"/>
          </a:xfrm>
          <a:prstGeom prst="rect">
            <a:avLst/>
          </a:prstGeom>
          <a:solidFill>
            <a:srgbClr val="B3C6E7"/>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Calibri"/>
                <a:ea typeface="Calibri"/>
                <a:cs typeface="Calibri"/>
                <a:sym typeface="Calibri"/>
              </a:rPr>
              <a:t>phoebusgen</a:t>
            </a:r>
            <a:endParaRPr b="0" i="0" sz="1800" u="none" cap="none" strike="noStrike">
              <a:solidFill>
                <a:schemeClr val="lt1"/>
              </a:solidFill>
              <a:latin typeface="Calibri"/>
              <a:ea typeface="Calibri"/>
              <a:cs typeface="Calibri"/>
              <a:sym typeface="Calibri"/>
            </a:endParaRPr>
          </a:p>
        </p:txBody>
      </p:sp>
      <p:pic>
        <p:nvPicPr>
          <p:cNvPr id="161" name="Google Shape;161;p9"/>
          <p:cNvPicPr preferRelativeResize="0"/>
          <p:nvPr/>
        </p:nvPicPr>
        <p:blipFill rotWithShape="1">
          <a:blip r:embed="rId4">
            <a:alphaModFix/>
          </a:blip>
          <a:srcRect b="0" l="0" r="0" t="0"/>
          <a:stretch/>
        </p:blipFill>
        <p:spPr>
          <a:xfrm>
            <a:off x="7805960" y="1153420"/>
            <a:ext cx="2828925" cy="2514600"/>
          </a:xfrm>
          <a:prstGeom prst="rect">
            <a:avLst/>
          </a:prstGeom>
          <a:noFill/>
          <a:ln>
            <a:noFill/>
          </a:ln>
        </p:spPr>
      </p:pic>
      <p:pic>
        <p:nvPicPr>
          <p:cNvPr id="162" name="Google Shape;162;p9"/>
          <p:cNvPicPr preferRelativeResize="0"/>
          <p:nvPr/>
        </p:nvPicPr>
        <p:blipFill rotWithShape="1">
          <a:blip r:embed="rId5">
            <a:alphaModFix/>
          </a:blip>
          <a:srcRect b="0" l="0" r="0" t="0"/>
          <a:stretch/>
        </p:blipFill>
        <p:spPr>
          <a:xfrm>
            <a:off x="1753897" y="2037361"/>
            <a:ext cx="1677352" cy="1615419"/>
          </a:xfrm>
          <a:prstGeom prst="rect">
            <a:avLst/>
          </a:prstGeom>
          <a:noFill/>
          <a:ln>
            <a:noFill/>
          </a:ln>
        </p:spPr>
      </p:pic>
      <p:pic>
        <p:nvPicPr>
          <p:cNvPr descr="File, format, yaml icon - Download on Iconfinder" id="163" name="Google Shape;163;p9"/>
          <p:cNvPicPr preferRelativeResize="0"/>
          <p:nvPr>
            <p:ph idx="1" type="body"/>
          </p:nvPr>
        </p:nvPicPr>
        <p:blipFill rotWithShape="1">
          <a:blip r:embed="rId6">
            <a:alphaModFix/>
          </a:blip>
          <a:srcRect b="0" l="0" r="0" t="0"/>
          <a:stretch/>
        </p:blipFill>
        <p:spPr>
          <a:xfrm>
            <a:off x="2733513" y="1542210"/>
            <a:ext cx="1134367" cy="1067640"/>
          </a:xfrm>
          <a:prstGeom prst="rect">
            <a:avLst/>
          </a:prstGeom>
          <a:noFill/>
          <a:ln>
            <a:noFill/>
          </a:ln>
        </p:spPr>
      </p:pic>
      <p:cxnSp>
        <p:nvCxnSpPr>
          <p:cNvPr id="164" name="Google Shape;164;p9"/>
          <p:cNvCxnSpPr>
            <a:endCxn id="159" idx="1"/>
          </p:cNvCxnSpPr>
          <p:nvPr/>
        </p:nvCxnSpPr>
        <p:spPr>
          <a:xfrm>
            <a:off x="3431340" y="2655570"/>
            <a:ext cx="813000" cy="0"/>
          </a:xfrm>
          <a:prstGeom prst="straightConnector1">
            <a:avLst/>
          </a:prstGeom>
          <a:noFill/>
          <a:ln cap="flat" cmpd="sng" w="19050">
            <a:solidFill>
              <a:schemeClr val="dk1"/>
            </a:solidFill>
            <a:prstDash val="solid"/>
            <a:round/>
            <a:headEnd len="sm" w="sm" type="none"/>
            <a:tailEnd len="med" w="med" type="stealth"/>
          </a:ln>
        </p:spPr>
      </p:cxnSp>
      <p:cxnSp>
        <p:nvCxnSpPr>
          <p:cNvPr id="165" name="Google Shape;165;p9"/>
          <p:cNvCxnSpPr/>
          <p:nvPr/>
        </p:nvCxnSpPr>
        <p:spPr>
          <a:xfrm>
            <a:off x="7429500" y="2606040"/>
            <a:ext cx="813091" cy="0"/>
          </a:xfrm>
          <a:prstGeom prst="straightConnector1">
            <a:avLst/>
          </a:prstGeom>
          <a:noFill/>
          <a:ln cap="flat" cmpd="sng" w="19050">
            <a:solidFill>
              <a:schemeClr val="dk1"/>
            </a:solidFill>
            <a:prstDash val="solid"/>
            <a:round/>
            <a:headEnd len="sm" w="sm" type="none"/>
            <a:tailEnd len="med" w="med" type="stealth"/>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 Browser</a:t>
            </a:r>
            <a:endParaRPr/>
          </a:p>
        </p:txBody>
      </p:sp>
      <p:pic>
        <p:nvPicPr>
          <p:cNvPr id="172" name="Google Shape;172;p10"/>
          <p:cNvPicPr preferRelativeResize="0"/>
          <p:nvPr>
            <p:ph idx="2" type="body"/>
          </p:nvPr>
        </p:nvPicPr>
        <p:blipFill rotWithShape="1">
          <a:blip r:embed="rId3">
            <a:alphaModFix/>
          </a:blip>
          <a:srcRect b="0" l="0" r="0" t="0"/>
          <a:stretch/>
        </p:blipFill>
        <p:spPr>
          <a:xfrm>
            <a:off x="3182814" y="1934308"/>
            <a:ext cx="8656691" cy="4668285"/>
          </a:xfrm>
          <a:prstGeom prst="rect">
            <a:avLst/>
          </a:prstGeom>
          <a:noFill/>
          <a:ln>
            <a:noFill/>
          </a:ln>
        </p:spPr>
      </p:pic>
      <p:pic>
        <p:nvPicPr>
          <p:cNvPr id="173" name="Google Shape;173;p10"/>
          <p:cNvPicPr preferRelativeResize="0"/>
          <p:nvPr>
            <p:ph idx="1" type="body"/>
          </p:nvPr>
        </p:nvPicPr>
        <p:blipFill rotWithShape="1">
          <a:blip r:embed="rId4">
            <a:alphaModFix/>
          </a:blip>
          <a:srcRect b="0" l="30501" r="0" t="17580"/>
          <a:stretch/>
        </p:blipFill>
        <p:spPr>
          <a:xfrm>
            <a:off x="492369" y="1635829"/>
            <a:ext cx="2978465" cy="3586342"/>
          </a:xfrm>
          <a:prstGeom prst="rect">
            <a:avLst/>
          </a:prstGeom>
          <a:noFill/>
          <a:ln>
            <a:noFill/>
          </a:ln>
        </p:spPr>
      </p:pic>
      <p:sp>
        <p:nvSpPr>
          <p:cNvPr id="174" name="Google Shape;174;p10"/>
          <p:cNvSpPr txBox="1"/>
          <p:nvPr/>
        </p:nvSpPr>
        <p:spPr>
          <a:xfrm>
            <a:off x="492369" y="5399933"/>
            <a:ext cx="2690446" cy="86793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rgbClr val="595959"/>
              </a:buClr>
              <a:buSzPts val="1400"/>
              <a:buFont typeface="Helvetica Neue"/>
              <a:buNone/>
            </a:pPr>
            <a:r>
              <a:rPr b="0" i="0" lang="en-US" sz="2800" u="none" cap="none" strike="noStrike">
                <a:solidFill>
                  <a:schemeClr val="dk1"/>
                </a:solidFill>
                <a:latin typeface="Calibri"/>
                <a:ea typeface="Calibri"/>
                <a:cs typeface="Calibri"/>
                <a:sym typeface="Calibri"/>
              </a:rPr>
              <a:t>Accessing the PV's History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Phoebus Applications</a:t>
            </a:r>
            <a:endParaRPr/>
          </a:p>
        </p:txBody>
      </p:sp>
      <p:sp>
        <p:nvSpPr>
          <p:cNvPr id="181" name="Google Shape;181;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b="1" lang="en-US"/>
              <a:t>Alarm UI</a:t>
            </a:r>
            <a:r>
              <a:rPr lang="en-US"/>
              <a:t> – hierarchical alarm trees, active alarm tables, annunciator; alarm awareness built into all tools</a:t>
            </a:r>
            <a:endParaRPr/>
          </a:p>
          <a:p>
            <a:pPr indent="-228600" lvl="0" marL="228600" rtl="0" algn="l">
              <a:lnSpc>
                <a:spcPct val="90000"/>
              </a:lnSpc>
              <a:spcBef>
                <a:spcPts val="1000"/>
              </a:spcBef>
              <a:spcAft>
                <a:spcPts val="0"/>
              </a:spcAft>
              <a:buClr>
                <a:schemeClr val="dk1"/>
              </a:buClr>
              <a:buSzPct val="100000"/>
              <a:buChar char="•"/>
            </a:pPr>
            <a:r>
              <a:rPr b="1" lang="en-US"/>
              <a:t>Logbook</a:t>
            </a:r>
            <a:r>
              <a:rPr lang="en-US"/>
              <a:t> – integrated operator logs with context capture; backend-agnostic (Olog, elog, …)</a:t>
            </a:r>
            <a:endParaRPr/>
          </a:p>
          <a:p>
            <a:pPr indent="-228600" lvl="0" marL="228600" rtl="0" algn="l">
              <a:lnSpc>
                <a:spcPct val="90000"/>
              </a:lnSpc>
              <a:spcBef>
                <a:spcPts val="1000"/>
              </a:spcBef>
              <a:spcAft>
                <a:spcPts val="0"/>
              </a:spcAft>
              <a:buClr>
                <a:schemeClr val="dk1"/>
              </a:buClr>
              <a:buSzPct val="100000"/>
              <a:buChar char="•"/>
            </a:pPr>
            <a:r>
              <a:rPr b="1" lang="en-US"/>
              <a:t>Save &amp; Restore</a:t>
            </a:r>
            <a:r>
              <a:rPr lang="en-US"/>
              <a:t> – snapshot/restore groups of PVs; supports scaling/merging snapshots</a:t>
            </a:r>
            <a:endParaRPr/>
          </a:p>
          <a:p>
            <a:pPr indent="-228600" lvl="0" marL="228600" rtl="0" algn="l">
              <a:lnSpc>
                <a:spcPct val="90000"/>
              </a:lnSpc>
              <a:spcBef>
                <a:spcPts val="1000"/>
              </a:spcBef>
              <a:spcAft>
                <a:spcPts val="0"/>
              </a:spcAft>
              <a:buClr>
                <a:schemeClr val="dk1"/>
              </a:buClr>
              <a:buSzPct val="100000"/>
              <a:buChar char="•"/>
            </a:pPr>
            <a:r>
              <a:rPr b="1" lang="en-US"/>
              <a:t>Channel Finder Clients</a:t>
            </a:r>
            <a:r>
              <a:rPr lang="en-US"/>
              <a:t> – fast PV search enriched with metadata (IOC host, record type, tags)</a:t>
            </a:r>
            <a:endParaRPr/>
          </a:p>
          <a:p>
            <a:pPr indent="-228600" lvl="0" marL="228600" rtl="0" algn="l">
              <a:lnSpc>
                <a:spcPct val="90000"/>
              </a:lnSpc>
              <a:spcBef>
                <a:spcPts val="1000"/>
              </a:spcBef>
              <a:spcAft>
                <a:spcPts val="0"/>
              </a:spcAft>
              <a:buClr>
                <a:schemeClr val="dk1"/>
              </a:buClr>
              <a:buSzPct val="100000"/>
              <a:buChar char="•"/>
            </a:pPr>
            <a:r>
              <a:rPr b="1" lang="en-US"/>
              <a:t>PV Utilities</a:t>
            </a:r>
            <a:r>
              <a:rPr lang="en-US"/>
              <a:t> –</a:t>
            </a:r>
            <a:endParaRPr/>
          </a:p>
          <a:p>
            <a:pPr indent="-228600" lvl="1" marL="685800" rtl="0" algn="l">
              <a:lnSpc>
                <a:spcPct val="90000"/>
              </a:lnSpc>
              <a:spcBef>
                <a:spcPts val="500"/>
              </a:spcBef>
              <a:spcAft>
                <a:spcPts val="0"/>
              </a:spcAft>
              <a:buClr>
                <a:schemeClr val="dk1"/>
              </a:buClr>
              <a:buSzPct val="100000"/>
              <a:buChar char="•"/>
            </a:pPr>
            <a:r>
              <a:rPr i="1" lang="en-US"/>
              <a:t>Probe</a:t>
            </a:r>
            <a:r>
              <a:rPr lang="en-US"/>
              <a:t>: detailed PV introspection</a:t>
            </a:r>
            <a:endParaRPr/>
          </a:p>
          <a:p>
            <a:pPr indent="-228600" lvl="1" marL="685800" rtl="0" algn="l">
              <a:lnSpc>
                <a:spcPct val="90000"/>
              </a:lnSpc>
              <a:spcBef>
                <a:spcPts val="500"/>
              </a:spcBef>
              <a:spcAft>
                <a:spcPts val="0"/>
              </a:spcAft>
              <a:buClr>
                <a:schemeClr val="dk1"/>
              </a:buClr>
              <a:buSzPct val="100000"/>
              <a:buChar char="•"/>
            </a:pPr>
            <a:r>
              <a:rPr i="1" lang="en-US"/>
              <a:t>PV Table</a:t>
            </a:r>
            <a:r>
              <a:rPr lang="en-US"/>
              <a:t>: monitor/save groups of PVs</a:t>
            </a:r>
            <a:endParaRPr/>
          </a:p>
          <a:p>
            <a:pPr indent="-228600" lvl="1" marL="685800" rtl="0" algn="l">
              <a:lnSpc>
                <a:spcPct val="90000"/>
              </a:lnSpc>
              <a:spcBef>
                <a:spcPts val="500"/>
              </a:spcBef>
              <a:spcAft>
                <a:spcPts val="0"/>
              </a:spcAft>
              <a:buClr>
                <a:schemeClr val="dk1"/>
              </a:buClr>
              <a:buSzPct val="100000"/>
              <a:buChar char="•"/>
            </a:pPr>
            <a:r>
              <a:rPr i="1" lang="en-US"/>
              <a:t>PV Tree</a:t>
            </a:r>
            <a:r>
              <a:rPr lang="en-US"/>
              <a:t>: visualize EPICS record linkages</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p:nvPr/>
        </p:nvSpPr>
        <p:spPr>
          <a:xfrm>
            <a:off x="316992" y="4901184"/>
            <a:ext cx="2535936" cy="1591691"/>
          </a:xfrm>
          <a:prstGeom prst="rect">
            <a:avLst/>
          </a:prstGeom>
          <a:solidFill>
            <a:srgbClr val="1F3864"/>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8" name="Google Shape;188;p12"/>
          <p:cNvSpPr/>
          <p:nvPr/>
        </p:nvSpPr>
        <p:spPr>
          <a:xfrm>
            <a:off x="316992" y="2633154"/>
            <a:ext cx="2535936" cy="1591691"/>
          </a:xfrm>
          <a:prstGeom prst="rect">
            <a:avLst/>
          </a:prstGeom>
          <a:solidFill>
            <a:srgbClr val="8DA9DB"/>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EPICS Service</a:t>
            </a:r>
            <a:br>
              <a:rPr b="0" i="0"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Archiver, ChannelFinder</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Save Restore, Olog,</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Alarm</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t>
            </a:r>
            <a:endParaRPr/>
          </a:p>
        </p:txBody>
      </p:sp>
      <p:sp>
        <p:nvSpPr>
          <p:cNvPr id="189" name="Google Shape;189;p12"/>
          <p:cNvSpPr/>
          <p:nvPr/>
        </p:nvSpPr>
        <p:spPr>
          <a:xfrm>
            <a:off x="316992" y="365125"/>
            <a:ext cx="2535936" cy="1591691"/>
          </a:xfrm>
          <a:prstGeom prst="rect">
            <a:avLst/>
          </a:prstGeom>
          <a:solidFill>
            <a:srgbClr val="D8E2F3"/>
          </a:solidFill>
          <a:ln cap="flat" cmpd="sng" w="12700">
            <a:solidFill>
              <a:srgbClr val="D8E2F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EPICS Tools</a:t>
            </a:r>
            <a:br>
              <a:rPr b="1" i="0"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Phoebus</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CS-Studio</a:t>
            </a:r>
            <a:endParaRPr/>
          </a:p>
        </p:txBody>
      </p:sp>
      <p:pic>
        <p:nvPicPr>
          <p:cNvPr id="190" name="Google Shape;190;p12"/>
          <p:cNvPicPr preferRelativeResize="0"/>
          <p:nvPr/>
        </p:nvPicPr>
        <p:blipFill rotWithShape="1">
          <a:blip r:embed="rId3">
            <a:alphaModFix/>
          </a:blip>
          <a:srcRect b="0" l="0" r="0" t="0"/>
          <a:stretch/>
        </p:blipFill>
        <p:spPr>
          <a:xfrm>
            <a:off x="852159" y="5309654"/>
            <a:ext cx="1465602" cy="774749"/>
          </a:xfrm>
          <a:prstGeom prst="rect">
            <a:avLst/>
          </a:prstGeom>
          <a:noFill/>
          <a:ln>
            <a:noFill/>
          </a:ln>
        </p:spPr>
      </p:pic>
      <p:cxnSp>
        <p:nvCxnSpPr>
          <p:cNvPr id="191" name="Google Shape;191;p12"/>
          <p:cNvCxnSpPr/>
          <p:nvPr/>
        </p:nvCxnSpPr>
        <p:spPr>
          <a:xfrm>
            <a:off x="0" y="2290437"/>
            <a:ext cx="3096768" cy="0"/>
          </a:xfrm>
          <a:prstGeom prst="straightConnector1">
            <a:avLst/>
          </a:prstGeom>
          <a:noFill/>
          <a:ln cap="flat" cmpd="sng" w="76200">
            <a:solidFill>
              <a:schemeClr val="dk1"/>
            </a:solidFill>
            <a:prstDash val="solid"/>
            <a:miter lim="800000"/>
            <a:headEnd len="sm" w="sm" type="none"/>
            <a:tailEnd len="sm" w="sm" type="none"/>
          </a:ln>
        </p:spPr>
      </p:cxnSp>
      <p:cxnSp>
        <p:nvCxnSpPr>
          <p:cNvPr id="192" name="Google Shape;192;p12"/>
          <p:cNvCxnSpPr/>
          <p:nvPr/>
        </p:nvCxnSpPr>
        <p:spPr>
          <a:xfrm>
            <a:off x="0" y="4582355"/>
            <a:ext cx="3096768" cy="0"/>
          </a:xfrm>
          <a:prstGeom prst="straightConnector1">
            <a:avLst/>
          </a:prstGeom>
          <a:noFill/>
          <a:ln cap="flat" cmpd="sng" w="76200">
            <a:solidFill>
              <a:schemeClr val="dk1"/>
            </a:solidFill>
            <a:prstDash val="solid"/>
            <a:miter lim="800000"/>
            <a:headEnd len="sm" w="sm" type="none"/>
            <a:tailEnd len="sm" w="sm" type="none"/>
          </a:ln>
        </p:spPr>
      </p:cxnSp>
      <p:cxnSp>
        <p:nvCxnSpPr>
          <p:cNvPr id="193" name="Google Shape;193;p12"/>
          <p:cNvCxnSpPr/>
          <p:nvPr/>
        </p:nvCxnSpPr>
        <p:spPr>
          <a:xfrm>
            <a:off x="35512" y="2290437"/>
            <a:ext cx="0" cy="2277124"/>
          </a:xfrm>
          <a:prstGeom prst="straightConnector1">
            <a:avLst/>
          </a:prstGeom>
          <a:noFill/>
          <a:ln cap="flat" cmpd="sng" w="76200">
            <a:solidFill>
              <a:schemeClr val="dk1"/>
            </a:solidFill>
            <a:prstDash val="solid"/>
            <a:miter lim="800000"/>
            <a:headEnd len="sm" w="sm" type="none"/>
            <a:tailEnd len="sm" w="sm" type="none"/>
          </a:ln>
        </p:spPr>
      </p:cxnSp>
      <p:sp>
        <p:nvSpPr>
          <p:cNvPr id="194" name="Google Shape;194;p12"/>
          <p:cNvSpPr/>
          <p:nvPr/>
        </p:nvSpPr>
        <p:spPr>
          <a:xfrm>
            <a:off x="0" y="0"/>
            <a:ext cx="3096768" cy="2083324"/>
          </a:xfrm>
          <a:prstGeom prst="rect">
            <a:avLst/>
          </a:pr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5" name="Google Shape;195;p12"/>
          <p:cNvSpPr/>
          <p:nvPr/>
        </p:nvSpPr>
        <p:spPr>
          <a:xfrm>
            <a:off x="36576" y="4752267"/>
            <a:ext cx="3096768" cy="2083324"/>
          </a:xfrm>
          <a:prstGeom prst="rect">
            <a:avLst/>
          </a:prstGeom>
          <a:solidFill>
            <a:srgbClr val="FFFFFF">
              <a:alpha val="800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6" name="Google Shape;196;p12"/>
          <p:cNvSpPr txBox="1"/>
          <p:nvPr/>
        </p:nvSpPr>
        <p:spPr>
          <a:xfrm>
            <a:off x="6464596" y="4901183"/>
            <a:ext cx="4889204" cy="1591691"/>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197" name="Google Shape;197;p12"/>
          <p:cNvSpPr txBox="1"/>
          <p:nvPr>
            <p:ph type="title"/>
          </p:nvPr>
        </p:nvSpPr>
        <p:spPr>
          <a:xfrm>
            <a:off x="3153654" y="3640137"/>
            <a:ext cx="8186188" cy="2852737"/>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6000"/>
              <a:buFont typeface="Calibri"/>
              <a:buNone/>
            </a:pPr>
            <a:r>
              <a:rPr lang="en-US"/>
              <a:t>Phoebus Middle Layer Services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Phoebus Services</a:t>
            </a:r>
            <a:endParaRPr/>
          </a:p>
        </p:txBody>
      </p:sp>
      <p:sp>
        <p:nvSpPr>
          <p:cNvPr id="204" name="Google Shape;204;p13"/>
          <p:cNvSpPr txBox="1"/>
          <p:nvPr>
            <p:ph idx="1" type="body"/>
          </p:nvPr>
        </p:nvSpPr>
        <p:spPr>
          <a:xfrm>
            <a:off x="838200" y="1690688"/>
            <a:ext cx="10515600" cy="2658746"/>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Modular microservices extend the EPICS control system</a:t>
            </a:r>
            <a:endParaRPr/>
          </a:p>
          <a:p>
            <a:pPr indent="-228600" lvl="0" marL="228600" rtl="0" algn="l">
              <a:lnSpc>
                <a:spcPct val="90000"/>
              </a:lnSpc>
              <a:spcBef>
                <a:spcPts val="1000"/>
              </a:spcBef>
              <a:spcAft>
                <a:spcPts val="0"/>
              </a:spcAft>
              <a:buClr>
                <a:schemeClr val="dk1"/>
              </a:buClr>
              <a:buSzPct val="100000"/>
              <a:buChar char="•"/>
            </a:pPr>
            <a:r>
              <a:rPr lang="en-US"/>
              <a:t>Designed for scalability, resilience, and maintainability</a:t>
            </a:r>
            <a:endParaRPr/>
          </a:p>
          <a:p>
            <a:pPr indent="-228600" lvl="0" marL="228600" rtl="0" algn="l">
              <a:lnSpc>
                <a:spcPct val="90000"/>
              </a:lnSpc>
              <a:spcBef>
                <a:spcPts val="1000"/>
              </a:spcBef>
              <a:spcAft>
                <a:spcPts val="0"/>
              </a:spcAft>
              <a:buClr>
                <a:schemeClr val="dk1"/>
              </a:buClr>
              <a:buSzPct val="100000"/>
              <a:buChar char="•"/>
            </a:pPr>
            <a:r>
              <a:rPr lang="en-US"/>
              <a:t>Support modern practices: CI/CD, containerization, observability</a:t>
            </a:r>
            <a:endParaRPr/>
          </a:p>
          <a:p>
            <a:pPr indent="-228600" lvl="0" marL="228600" rtl="0" algn="l">
              <a:lnSpc>
                <a:spcPct val="90000"/>
              </a:lnSpc>
              <a:spcBef>
                <a:spcPts val="1000"/>
              </a:spcBef>
              <a:spcAft>
                <a:spcPts val="0"/>
              </a:spcAft>
              <a:buClr>
                <a:schemeClr val="dk1"/>
              </a:buClr>
              <a:buSzPct val="100000"/>
              <a:buChar char="•"/>
            </a:pPr>
            <a:r>
              <a:rPr lang="en-US"/>
              <a:t>Built on common libraries (VTypes, CorePV) for consistent data models</a:t>
            </a:r>
            <a:endParaRPr/>
          </a:p>
          <a:p>
            <a:pPr indent="-228600" lvl="0" marL="228600" rtl="0" algn="l">
              <a:lnSpc>
                <a:spcPct val="90000"/>
              </a:lnSpc>
              <a:spcBef>
                <a:spcPts val="1000"/>
              </a:spcBef>
              <a:spcAft>
                <a:spcPts val="0"/>
              </a:spcAft>
              <a:buClr>
                <a:schemeClr val="dk1"/>
              </a:buClr>
              <a:buSzPct val="100000"/>
              <a:buChar char="•"/>
            </a:pPr>
            <a:r>
              <a:rPr lang="en-US"/>
              <a:t>Standardized Spring Boot services + a few specialized high-throughput services</a:t>
            </a:r>
            <a:endParaRPr/>
          </a:p>
        </p:txBody>
      </p:sp>
      <p:pic>
        <p:nvPicPr>
          <p:cNvPr descr="Diagram&#10;&#10;AI-generated content may be incorrect." id="205" name="Google Shape;205;p13"/>
          <p:cNvPicPr preferRelativeResize="0"/>
          <p:nvPr/>
        </p:nvPicPr>
        <p:blipFill rotWithShape="1">
          <a:blip r:embed="rId3">
            <a:alphaModFix/>
          </a:blip>
          <a:srcRect b="23025" l="0" r="0" t="37969"/>
          <a:stretch/>
        </p:blipFill>
        <p:spPr>
          <a:xfrm>
            <a:off x="1147233" y="4178723"/>
            <a:ext cx="9897533" cy="265874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Phoebus Services (Alarms &amp; Discovery)</a:t>
            </a:r>
            <a:endParaRPr/>
          </a:p>
        </p:txBody>
      </p:sp>
      <p:sp>
        <p:nvSpPr>
          <p:cNvPr id="212" name="Google Shape;212;p14"/>
          <p:cNvSpPr txBox="1"/>
          <p:nvPr>
            <p:ph idx="1" type="body"/>
          </p:nvPr>
        </p:nvSpPr>
        <p:spPr>
          <a:xfrm>
            <a:off x="838200" y="1690687"/>
            <a:ext cx="10515600" cy="44862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Alarm Server </a:t>
            </a:r>
            <a:r>
              <a:rPr lang="en-US"/>
              <a:t>– monitors configured PVs, generates events</a:t>
            </a:r>
            <a:endParaRPr/>
          </a:p>
          <a:p>
            <a:pPr indent="-228600" lvl="0" marL="228600" rtl="0" algn="l">
              <a:lnSpc>
                <a:spcPct val="90000"/>
              </a:lnSpc>
              <a:spcBef>
                <a:spcPts val="1000"/>
              </a:spcBef>
              <a:spcAft>
                <a:spcPts val="0"/>
              </a:spcAft>
              <a:buClr>
                <a:schemeClr val="dk1"/>
              </a:buClr>
              <a:buSzPts val="2800"/>
              <a:buChar char="•"/>
            </a:pPr>
            <a:r>
              <a:rPr b="1" lang="en-US"/>
              <a:t>Alarm Logger </a:t>
            </a:r>
            <a:r>
              <a:rPr lang="en-US"/>
              <a:t>– records alarm history and operator actions</a:t>
            </a:r>
            <a:endParaRPr/>
          </a:p>
          <a:p>
            <a:pPr indent="-228600" lvl="0" marL="228600" rtl="0" algn="l">
              <a:lnSpc>
                <a:spcPct val="90000"/>
              </a:lnSpc>
              <a:spcBef>
                <a:spcPts val="1000"/>
              </a:spcBef>
              <a:spcAft>
                <a:spcPts val="0"/>
              </a:spcAft>
              <a:buClr>
                <a:schemeClr val="dk1"/>
              </a:buClr>
              <a:buSzPts val="2800"/>
              <a:buChar char="•"/>
            </a:pPr>
            <a:r>
              <a:rPr b="1" lang="en-US"/>
              <a:t>Alarm Configuration Manager </a:t>
            </a:r>
            <a:r>
              <a:rPr lang="en-US"/>
              <a:t>– versioned alarm configuration history</a:t>
            </a:r>
            <a:endParaRPr/>
          </a:p>
          <a:p>
            <a:pPr indent="0" lvl="0" marL="0" rtl="0" algn="l">
              <a:lnSpc>
                <a:spcPct val="90000"/>
              </a:lnSpc>
              <a:spcBef>
                <a:spcPts val="1000"/>
              </a:spcBef>
              <a:spcAft>
                <a:spcPts val="0"/>
              </a:spcAft>
              <a:buClr>
                <a:schemeClr val="dk1"/>
              </a:buClr>
              <a:buSzPts val="2800"/>
              <a:buNone/>
            </a:pPr>
            <a:r>
              <a:rPr lang="en-US"/>
              <a:t>Together: resilient alarm ecosystem supporting real-time ops + long-term optimization</a:t>
            </a:r>
            <a:endParaRPr/>
          </a:p>
          <a:p>
            <a:pPr indent="-228600" lvl="0" marL="228600" rtl="0" algn="l">
              <a:lnSpc>
                <a:spcPct val="90000"/>
              </a:lnSpc>
              <a:spcBef>
                <a:spcPts val="1000"/>
              </a:spcBef>
              <a:spcAft>
                <a:spcPts val="0"/>
              </a:spcAft>
              <a:buClr>
                <a:schemeClr val="dk1"/>
              </a:buClr>
              <a:buSzPts val="2800"/>
              <a:buChar char="•"/>
            </a:pPr>
            <a:r>
              <a:rPr b="1" lang="en-US"/>
              <a:t>ChannelFinder</a:t>
            </a:r>
            <a:r>
              <a:rPr lang="en-US"/>
              <a:t> – searchable PV directory with metadata (IOC, record type, tags)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Phoebus Services (Persistence &amp; Logging)</a:t>
            </a:r>
            <a:endParaRPr/>
          </a:p>
        </p:txBody>
      </p:sp>
      <p:sp>
        <p:nvSpPr>
          <p:cNvPr id="219" name="Google Shape;219;p15"/>
          <p:cNvSpPr txBox="1"/>
          <p:nvPr>
            <p:ph idx="1" type="body"/>
          </p:nvPr>
        </p:nvSpPr>
        <p:spPr>
          <a:xfrm>
            <a:off x="838200" y="1690687"/>
            <a:ext cx="10515600" cy="44862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1" lang="en-US"/>
              <a:t>Save &amp; Restore </a:t>
            </a:r>
            <a:r>
              <a:rPr lang="en-US"/>
              <a:t>– capture and recover system snapshots; stored in Elasticsearch; REST API for integration</a:t>
            </a:r>
            <a:endParaRPr/>
          </a:p>
          <a:p>
            <a:pPr indent="-228600" lvl="0" marL="228600" rtl="0" algn="l">
              <a:lnSpc>
                <a:spcPct val="90000"/>
              </a:lnSpc>
              <a:spcBef>
                <a:spcPts val="1000"/>
              </a:spcBef>
              <a:spcAft>
                <a:spcPts val="0"/>
              </a:spcAft>
              <a:buClr>
                <a:schemeClr val="dk1"/>
              </a:buClr>
              <a:buSzPts val="2800"/>
              <a:buChar char="•"/>
            </a:pPr>
            <a:r>
              <a:rPr b="1" lang="en-US"/>
              <a:t>Phoebus Olog </a:t>
            </a:r>
            <a:r>
              <a:rPr lang="en-US"/>
              <a:t>– operator logbook; Elastic + MongoDB; accessible via Phoebus client, web, and mobile apps</a:t>
            </a:r>
            <a:endParaRPr/>
          </a:p>
          <a:p>
            <a:pPr indent="-228600" lvl="0" marL="228600" rtl="0" algn="l">
              <a:lnSpc>
                <a:spcPct val="90000"/>
              </a:lnSpc>
              <a:spcBef>
                <a:spcPts val="1000"/>
              </a:spcBef>
              <a:spcAft>
                <a:spcPts val="0"/>
              </a:spcAft>
              <a:buClr>
                <a:schemeClr val="dk1"/>
              </a:buClr>
              <a:buSzPts val="2800"/>
              <a:buChar char="•"/>
            </a:pPr>
            <a:r>
              <a:rPr b="1" lang="en-US"/>
              <a:t>Archiver Engine </a:t>
            </a:r>
            <a:r>
              <a:rPr lang="en-US"/>
              <a:t>– integrates with RDB backends (Postgres + TimescaleDB); straightforward deployment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16"/>
          <p:cNvSpPr txBox="1"/>
          <p:nvPr>
            <p:ph type="title"/>
          </p:nvPr>
        </p:nvSpPr>
        <p:spPr>
          <a:xfrm>
            <a:off x="3096768" y="3640138"/>
            <a:ext cx="8243069" cy="2852737"/>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6000"/>
              <a:buFont typeface="Calibri"/>
              <a:buNone/>
            </a:pPr>
            <a:r>
              <a:rPr lang="en-US"/>
              <a:t>Under the hood</a:t>
            </a:r>
            <a:endParaRPr/>
          </a:p>
        </p:txBody>
      </p:sp>
      <p:sp>
        <p:nvSpPr>
          <p:cNvPr id="226" name="Google Shape;226;p16"/>
          <p:cNvSpPr/>
          <p:nvPr/>
        </p:nvSpPr>
        <p:spPr>
          <a:xfrm>
            <a:off x="316992" y="4901184"/>
            <a:ext cx="2535936" cy="1591691"/>
          </a:xfrm>
          <a:prstGeom prst="rect">
            <a:avLst/>
          </a:prstGeom>
          <a:solidFill>
            <a:srgbClr val="1F3864"/>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7" name="Google Shape;227;p16"/>
          <p:cNvSpPr/>
          <p:nvPr/>
        </p:nvSpPr>
        <p:spPr>
          <a:xfrm>
            <a:off x="316992" y="2633154"/>
            <a:ext cx="2535936" cy="1591691"/>
          </a:xfrm>
          <a:prstGeom prst="rect">
            <a:avLst/>
          </a:prstGeom>
          <a:solidFill>
            <a:srgbClr val="8DA9DB"/>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EPICS Service</a:t>
            </a:r>
            <a:br>
              <a:rPr b="0" i="0"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Archiver, ChannelFinder</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Save Restore, Olog,</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Alarm</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t>
            </a:r>
            <a:endParaRPr/>
          </a:p>
        </p:txBody>
      </p:sp>
      <p:sp>
        <p:nvSpPr>
          <p:cNvPr id="228" name="Google Shape;228;p16"/>
          <p:cNvSpPr/>
          <p:nvPr/>
        </p:nvSpPr>
        <p:spPr>
          <a:xfrm>
            <a:off x="316992" y="365125"/>
            <a:ext cx="2535936" cy="1591691"/>
          </a:xfrm>
          <a:prstGeom prst="rect">
            <a:avLst/>
          </a:prstGeom>
          <a:solidFill>
            <a:srgbClr val="D8E2F3"/>
          </a:solidFill>
          <a:ln cap="flat" cmpd="sng" w="12700">
            <a:solidFill>
              <a:srgbClr val="D8E2F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EPICS Tools</a:t>
            </a:r>
            <a:br>
              <a:rPr b="1" i="0"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Phoebus</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CS-Studio</a:t>
            </a:r>
            <a:endParaRPr/>
          </a:p>
        </p:txBody>
      </p:sp>
      <p:pic>
        <p:nvPicPr>
          <p:cNvPr id="229" name="Google Shape;229;p16"/>
          <p:cNvPicPr preferRelativeResize="0"/>
          <p:nvPr/>
        </p:nvPicPr>
        <p:blipFill rotWithShape="1">
          <a:blip r:embed="rId3">
            <a:alphaModFix/>
          </a:blip>
          <a:srcRect b="0" l="0" r="0" t="0"/>
          <a:stretch/>
        </p:blipFill>
        <p:spPr>
          <a:xfrm>
            <a:off x="852159" y="5309654"/>
            <a:ext cx="1465602" cy="774749"/>
          </a:xfrm>
          <a:prstGeom prst="rect">
            <a:avLst/>
          </a:prstGeom>
          <a:noFill/>
          <a:ln>
            <a:noFill/>
          </a:ln>
        </p:spPr>
      </p:pic>
      <p:cxnSp>
        <p:nvCxnSpPr>
          <p:cNvPr id="230" name="Google Shape;230;p16"/>
          <p:cNvCxnSpPr/>
          <p:nvPr/>
        </p:nvCxnSpPr>
        <p:spPr>
          <a:xfrm>
            <a:off x="0" y="2290437"/>
            <a:ext cx="3096768" cy="0"/>
          </a:xfrm>
          <a:prstGeom prst="straightConnector1">
            <a:avLst/>
          </a:prstGeom>
          <a:noFill/>
          <a:ln cap="flat" cmpd="sng" w="76200">
            <a:solidFill>
              <a:schemeClr val="dk1"/>
            </a:solidFill>
            <a:prstDash val="solid"/>
            <a:miter lim="800000"/>
            <a:headEnd len="sm" w="sm" type="none"/>
            <a:tailEnd len="sm" w="sm" type="none"/>
          </a:ln>
        </p:spPr>
      </p:cxnSp>
      <p:cxnSp>
        <p:nvCxnSpPr>
          <p:cNvPr id="231" name="Google Shape;231;p16"/>
          <p:cNvCxnSpPr/>
          <p:nvPr/>
        </p:nvCxnSpPr>
        <p:spPr>
          <a:xfrm>
            <a:off x="0" y="4582355"/>
            <a:ext cx="3096768" cy="0"/>
          </a:xfrm>
          <a:prstGeom prst="straightConnector1">
            <a:avLst/>
          </a:prstGeom>
          <a:noFill/>
          <a:ln cap="flat" cmpd="sng" w="76200">
            <a:solidFill>
              <a:schemeClr val="dk1"/>
            </a:solidFill>
            <a:prstDash val="solid"/>
            <a:miter lim="800000"/>
            <a:headEnd len="sm" w="sm" type="none"/>
            <a:tailEnd len="sm" w="sm" type="none"/>
          </a:ln>
        </p:spPr>
      </p:cxnSp>
      <p:cxnSp>
        <p:nvCxnSpPr>
          <p:cNvPr id="232" name="Google Shape;232;p16"/>
          <p:cNvCxnSpPr/>
          <p:nvPr/>
        </p:nvCxnSpPr>
        <p:spPr>
          <a:xfrm>
            <a:off x="35512" y="2290437"/>
            <a:ext cx="0" cy="2277124"/>
          </a:xfrm>
          <a:prstGeom prst="straightConnector1">
            <a:avLst/>
          </a:prstGeom>
          <a:noFill/>
          <a:ln cap="flat" cmpd="sng" w="76200">
            <a:solidFill>
              <a:schemeClr val="dk1"/>
            </a:solidFill>
            <a:prstDash val="solid"/>
            <a:miter lim="800000"/>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7"/>
          <p:cNvSpPr txBox="1"/>
          <p:nvPr>
            <p:ph type="title"/>
          </p:nvPr>
        </p:nvSpPr>
        <p:spPr>
          <a:xfrm>
            <a:off x="838200" y="365125"/>
            <a:ext cx="4453128"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Architecture</a:t>
            </a:r>
            <a:endParaRPr/>
          </a:p>
        </p:txBody>
      </p:sp>
      <p:sp>
        <p:nvSpPr>
          <p:cNvPr id="239" name="Google Shape;239;p17"/>
          <p:cNvSpPr txBox="1"/>
          <p:nvPr>
            <p:ph idx="1" type="body"/>
          </p:nvPr>
        </p:nvSpPr>
        <p:spPr>
          <a:xfrm>
            <a:off x="838200" y="1825625"/>
            <a:ext cx="489204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Modular framework 🡪 built on </a:t>
            </a:r>
            <a:r>
              <a:rPr b="1" lang="en-US"/>
              <a:t>Java + JavaFX</a:t>
            </a:r>
            <a:r>
              <a:rPr lang="en-US"/>
              <a:t> (no Eclipse RCP)</a:t>
            </a:r>
            <a:endParaRPr/>
          </a:p>
          <a:p>
            <a:pPr indent="-228600" lvl="0" marL="228600" rtl="0" algn="l">
              <a:lnSpc>
                <a:spcPct val="90000"/>
              </a:lnSpc>
              <a:spcBef>
                <a:spcPts val="1000"/>
              </a:spcBef>
              <a:spcAft>
                <a:spcPts val="0"/>
              </a:spcAft>
              <a:buClr>
                <a:schemeClr val="dk1"/>
              </a:buClr>
              <a:buSzPct val="100000"/>
              <a:buChar char="•"/>
            </a:pPr>
            <a:r>
              <a:rPr b="1" lang="en-US"/>
              <a:t>Core modules</a:t>
            </a:r>
            <a:r>
              <a:rPr lang="en-US"/>
              <a:t>: PV access, VTypes, adapters, logging, jobs</a:t>
            </a:r>
            <a:endParaRPr/>
          </a:p>
          <a:p>
            <a:pPr indent="-228600" lvl="0" marL="228600" rtl="0" algn="l">
              <a:lnSpc>
                <a:spcPct val="90000"/>
              </a:lnSpc>
              <a:spcBef>
                <a:spcPts val="1000"/>
              </a:spcBef>
              <a:spcAft>
                <a:spcPts val="0"/>
              </a:spcAft>
              <a:buClr>
                <a:schemeClr val="dk1"/>
              </a:buClr>
              <a:buSzPct val="100000"/>
              <a:buChar char="•"/>
            </a:pPr>
            <a:r>
              <a:rPr b="1" lang="en-US"/>
              <a:t>Core-UI modules</a:t>
            </a:r>
            <a:r>
              <a:rPr lang="en-US"/>
              <a:t>: docking, menus, selection services</a:t>
            </a:r>
            <a:endParaRPr/>
          </a:p>
          <a:p>
            <a:pPr indent="-228600" lvl="0" marL="228600" rtl="0" algn="l">
              <a:lnSpc>
                <a:spcPct val="90000"/>
              </a:lnSpc>
              <a:spcBef>
                <a:spcPts val="1000"/>
              </a:spcBef>
              <a:spcAft>
                <a:spcPts val="0"/>
              </a:spcAft>
              <a:buClr>
                <a:schemeClr val="dk1"/>
              </a:buClr>
              <a:buSzPct val="100000"/>
              <a:buChar char="•"/>
            </a:pPr>
            <a:r>
              <a:rPr b="1" lang="en-US"/>
              <a:t>Applications</a:t>
            </a:r>
            <a:r>
              <a:rPr lang="en-US"/>
              <a:t>: operator-facing tools (Display Builder, Data Browser, etc.)</a:t>
            </a:r>
            <a:endParaRPr/>
          </a:p>
          <a:p>
            <a:pPr indent="-228600" lvl="0" marL="228600" rtl="0" algn="l">
              <a:lnSpc>
                <a:spcPct val="90000"/>
              </a:lnSpc>
              <a:spcBef>
                <a:spcPts val="1000"/>
              </a:spcBef>
              <a:spcAft>
                <a:spcPts val="0"/>
              </a:spcAft>
              <a:buClr>
                <a:schemeClr val="dk1"/>
              </a:buClr>
              <a:buSzPct val="100000"/>
              <a:buChar char="•"/>
            </a:pPr>
            <a:r>
              <a:rPr b="1" lang="en-US"/>
              <a:t>Services</a:t>
            </a:r>
            <a:r>
              <a:rPr lang="en-US"/>
              <a:t>: alarm, save/restore, archiving, logbook, …</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Diagram&#10;&#10;AI-generated content may be incorrect." id="240" name="Google Shape;240;p17"/>
          <p:cNvPicPr preferRelativeResize="0"/>
          <p:nvPr>
            <p:ph idx="2" type="body"/>
          </p:nvPr>
        </p:nvPicPr>
        <p:blipFill rotWithShape="1">
          <a:blip r:embed="rId3">
            <a:alphaModFix/>
          </a:blip>
          <a:srcRect b="0" l="0" r="0" t="0"/>
          <a:stretch/>
        </p:blipFill>
        <p:spPr>
          <a:xfrm>
            <a:off x="5428241" y="327597"/>
            <a:ext cx="6504682" cy="613416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Architecture (details)</a:t>
            </a:r>
            <a:endParaRPr/>
          </a:p>
        </p:txBody>
      </p:sp>
      <p:sp>
        <p:nvSpPr>
          <p:cNvPr id="247" name="Google Shape;247;p18"/>
          <p:cNvSpPr txBox="1"/>
          <p:nvPr>
            <p:ph idx="1" type="body"/>
          </p:nvPr>
        </p:nvSpPr>
        <p:spPr>
          <a:xfrm>
            <a:off x="838200" y="1536192"/>
            <a:ext cx="6054330" cy="4802187"/>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chemeClr val="dk1"/>
              </a:buClr>
              <a:buSzPct val="100000"/>
              <a:buChar char="•"/>
            </a:pPr>
            <a:r>
              <a:rPr lang="en-US"/>
              <a:t>Jobs &amp; scheduling – run tasks off the UI thread for responsiveness</a:t>
            </a:r>
            <a:endParaRPr/>
          </a:p>
          <a:p>
            <a:pPr indent="-228600" lvl="0" marL="228600" rtl="0" algn="l">
              <a:lnSpc>
                <a:spcPct val="90000"/>
              </a:lnSpc>
              <a:spcBef>
                <a:spcPts val="1000"/>
              </a:spcBef>
              <a:spcAft>
                <a:spcPts val="0"/>
              </a:spcAft>
              <a:buClr>
                <a:schemeClr val="dk1"/>
              </a:buClr>
              <a:buSzPct val="100000"/>
              <a:buChar char="•"/>
            </a:pPr>
            <a:r>
              <a:rPr lang="en-US"/>
              <a:t>Connection management – pooled, reusable PV and REST clients</a:t>
            </a:r>
            <a:endParaRPr/>
          </a:p>
          <a:p>
            <a:pPr indent="-228600" lvl="0" marL="228600" rtl="0" algn="l">
              <a:lnSpc>
                <a:spcPct val="90000"/>
              </a:lnSpc>
              <a:spcBef>
                <a:spcPts val="1000"/>
              </a:spcBef>
              <a:spcAft>
                <a:spcPts val="0"/>
              </a:spcAft>
              <a:buClr>
                <a:schemeClr val="dk1"/>
              </a:buClr>
              <a:buSzPct val="100000"/>
              <a:buChar char="•"/>
            </a:pPr>
            <a:r>
              <a:rPr lang="en-US"/>
              <a:t>VTypes – canonical value model</a:t>
            </a:r>
            <a:endParaRPr/>
          </a:p>
          <a:p>
            <a:pPr indent="-228600" lvl="1" marL="685800" rtl="0" algn="l">
              <a:lnSpc>
                <a:spcPct val="90000"/>
              </a:lnSpc>
              <a:spcBef>
                <a:spcPts val="500"/>
              </a:spcBef>
              <a:spcAft>
                <a:spcPts val="0"/>
              </a:spcAft>
              <a:buClr>
                <a:schemeClr val="dk1"/>
              </a:buClr>
              <a:buSzPct val="100000"/>
              <a:buChar char="•"/>
            </a:pPr>
            <a:r>
              <a:rPr lang="en-US"/>
              <a:t>Protocol-agnostic, not tied to memory layout</a:t>
            </a:r>
            <a:endParaRPr/>
          </a:p>
          <a:p>
            <a:pPr indent="-228600" lvl="1" marL="685800" rtl="0" algn="l">
              <a:lnSpc>
                <a:spcPct val="90000"/>
              </a:lnSpc>
              <a:spcBef>
                <a:spcPts val="500"/>
              </a:spcBef>
              <a:spcAft>
                <a:spcPts val="0"/>
              </a:spcAft>
              <a:buClr>
                <a:schemeClr val="dk1"/>
              </a:buClr>
              <a:buSzPct val="100000"/>
              <a:buChar char="•"/>
            </a:pPr>
            <a:r>
              <a:rPr lang="en-US"/>
              <a:t>Immutable and safe to share</a:t>
            </a:r>
            <a:endParaRPr/>
          </a:p>
          <a:p>
            <a:pPr indent="-228600" lvl="0" marL="228600" rtl="0" algn="l">
              <a:lnSpc>
                <a:spcPct val="90000"/>
              </a:lnSpc>
              <a:spcBef>
                <a:spcPts val="1000"/>
              </a:spcBef>
              <a:spcAft>
                <a:spcPts val="0"/>
              </a:spcAft>
              <a:buClr>
                <a:schemeClr val="dk1"/>
              </a:buClr>
              <a:buSzPct val="100000"/>
              <a:buChar char="•"/>
            </a:pPr>
            <a:r>
              <a:rPr lang="en-US"/>
              <a:t>Formula functions – efficient, thread-safe data processing pipelines</a:t>
            </a:r>
            <a:endParaRPr/>
          </a:p>
          <a:p>
            <a:pPr indent="-228600" lvl="0" marL="228600" rtl="0" algn="l">
              <a:lnSpc>
                <a:spcPct val="90000"/>
              </a:lnSpc>
              <a:spcBef>
                <a:spcPts val="1000"/>
              </a:spcBef>
              <a:spcAft>
                <a:spcPts val="0"/>
              </a:spcAft>
              <a:buClr>
                <a:schemeClr val="dk1"/>
              </a:buClr>
              <a:buSzPct val="100000"/>
              <a:buChar char="•"/>
            </a:pPr>
            <a:r>
              <a:rPr lang="en-US"/>
              <a:t>Selection services – share user-selected data cleanly across applications</a:t>
            </a:r>
            <a:endParaRPr/>
          </a:p>
          <a:p>
            <a:pPr indent="-228600" lvl="0" marL="228600" rtl="0" algn="l">
              <a:lnSpc>
                <a:spcPct val="90000"/>
              </a:lnSpc>
              <a:spcBef>
                <a:spcPts val="1000"/>
              </a:spcBef>
              <a:spcAft>
                <a:spcPts val="0"/>
              </a:spcAft>
              <a:buClr>
                <a:schemeClr val="dk1"/>
              </a:buClr>
              <a:buSzPct val="100000"/>
              <a:buChar char="•"/>
            </a:pPr>
            <a:r>
              <a:rPr lang="en-US"/>
              <a:t>Adapter services – enable runtime integration between loosely coupled apps</a:t>
            </a:r>
            <a:endParaRPr/>
          </a:p>
          <a:p>
            <a:pPr indent="-228600" lvl="0" marL="228600" rtl="0" algn="l">
              <a:lnSpc>
                <a:spcPct val="90000"/>
              </a:lnSpc>
              <a:spcBef>
                <a:spcPts val="1000"/>
              </a:spcBef>
              <a:spcAft>
                <a:spcPts val="0"/>
              </a:spcAft>
              <a:buClr>
                <a:schemeClr val="dk1"/>
              </a:buClr>
              <a:buSzPct val="100000"/>
              <a:buChar char="•"/>
            </a:pPr>
            <a:r>
              <a:rPr lang="en-US"/>
              <a:t>Preferences &amp; layouts </a:t>
            </a:r>
            <a:endParaRPr/>
          </a:p>
          <a:p>
            <a:pPr indent="-77470" lvl="0" marL="228600" rtl="0" algn="l">
              <a:lnSpc>
                <a:spcPct val="90000"/>
              </a:lnSpc>
              <a:spcBef>
                <a:spcPts val="1000"/>
              </a:spcBef>
              <a:spcAft>
                <a:spcPts val="0"/>
              </a:spcAft>
              <a:buClr>
                <a:schemeClr val="dk1"/>
              </a:buClr>
              <a:buSzPct val="100000"/>
              <a:buNone/>
            </a:pPr>
            <a:r>
              <a:t/>
            </a:r>
            <a:endParaRPr/>
          </a:p>
        </p:txBody>
      </p:sp>
      <p:pic>
        <p:nvPicPr>
          <p:cNvPr id="248" name="Google Shape;248;p18"/>
          <p:cNvPicPr preferRelativeResize="0"/>
          <p:nvPr>
            <p:ph idx="2" type="body"/>
          </p:nvPr>
        </p:nvPicPr>
        <p:blipFill rotWithShape="1">
          <a:blip r:embed="rId3">
            <a:alphaModFix/>
          </a:blip>
          <a:srcRect b="0" l="0" r="0" t="0"/>
          <a:stretch/>
        </p:blipFill>
        <p:spPr>
          <a:xfrm>
            <a:off x="6892530" y="1536192"/>
            <a:ext cx="4775656" cy="480218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Extensibility</a:t>
            </a:r>
            <a:endParaRPr/>
          </a:p>
        </p:txBody>
      </p:sp>
      <p:sp>
        <p:nvSpPr>
          <p:cNvPr id="255" name="Google Shape;255;p19"/>
          <p:cNvSpPr txBox="1"/>
          <p:nvPr>
            <p:ph idx="1" type="body"/>
          </p:nvPr>
        </p:nvSpPr>
        <p:spPr>
          <a:xfrm>
            <a:off x="838200" y="1524000"/>
            <a:ext cx="5975686" cy="465296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Extensible via Java SPI (Service Provider Interface)</a:t>
            </a:r>
            <a:endParaRPr/>
          </a:p>
          <a:p>
            <a:pPr indent="-228600" lvl="0" marL="228600" rtl="0" algn="l">
              <a:lnSpc>
                <a:spcPct val="90000"/>
              </a:lnSpc>
              <a:spcBef>
                <a:spcPts val="1000"/>
              </a:spcBef>
              <a:spcAft>
                <a:spcPts val="0"/>
              </a:spcAft>
              <a:buClr>
                <a:schemeClr val="dk1"/>
              </a:buClr>
              <a:buSzPts val="2800"/>
              <a:buChar char="•"/>
            </a:pPr>
            <a:r>
              <a:rPr lang="en-US"/>
              <a:t>New data sources &amp; protocols (CA, PVA, MQTT, Tango, …)</a:t>
            </a:r>
            <a:endParaRPr/>
          </a:p>
          <a:p>
            <a:pPr indent="-228600" lvl="0" marL="228600" rtl="0" algn="l">
              <a:lnSpc>
                <a:spcPct val="90000"/>
              </a:lnSpc>
              <a:spcBef>
                <a:spcPts val="1000"/>
              </a:spcBef>
              <a:spcAft>
                <a:spcPts val="0"/>
              </a:spcAft>
              <a:buClr>
                <a:schemeClr val="dk1"/>
              </a:buClr>
              <a:buSzPts val="2800"/>
              <a:buChar char="•"/>
            </a:pPr>
            <a:r>
              <a:rPr lang="en-US"/>
              <a:t>Clients for middle-layer services (Olog, elog, …)</a:t>
            </a:r>
            <a:endParaRPr/>
          </a:p>
          <a:p>
            <a:pPr indent="-228600" lvl="0" marL="228600" rtl="0" algn="l">
              <a:lnSpc>
                <a:spcPct val="90000"/>
              </a:lnSpc>
              <a:spcBef>
                <a:spcPts val="1000"/>
              </a:spcBef>
              <a:spcAft>
                <a:spcPts val="0"/>
              </a:spcAft>
              <a:buClr>
                <a:schemeClr val="dk1"/>
              </a:buClr>
              <a:buSzPts val="2800"/>
              <a:buChar char="•"/>
            </a:pPr>
            <a:r>
              <a:rPr lang="en-US"/>
              <a:t>New applications &amp; file handlers</a:t>
            </a:r>
            <a:endParaRPr/>
          </a:p>
          <a:p>
            <a:pPr indent="-228600" lvl="0" marL="228600" rtl="0" algn="l">
              <a:lnSpc>
                <a:spcPct val="90000"/>
              </a:lnSpc>
              <a:spcBef>
                <a:spcPts val="1000"/>
              </a:spcBef>
              <a:spcAft>
                <a:spcPts val="0"/>
              </a:spcAft>
              <a:buClr>
                <a:schemeClr val="dk1"/>
              </a:buClr>
              <a:buSzPts val="2800"/>
              <a:buChar char="•"/>
            </a:pPr>
            <a:r>
              <a:rPr lang="en-US"/>
              <a:t>UI extensions (menus, toolbars, context menus)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descr="Chart&#10;&#10;AI-generated content may be incorrect." id="256" name="Google Shape;256;p19"/>
          <p:cNvPicPr preferRelativeResize="0"/>
          <p:nvPr>
            <p:ph idx="2" type="body"/>
          </p:nvPr>
        </p:nvPicPr>
        <p:blipFill rotWithShape="1">
          <a:blip r:embed="rId3">
            <a:alphaModFix/>
          </a:blip>
          <a:srcRect b="7532" l="-233" r="0" t="0"/>
          <a:stretch/>
        </p:blipFill>
        <p:spPr>
          <a:xfrm>
            <a:off x="6813886" y="3662774"/>
            <a:ext cx="5193633" cy="3090688"/>
          </a:xfrm>
          <a:prstGeom prst="rect">
            <a:avLst/>
          </a:prstGeom>
          <a:noFill/>
          <a:ln>
            <a:noFill/>
          </a:ln>
        </p:spPr>
      </p:pic>
      <p:pic>
        <p:nvPicPr>
          <p:cNvPr id="257" name="Google Shape;257;p19"/>
          <p:cNvPicPr preferRelativeResize="0"/>
          <p:nvPr/>
        </p:nvPicPr>
        <p:blipFill rotWithShape="1">
          <a:blip r:embed="rId4">
            <a:alphaModFix/>
          </a:blip>
          <a:srcRect b="0" l="0" r="0" t="0"/>
          <a:stretch/>
        </p:blipFill>
        <p:spPr>
          <a:xfrm>
            <a:off x="6813886" y="104538"/>
            <a:ext cx="3517221" cy="2729973"/>
          </a:xfrm>
          <a:prstGeom prst="rect">
            <a:avLst/>
          </a:prstGeom>
          <a:noFill/>
          <a:ln>
            <a:noFill/>
          </a:ln>
        </p:spPr>
      </p:pic>
      <p:pic>
        <p:nvPicPr>
          <p:cNvPr id="258" name="Google Shape;258;p19"/>
          <p:cNvPicPr preferRelativeResize="0"/>
          <p:nvPr/>
        </p:nvPicPr>
        <p:blipFill rotWithShape="1">
          <a:blip r:embed="rId5">
            <a:alphaModFix/>
          </a:blip>
          <a:srcRect b="5063" l="0" r="0" t="0"/>
          <a:stretch/>
        </p:blipFill>
        <p:spPr>
          <a:xfrm>
            <a:off x="8935453" y="19386"/>
            <a:ext cx="3072066" cy="368139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Site Specific Products</a:t>
            </a:r>
            <a:endParaRPr/>
          </a:p>
        </p:txBody>
      </p:sp>
      <p:sp>
        <p:nvSpPr>
          <p:cNvPr id="265" name="Google Shape;265;p20"/>
          <p:cNvSpPr txBox="1"/>
          <p:nvPr>
            <p:ph idx="1" type="body"/>
          </p:nvPr>
        </p:nvSpPr>
        <p:spPr>
          <a:xfrm>
            <a:off x="6403989" y="1303867"/>
            <a:ext cx="5657962" cy="555413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extensible and modular nature of the Phoebus framework allows for developers to assemble their own products.</a:t>
            </a:r>
            <a:br>
              <a:rPr lang="en-US"/>
            </a:br>
            <a:endParaRPr/>
          </a:p>
          <a:p>
            <a:pPr indent="-228600" lvl="0" marL="228600" rtl="0" algn="l">
              <a:lnSpc>
                <a:spcPct val="90000"/>
              </a:lnSpc>
              <a:spcBef>
                <a:spcPts val="1000"/>
              </a:spcBef>
              <a:spcAft>
                <a:spcPts val="0"/>
              </a:spcAft>
              <a:buClr>
                <a:schemeClr val="dk1"/>
              </a:buClr>
              <a:buSzPts val="2800"/>
              <a:buChar char="•"/>
            </a:pPr>
            <a:r>
              <a:rPr lang="en-US"/>
              <a:t>Include site specific</a:t>
            </a:r>
            <a:endParaRPr/>
          </a:p>
          <a:p>
            <a:pPr indent="-228600" lvl="1" marL="685800" rtl="0" algn="l">
              <a:lnSpc>
                <a:spcPct val="90000"/>
              </a:lnSpc>
              <a:spcBef>
                <a:spcPts val="500"/>
              </a:spcBef>
              <a:spcAft>
                <a:spcPts val="0"/>
              </a:spcAft>
              <a:buClr>
                <a:schemeClr val="dk1"/>
              </a:buClr>
              <a:buSzPts val="2400"/>
              <a:buChar char="•"/>
            </a:pPr>
            <a:r>
              <a:rPr lang="en-US"/>
              <a:t>Applications</a:t>
            </a:r>
            <a:endParaRPr/>
          </a:p>
          <a:p>
            <a:pPr indent="-228600" lvl="1" marL="685800" rtl="0" algn="l">
              <a:lnSpc>
                <a:spcPct val="90000"/>
              </a:lnSpc>
              <a:spcBef>
                <a:spcPts val="500"/>
              </a:spcBef>
              <a:spcAft>
                <a:spcPts val="0"/>
              </a:spcAft>
              <a:buClr>
                <a:schemeClr val="dk1"/>
              </a:buClr>
              <a:buSzPts val="2400"/>
              <a:buChar char="•"/>
            </a:pPr>
            <a:r>
              <a:rPr lang="en-US"/>
              <a:t>Adapters</a:t>
            </a:r>
            <a:endParaRPr/>
          </a:p>
          <a:p>
            <a:pPr indent="-228600" lvl="1" marL="685800" rtl="0" algn="l">
              <a:lnSpc>
                <a:spcPct val="90000"/>
              </a:lnSpc>
              <a:spcBef>
                <a:spcPts val="500"/>
              </a:spcBef>
              <a:spcAft>
                <a:spcPts val="0"/>
              </a:spcAft>
              <a:buClr>
                <a:schemeClr val="dk1"/>
              </a:buClr>
              <a:buSzPts val="2400"/>
              <a:buChar char="•"/>
            </a:pPr>
            <a:r>
              <a:rPr lang="en-US"/>
              <a:t>Datasources</a:t>
            </a:r>
            <a:endParaRPr/>
          </a:p>
          <a:p>
            <a:pPr indent="-228600" lvl="1" marL="685800" rtl="0" algn="l">
              <a:lnSpc>
                <a:spcPct val="90000"/>
              </a:lnSpc>
              <a:spcBef>
                <a:spcPts val="500"/>
              </a:spcBef>
              <a:spcAft>
                <a:spcPts val="0"/>
              </a:spcAft>
              <a:buClr>
                <a:schemeClr val="dk1"/>
              </a:buClr>
              <a:buSzPts val="2400"/>
              <a:buChar char="•"/>
            </a:pPr>
            <a:r>
              <a:rPr lang="en-US"/>
              <a:t>Configurations</a:t>
            </a:r>
            <a:endParaRPr/>
          </a:p>
          <a:p>
            <a:pPr indent="-228600" lvl="1" marL="685800" rtl="0" algn="l">
              <a:lnSpc>
                <a:spcPct val="90000"/>
              </a:lnSpc>
              <a:spcBef>
                <a:spcPts val="500"/>
              </a:spcBef>
              <a:spcAft>
                <a:spcPts val="0"/>
              </a:spcAft>
              <a:buClr>
                <a:schemeClr val="dk1"/>
              </a:buClr>
              <a:buSzPts val="2400"/>
              <a:buChar char="•"/>
            </a:pPr>
            <a:r>
              <a:rPr lang="en-US"/>
              <a:t>Branding </a:t>
            </a:r>
            <a:endParaRPr/>
          </a:p>
          <a:p>
            <a:pPr indent="0" lvl="0" marL="0" rtl="0" algn="l">
              <a:lnSpc>
                <a:spcPct val="90000"/>
              </a:lnSpc>
              <a:spcBef>
                <a:spcPts val="1000"/>
              </a:spcBef>
              <a:spcAft>
                <a:spcPts val="0"/>
              </a:spcAft>
              <a:buClr>
                <a:schemeClr val="dk1"/>
              </a:buClr>
              <a:buSzPts val="2800"/>
              <a:buNone/>
            </a:pPr>
            <a:r>
              <a:rPr lang="en-US"/>
              <a:t>Address the needs of a particular organization or workflow.</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66" name="Google Shape;266;p20"/>
          <p:cNvPicPr preferRelativeResize="0"/>
          <p:nvPr/>
        </p:nvPicPr>
        <p:blipFill rotWithShape="1">
          <a:blip r:embed="rId3">
            <a:alphaModFix/>
          </a:blip>
          <a:srcRect b="0" l="0" r="0" t="0"/>
          <a:stretch/>
        </p:blipFill>
        <p:spPr>
          <a:xfrm>
            <a:off x="287758" y="1422400"/>
            <a:ext cx="3878916" cy="3528366"/>
          </a:xfrm>
          <a:prstGeom prst="rect">
            <a:avLst/>
          </a:prstGeom>
          <a:noFill/>
          <a:ln>
            <a:noFill/>
          </a:ln>
        </p:spPr>
      </p:pic>
      <p:pic>
        <p:nvPicPr>
          <p:cNvPr id="267" name="Google Shape;267;p20"/>
          <p:cNvPicPr preferRelativeResize="0"/>
          <p:nvPr/>
        </p:nvPicPr>
        <p:blipFill rotWithShape="1">
          <a:blip r:embed="rId4">
            <a:alphaModFix/>
          </a:blip>
          <a:srcRect b="0" l="0" r="0" t="0"/>
          <a:stretch/>
        </p:blipFill>
        <p:spPr>
          <a:xfrm>
            <a:off x="1998134" y="2747963"/>
            <a:ext cx="4405855" cy="374491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1"/>
          <p:cNvSpPr txBox="1"/>
          <p:nvPr>
            <p:ph type="title"/>
          </p:nvPr>
        </p:nvSpPr>
        <p:spPr>
          <a:xfrm>
            <a:off x="3132280" y="3640138"/>
            <a:ext cx="8207555" cy="2852737"/>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6000"/>
              <a:buFont typeface="Calibri"/>
              <a:buNone/>
            </a:pPr>
            <a:r>
              <a:rPr lang="en-US"/>
              <a:t>Collaboration</a:t>
            </a:r>
            <a:endParaRPr/>
          </a:p>
        </p:txBody>
      </p:sp>
      <p:sp>
        <p:nvSpPr>
          <p:cNvPr id="274" name="Google Shape;274;p21"/>
          <p:cNvSpPr/>
          <p:nvPr/>
        </p:nvSpPr>
        <p:spPr>
          <a:xfrm>
            <a:off x="316992" y="4901184"/>
            <a:ext cx="2535936" cy="1591691"/>
          </a:xfrm>
          <a:prstGeom prst="rect">
            <a:avLst/>
          </a:prstGeom>
          <a:solidFill>
            <a:srgbClr val="1F3864"/>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75" name="Google Shape;275;p21"/>
          <p:cNvSpPr/>
          <p:nvPr/>
        </p:nvSpPr>
        <p:spPr>
          <a:xfrm>
            <a:off x="316992" y="2633154"/>
            <a:ext cx="2535936" cy="1591691"/>
          </a:xfrm>
          <a:prstGeom prst="rect">
            <a:avLst/>
          </a:prstGeom>
          <a:solidFill>
            <a:srgbClr val="8DA9DB"/>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EPICS Service</a:t>
            </a:r>
            <a:br>
              <a:rPr b="0" i="0"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Archiver, ChannelFinder</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Save Restore, Olog,</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Alarm</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a:t>
            </a:r>
            <a:endParaRPr/>
          </a:p>
        </p:txBody>
      </p:sp>
      <p:sp>
        <p:nvSpPr>
          <p:cNvPr id="276" name="Google Shape;276;p21"/>
          <p:cNvSpPr/>
          <p:nvPr/>
        </p:nvSpPr>
        <p:spPr>
          <a:xfrm>
            <a:off x="316992" y="365125"/>
            <a:ext cx="2535936" cy="1591691"/>
          </a:xfrm>
          <a:prstGeom prst="rect">
            <a:avLst/>
          </a:prstGeom>
          <a:solidFill>
            <a:srgbClr val="D8E2F3"/>
          </a:solidFill>
          <a:ln cap="flat" cmpd="sng" w="12700">
            <a:solidFill>
              <a:srgbClr val="D8E2F3"/>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chemeClr val="dk1"/>
                </a:solidFill>
                <a:latin typeface="Calibri"/>
                <a:ea typeface="Calibri"/>
                <a:cs typeface="Calibri"/>
                <a:sym typeface="Calibri"/>
              </a:rPr>
              <a:t>EPICS Tools</a:t>
            </a:r>
            <a:br>
              <a:rPr b="1" i="0"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Phoebus</a:t>
            </a:r>
            <a:br>
              <a:rPr b="0" i="1" lang="en-US" sz="1800" u="none" cap="none" strike="noStrike">
                <a:solidFill>
                  <a:schemeClr val="dk1"/>
                </a:solidFill>
                <a:latin typeface="Calibri"/>
                <a:ea typeface="Calibri"/>
                <a:cs typeface="Calibri"/>
                <a:sym typeface="Calibri"/>
              </a:rPr>
            </a:br>
            <a:r>
              <a:rPr b="0" i="1" lang="en-US" sz="1800" u="none" cap="none" strike="noStrike">
                <a:solidFill>
                  <a:schemeClr val="dk1"/>
                </a:solidFill>
                <a:latin typeface="Calibri"/>
                <a:ea typeface="Calibri"/>
                <a:cs typeface="Calibri"/>
                <a:sym typeface="Calibri"/>
              </a:rPr>
              <a:t>CS-Studio</a:t>
            </a:r>
            <a:endParaRPr/>
          </a:p>
        </p:txBody>
      </p:sp>
      <p:pic>
        <p:nvPicPr>
          <p:cNvPr id="277" name="Google Shape;277;p21"/>
          <p:cNvPicPr preferRelativeResize="0"/>
          <p:nvPr/>
        </p:nvPicPr>
        <p:blipFill rotWithShape="1">
          <a:blip r:embed="rId3">
            <a:alphaModFix/>
          </a:blip>
          <a:srcRect b="0" l="0" r="0" t="0"/>
          <a:stretch/>
        </p:blipFill>
        <p:spPr>
          <a:xfrm>
            <a:off x="852159" y="5309654"/>
            <a:ext cx="1465602" cy="774749"/>
          </a:xfrm>
          <a:prstGeom prst="rect">
            <a:avLst/>
          </a:prstGeom>
          <a:noFill/>
          <a:ln>
            <a:noFill/>
          </a:ln>
        </p:spPr>
      </p:pic>
      <p:cxnSp>
        <p:nvCxnSpPr>
          <p:cNvPr id="278" name="Google Shape;278;p21"/>
          <p:cNvCxnSpPr/>
          <p:nvPr/>
        </p:nvCxnSpPr>
        <p:spPr>
          <a:xfrm>
            <a:off x="0" y="2290437"/>
            <a:ext cx="3096768" cy="0"/>
          </a:xfrm>
          <a:prstGeom prst="straightConnector1">
            <a:avLst/>
          </a:prstGeom>
          <a:noFill/>
          <a:ln cap="flat" cmpd="sng" w="76200">
            <a:solidFill>
              <a:schemeClr val="dk1"/>
            </a:solidFill>
            <a:prstDash val="solid"/>
            <a:miter lim="800000"/>
            <a:headEnd len="sm" w="sm" type="none"/>
            <a:tailEnd len="sm" w="sm" type="none"/>
          </a:ln>
        </p:spPr>
      </p:cxnSp>
      <p:cxnSp>
        <p:nvCxnSpPr>
          <p:cNvPr id="279" name="Google Shape;279;p21"/>
          <p:cNvCxnSpPr/>
          <p:nvPr/>
        </p:nvCxnSpPr>
        <p:spPr>
          <a:xfrm>
            <a:off x="0" y="4582355"/>
            <a:ext cx="3096768" cy="0"/>
          </a:xfrm>
          <a:prstGeom prst="straightConnector1">
            <a:avLst/>
          </a:prstGeom>
          <a:noFill/>
          <a:ln cap="flat" cmpd="sng" w="76200">
            <a:solidFill>
              <a:schemeClr val="dk1"/>
            </a:solidFill>
            <a:prstDash val="solid"/>
            <a:miter lim="800000"/>
            <a:headEnd len="sm" w="sm" type="none"/>
            <a:tailEnd len="sm" w="sm" type="none"/>
          </a:ln>
        </p:spPr>
      </p:cxnSp>
      <p:cxnSp>
        <p:nvCxnSpPr>
          <p:cNvPr id="280" name="Google Shape;280;p21"/>
          <p:cNvCxnSpPr/>
          <p:nvPr/>
        </p:nvCxnSpPr>
        <p:spPr>
          <a:xfrm>
            <a:off x="35512" y="2290437"/>
            <a:ext cx="0" cy="2277124"/>
          </a:xfrm>
          <a:prstGeom prst="straightConnector1">
            <a:avLst/>
          </a:prstGeom>
          <a:noFill/>
          <a:ln cap="flat" cmpd="sng" w="76200">
            <a:solidFill>
              <a:schemeClr val="dk1"/>
            </a:solidFill>
            <a:prstDash val="solid"/>
            <a:miter lim="800000"/>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Phoebus Collaboration</a:t>
            </a:r>
            <a:endParaRPr/>
          </a:p>
        </p:txBody>
      </p:sp>
      <p:pic>
        <p:nvPicPr>
          <p:cNvPr id="287" name="Google Shape;287;p22"/>
          <p:cNvPicPr preferRelativeResize="0"/>
          <p:nvPr/>
        </p:nvPicPr>
        <p:blipFill rotWithShape="1">
          <a:blip r:embed="rId3">
            <a:alphaModFix/>
          </a:blip>
          <a:srcRect b="0" l="0" r="0" t="0"/>
          <a:stretch/>
        </p:blipFill>
        <p:spPr>
          <a:xfrm>
            <a:off x="5230154" y="5218769"/>
            <a:ext cx="2162872" cy="1274106"/>
          </a:xfrm>
          <a:prstGeom prst="rect">
            <a:avLst/>
          </a:prstGeom>
          <a:noFill/>
          <a:ln>
            <a:noFill/>
          </a:ln>
        </p:spPr>
      </p:pic>
      <p:pic>
        <p:nvPicPr>
          <p:cNvPr id="288" name="Google Shape;288;p22"/>
          <p:cNvPicPr preferRelativeResize="0"/>
          <p:nvPr/>
        </p:nvPicPr>
        <p:blipFill rotWithShape="1">
          <a:blip r:embed="rId4">
            <a:alphaModFix/>
          </a:blip>
          <a:srcRect b="0" l="0" r="0" t="0"/>
          <a:stretch/>
        </p:blipFill>
        <p:spPr>
          <a:xfrm>
            <a:off x="5709250" y="4005422"/>
            <a:ext cx="1204680" cy="1213347"/>
          </a:xfrm>
          <a:prstGeom prst="rect">
            <a:avLst/>
          </a:prstGeom>
          <a:noFill/>
          <a:ln>
            <a:noFill/>
          </a:ln>
        </p:spPr>
      </p:pic>
      <p:pic>
        <p:nvPicPr>
          <p:cNvPr id="289" name="Google Shape;289;p22"/>
          <p:cNvPicPr preferRelativeResize="0"/>
          <p:nvPr/>
        </p:nvPicPr>
        <p:blipFill rotWithShape="1">
          <a:blip r:embed="rId5">
            <a:alphaModFix/>
          </a:blip>
          <a:srcRect b="0" l="0" r="0" t="0"/>
          <a:stretch/>
        </p:blipFill>
        <p:spPr>
          <a:xfrm>
            <a:off x="6913930" y="3121025"/>
            <a:ext cx="4778124" cy="3371850"/>
          </a:xfrm>
          <a:prstGeom prst="rect">
            <a:avLst/>
          </a:prstGeom>
          <a:noFill/>
          <a:ln>
            <a:noFill/>
          </a:ln>
        </p:spPr>
      </p:pic>
      <p:pic>
        <p:nvPicPr>
          <p:cNvPr id="290" name="Google Shape;290;p22"/>
          <p:cNvPicPr preferRelativeResize="0"/>
          <p:nvPr/>
        </p:nvPicPr>
        <p:blipFill rotWithShape="1">
          <a:blip r:embed="rId6">
            <a:alphaModFix/>
          </a:blip>
          <a:srcRect b="0" l="0" r="0" t="0"/>
          <a:stretch/>
        </p:blipFill>
        <p:spPr>
          <a:xfrm>
            <a:off x="6778094" y="336985"/>
            <a:ext cx="4913960" cy="2763441"/>
          </a:xfrm>
          <a:prstGeom prst="rect">
            <a:avLst/>
          </a:prstGeom>
          <a:noFill/>
          <a:ln>
            <a:noFill/>
          </a:ln>
        </p:spPr>
      </p:pic>
      <p:pic>
        <p:nvPicPr>
          <p:cNvPr id="291" name="Google Shape;291;p22"/>
          <p:cNvPicPr preferRelativeResize="0"/>
          <p:nvPr/>
        </p:nvPicPr>
        <p:blipFill rotWithShape="1">
          <a:blip r:embed="rId7">
            <a:alphaModFix/>
          </a:blip>
          <a:srcRect b="0" l="0" r="0" t="0"/>
          <a:stretch/>
        </p:blipFill>
        <p:spPr>
          <a:xfrm>
            <a:off x="3229342" y="1349595"/>
            <a:ext cx="3684588" cy="2763441"/>
          </a:xfrm>
          <a:prstGeom prst="rect">
            <a:avLst/>
          </a:prstGeom>
          <a:noFill/>
          <a:ln>
            <a:noFill/>
          </a:ln>
        </p:spPr>
      </p:pic>
      <p:pic>
        <p:nvPicPr>
          <p:cNvPr id="292" name="Google Shape;292;p22"/>
          <p:cNvPicPr preferRelativeResize="0"/>
          <p:nvPr/>
        </p:nvPicPr>
        <p:blipFill rotWithShape="1">
          <a:blip r:embed="rId8">
            <a:alphaModFix/>
          </a:blip>
          <a:srcRect b="0" l="0" r="0" t="0"/>
          <a:stretch/>
        </p:blipFill>
        <p:spPr>
          <a:xfrm>
            <a:off x="338253" y="3100426"/>
            <a:ext cx="5370997" cy="339244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Phoebus Collaboration</a:t>
            </a:r>
            <a:endParaRPr/>
          </a:p>
        </p:txBody>
      </p:sp>
      <p:sp>
        <p:nvSpPr>
          <p:cNvPr id="298" name="Google Shape;298;p23"/>
          <p:cNvSpPr txBox="1"/>
          <p:nvPr>
            <p:ph idx="1" type="body"/>
          </p:nvPr>
        </p:nvSpPr>
        <p:spPr>
          <a:xfrm>
            <a:off x="838200" y="3429000"/>
            <a:ext cx="5711687" cy="274796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Phoebus</a:t>
            </a:r>
            <a:endParaRPr/>
          </a:p>
          <a:p>
            <a:pPr indent="-228600" lvl="1" marL="685800" rtl="0" algn="l">
              <a:lnSpc>
                <a:spcPct val="90000"/>
              </a:lnSpc>
              <a:spcBef>
                <a:spcPts val="500"/>
              </a:spcBef>
              <a:spcAft>
                <a:spcPts val="0"/>
              </a:spcAft>
              <a:buClr>
                <a:schemeClr val="dk1"/>
              </a:buClr>
              <a:buSzPct val="100000"/>
              <a:buChar char="•"/>
            </a:pPr>
            <a:r>
              <a:rPr lang="en-US"/>
              <a:t>~300 PR’s</a:t>
            </a:r>
            <a:endParaRPr/>
          </a:p>
          <a:p>
            <a:pPr indent="-228600" lvl="1" marL="685800" rtl="0" algn="l">
              <a:lnSpc>
                <a:spcPct val="90000"/>
              </a:lnSpc>
              <a:spcBef>
                <a:spcPts val="500"/>
              </a:spcBef>
              <a:spcAft>
                <a:spcPts val="0"/>
              </a:spcAft>
              <a:buClr>
                <a:schemeClr val="dk1"/>
              </a:buClr>
              <a:buSzPct val="100000"/>
              <a:buChar char="•"/>
            </a:pPr>
            <a:r>
              <a:rPr lang="en-US"/>
              <a:t>~100 Issue</a:t>
            </a:r>
            <a:endParaRPr/>
          </a:p>
          <a:p>
            <a:pPr indent="-87630" lvl="1" marL="685800" rtl="0" algn="l">
              <a:lnSpc>
                <a:spcPct val="90000"/>
              </a:lnSpc>
              <a:spcBef>
                <a:spcPts val="500"/>
              </a:spcBef>
              <a:spcAft>
                <a:spcPts val="0"/>
              </a:spcAft>
              <a:buClr>
                <a:schemeClr val="dk1"/>
              </a:buClr>
              <a:buSzPct val="100000"/>
              <a:buNone/>
            </a:pPr>
            <a:r>
              <a:t/>
            </a:r>
            <a:endParaRPr/>
          </a:p>
          <a:p>
            <a:pPr indent="-87630" lvl="1" marL="685800" rtl="0" algn="l">
              <a:lnSpc>
                <a:spcPct val="90000"/>
              </a:lnSpc>
              <a:spcBef>
                <a:spcPts val="5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ChannelFinder</a:t>
            </a:r>
            <a:endParaRPr/>
          </a:p>
          <a:p>
            <a:pPr indent="-228600" lvl="0" marL="228600" rtl="0" algn="l">
              <a:lnSpc>
                <a:spcPct val="90000"/>
              </a:lnSpc>
              <a:spcBef>
                <a:spcPts val="1000"/>
              </a:spcBef>
              <a:spcAft>
                <a:spcPts val="0"/>
              </a:spcAft>
              <a:buClr>
                <a:schemeClr val="dk1"/>
              </a:buClr>
              <a:buSzPct val="100000"/>
              <a:buChar char="•"/>
            </a:pPr>
            <a:r>
              <a:rPr lang="en-US"/>
              <a:t>Phoebus-Olog</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u="sng">
              <a:solidFill>
                <a:schemeClr val="hlink"/>
              </a:solidFill>
              <a:hlinkClick r:id="rId3"/>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299" name="Google Shape;299;p23"/>
          <p:cNvPicPr preferRelativeResize="0"/>
          <p:nvPr/>
        </p:nvPicPr>
        <p:blipFill rotWithShape="1">
          <a:blip r:embed="rId4">
            <a:alphaModFix/>
          </a:blip>
          <a:srcRect b="0" l="0" r="0" t="0"/>
          <a:stretch/>
        </p:blipFill>
        <p:spPr>
          <a:xfrm>
            <a:off x="825718" y="1476380"/>
            <a:ext cx="5025358" cy="1952620"/>
          </a:xfrm>
          <a:prstGeom prst="rect">
            <a:avLst/>
          </a:prstGeom>
          <a:noFill/>
          <a:ln>
            <a:noFill/>
          </a:ln>
        </p:spPr>
      </p:pic>
      <p:pic>
        <p:nvPicPr>
          <p:cNvPr id="300" name="Google Shape;300;p23"/>
          <p:cNvPicPr preferRelativeResize="0"/>
          <p:nvPr/>
        </p:nvPicPr>
        <p:blipFill rotWithShape="1">
          <a:blip r:embed="rId5">
            <a:alphaModFix/>
          </a:blip>
          <a:srcRect b="0" l="0" r="0" t="0"/>
          <a:stretch/>
        </p:blipFill>
        <p:spPr>
          <a:xfrm>
            <a:off x="5851076" y="1261900"/>
            <a:ext cx="6023932" cy="4154028"/>
          </a:xfrm>
          <a:prstGeom prst="rect">
            <a:avLst/>
          </a:prstGeom>
          <a:noFill/>
          <a:ln>
            <a:noFill/>
          </a:ln>
        </p:spPr>
      </p:pic>
      <p:pic>
        <p:nvPicPr>
          <p:cNvPr id="301" name="Google Shape;301;p23"/>
          <p:cNvPicPr preferRelativeResize="0"/>
          <p:nvPr/>
        </p:nvPicPr>
        <p:blipFill rotWithShape="1">
          <a:blip r:embed="rId6">
            <a:alphaModFix/>
          </a:blip>
          <a:srcRect b="0" l="0" r="0" t="0"/>
          <a:stretch/>
        </p:blipFill>
        <p:spPr>
          <a:xfrm>
            <a:off x="6547994" y="3080641"/>
            <a:ext cx="5523869" cy="3641086"/>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to contribute</a:t>
            </a:r>
            <a:endParaRPr/>
          </a:p>
        </p:txBody>
      </p:sp>
      <p:sp>
        <p:nvSpPr>
          <p:cNvPr id="307" name="Google Shape;307;p24"/>
          <p:cNvSpPr txBox="1"/>
          <p:nvPr>
            <p:ph idx="1" type="body"/>
          </p:nvPr>
        </p:nvSpPr>
        <p:spPr>
          <a:xfrm>
            <a:off x="838200" y="1825625"/>
            <a:ext cx="5711687"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GitHub Issues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Monthly meetings on the 2</a:t>
            </a:r>
            <a:r>
              <a:rPr baseline="30000" lang="en-US"/>
              <a:t>nd</a:t>
            </a:r>
            <a:r>
              <a:rPr lang="en-US"/>
              <a:t> Wednesday of each month.</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Participate in codeathon / documentathon</a:t>
            </a:r>
            <a:endParaRPr/>
          </a:p>
          <a:p>
            <a:pPr indent="-228600" lvl="1" marL="685800" rtl="0" algn="l">
              <a:lnSpc>
                <a:spcPct val="90000"/>
              </a:lnSpc>
              <a:spcBef>
                <a:spcPts val="500"/>
              </a:spcBef>
              <a:spcAft>
                <a:spcPts val="0"/>
              </a:spcAft>
              <a:buClr>
                <a:schemeClr val="dk1"/>
              </a:buClr>
              <a:buSzPts val="2400"/>
              <a:buChar char="•"/>
            </a:pPr>
            <a:r>
              <a:rPr lang="en-US"/>
              <a:t>Location to be announced soon</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08" name="Google Shape;308;p24"/>
          <p:cNvPicPr preferRelativeResize="0"/>
          <p:nvPr/>
        </p:nvPicPr>
        <p:blipFill rotWithShape="1">
          <a:blip r:embed="rId3">
            <a:alphaModFix/>
          </a:blip>
          <a:srcRect b="0" l="0" r="0" t="0"/>
          <a:stretch/>
        </p:blipFill>
        <p:spPr>
          <a:xfrm>
            <a:off x="7217228" y="93051"/>
            <a:ext cx="4380412" cy="4131794"/>
          </a:xfrm>
          <a:prstGeom prst="rect">
            <a:avLst/>
          </a:prstGeom>
          <a:noFill/>
          <a:ln>
            <a:noFill/>
          </a:ln>
        </p:spPr>
      </p:pic>
      <p:pic>
        <p:nvPicPr>
          <p:cNvPr id="309" name="Google Shape;309;p24"/>
          <p:cNvPicPr preferRelativeResize="0"/>
          <p:nvPr/>
        </p:nvPicPr>
        <p:blipFill rotWithShape="1">
          <a:blip r:embed="rId4">
            <a:alphaModFix/>
          </a:blip>
          <a:srcRect b="0" l="0" r="0" t="0"/>
          <a:stretch/>
        </p:blipFill>
        <p:spPr>
          <a:xfrm>
            <a:off x="7269642" y="4113516"/>
            <a:ext cx="4084158" cy="265143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Useful links</a:t>
            </a:r>
            <a:endParaRPr/>
          </a:p>
        </p:txBody>
      </p:sp>
      <p:sp>
        <p:nvSpPr>
          <p:cNvPr id="316" name="Google Shape;316;p25"/>
          <p:cNvSpPr txBox="1"/>
          <p:nvPr>
            <p:ph idx="1" type="body"/>
          </p:nvPr>
        </p:nvSpPr>
        <p:spPr>
          <a:xfrm>
            <a:off x="838200" y="1825625"/>
            <a:ext cx="3953988" cy="4351338"/>
          </a:xfrm>
          <a:prstGeom prst="rect">
            <a:avLst/>
          </a:prstGeom>
          <a:noFill/>
          <a:ln>
            <a:noFill/>
          </a:ln>
        </p:spPr>
        <p:txBody>
          <a:bodyPr anchorCtr="0" anchor="t" bIns="45700" lIns="91425" spcFirstLastPara="1" rIns="91425" wrap="square" tIns="45700">
            <a:normAutofit fontScale="77500" lnSpcReduction="20000"/>
          </a:bodyPr>
          <a:lstStyle/>
          <a:p>
            <a:pPr indent="0" lvl="0" marL="0" rtl="0" algn="l">
              <a:lnSpc>
                <a:spcPct val="90000"/>
              </a:lnSpc>
              <a:spcBef>
                <a:spcPts val="0"/>
              </a:spcBef>
              <a:spcAft>
                <a:spcPts val="0"/>
              </a:spcAft>
              <a:buClr>
                <a:schemeClr val="dk1"/>
              </a:buClr>
              <a:buSzPct val="100000"/>
              <a:buNone/>
            </a:pPr>
            <a:r>
              <a:rPr lang="en-US" u="sng">
                <a:solidFill>
                  <a:schemeClr val="hlink"/>
                </a:solidFill>
                <a:hlinkClick r:id="rId3"/>
              </a:rPr>
              <a:t>http://phoebus.org</a:t>
            </a:r>
            <a:endParaRPr/>
          </a:p>
          <a:p>
            <a:pPr indent="0" lvl="0" marL="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Fork us on github</a:t>
            </a:r>
            <a:br>
              <a:rPr lang="en-US"/>
            </a:br>
            <a:r>
              <a:rPr lang="en-US" u="sng">
                <a:solidFill>
                  <a:schemeClr val="hlink"/>
                </a:solidFill>
                <a:hlinkClick r:id="rId4"/>
              </a:rPr>
              <a:t>https://github.com/ControlSystemStudio</a:t>
            </a:r>
            <a:br>
              <a:rPr lang="en-US"/>
            </a:br>
            <a:endParaRPr/>
          </a:p>
          <a:p>
            <a:pPr indent="-228600" lvl="0" marL="228600" rtl="0" algn="l">
              <a:lnSpc>
                <a:spcPct val="90000"/>
              </a:lnSpc>
              <a:spcBef>
                <a:spcPts val="1000"/>
              </a:spcBef>
              <a:spcAft>
                <a:spcPts val="0"/>
              </a:spcAft>
              <a:buClr>
                <a:schemeClr val="dk1"/>
              </a:buClr>
              <a:buSzPct val="100000"/>
              <a:buChar char="•"/>
            </a:pPr>
            <a:r>
              <a:rPr lang="en-US"/>
              <a:t>ChannelFinder</a:t>
            </a:r>
            <a:br>
              <a:rPr lang="en-US"/>
            </a:br>
            <a:r>
              <a:rPr lang="en-US" u="sng">
                <a:solidFill>
                  <a:schemeClr val="hlink"/>
                </a:solidFill>
                <a:hlinkClick r:id="rId5"/>
              </a:rPr>
              <a:t>http://channelfinder.github.io/</a:t>
            </a:r>
            <a:endParaRPr/>
          </a:p>
          <a:p>
            <a:pPr indent="-228600" lvl="0" marL="228600" rtl="0" algn="l">
              <a:lnSpc>
                <a:spcPct val="90000"/>
              </a:lnSpc>
              <a:spcBef>
                <a:spcPts val="1000"/>
              </a:spcBef>
              <a:spcAft>
                <a:spcPts val="0"/>
              </a:spcAft>
              <a:buClr>
                <a:schemeClr val="dk1"/>
              </a:buClr>
              <a:buSzPct val="100000"/>
              <a:buChar char="•"/>
            </a:pPr>
            <a:r>
              <a:rPr lang="en-US"/>
              <a:t>Olog</a:t>
            </a:r>
            <a:br>
              <a:rPr lang="en-US"/>
            </a:br>
            <a:r>
              <a:rPr lang="en-US" u="sng">
                <a:solidFill>
                  <a:schemeClr val="hlink"/>
                </a:solidFill>
                <a:hlinkClick r:id="rId6"/>
              </a:rPr>
              <a:t>https://github.com/Olog</a:t>
            </a:r>
            <a:endParaRPr/>
          </a:p>
          <a:p>
            <a:pPr indent="-228600" lvl="0" marL="228600" rtl="0" algn="l">
              <a:lnSpc>
                <a:spcPct val="90000"/>
              </a:lnSpc>
              <a:spcBef>
                <a:spcPts val="1000"/>
              </a:spcBef>
              <a:spcAft>
                <a:spcPts val="0"/>
              </a:spcAft>
              <a:buClr>
                <a:schemeClr val="dk1"/>
              </a:buClr>
              <a:buSzPct val="100000"/>
              <a:buChar char="•"/>
            </a:pPr>
            <a:r>
              <a:rPr lang="en-US"/>
              <a:t>SaveRestore, Alarm Services, Scan Server</a:t>
            </a:r>
            <a:br>
              <a:rPr lang="en-US"/>
            </a:br>
            <a:r>
              <a:rPr lang="en-US" u="sng">
                <a:solidFill>
                  <a:schemeClr val="hlink"/>
                </a:solidFill>
                <a:hlinkClick r:id="rId7"/>
              </a:rPr>
              <a:t>https://github.com/ControlSystemStudio/phoebus/tree/master/services</a:t>
            </a:r>
            <a:endParaRPr/>
          </a:p>
          <a:p>
            <a:pPr indent="-90805" lvl="0" marL="228600" rtl="0" algn="l">
              <a:lnSpc>
                <a:spcPct val="90000"/>
              </a:lnSpc>
              <a:spcBef>
                <a:spcPts val="1000"/>
              </a:spcBef>
              <a:spcAft>
                <a:spcPts val="0"/>
              </a:spcAft>
              <a:buClr>
                <a:schemeClr val="dk1"/>
              </a:buClr>
              <a:buSzPct val="100000"/>
              <a:buNone/>
            </a:pPr>
            <a:r>
              <a:t/>
            </a:r>
            <a:endParaRPr/>
          </a:p>
        </p:txBody>
      </p:sp>
      <p:pic>
        <p:nvPicPr>
          <p:cNvPr id="317" name="Google Shape;317;p25"/>
          <p:cNvPicPr preferRelativeResize="0"/>
          <p:nvPr/>
        </p:nvPicPr>
        <p:blipFill rotWithShape="1">
          <a:blip r:embed="rId8">
            <a:alphaModFix/>
          </a:blip>
          <a:srcRect b="0" l="0" r="0" t="0"/>
          <a:stretch/>
        </p:blipFill>
        <p:spPr>
          <a:xfrm>
            <a:off x="4792188" y="-5862"/>
            <a:ext cx="7399812" cy="685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chemeClr val="dk1"/>
              </a:buClr>
              <a:buSzPts val="6000"/>
              <a:buFont typeface="Calibri"/>
              <a:buNone/>
            </a:pPr>
            <a:r>
              <a:rPr lang="en-US"/>
              <a:t>Questions</a:t>
            </a:r>
            <a:endParaRPr/>
          </a:p>
        </p:txBody>
      </p:sp>
      <p:sp>
        <p:nvSpPr>
          <p:cNvPr id="323" name="Google Shape;323;p2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888888"/>
              </a:buClr>
              <a:buSzPts val="24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7" name="Shape 327"/>
        <p:cNvGrpSpPr/>
        <p:nvPr/>
      </p:nvGrpSpPr>
      <p:grpSpPr>
        <a:xfrm>
          <a:off x="0" y="0"/>
          <a:ext cx="0" cy="0"/>
          <a:chOff x="0" y="0"/>
          <a:chExt cx="0" cy="0"/>
        </a:xfrm>
      </p:grpSpPr>
      <p:sp>
        <p:nvSpPr>
          <p:cNvPr id="328" name="Google Shape;328;p27"/>
          <p:cNvSpPr txBox="1"/>
          <p:nvPr>
            <p:ph type="title"/>
          </p:nvPr>
        </p:nvSpPr>
        <p:spPr>
          <a:xfrm>
            <a:off x="301451" y="365125"/>
            <a:ext cx="11052349"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Alarm</a:t>
            </a:r>
            <a:endParaRPr/>
          </a:p>
        </p:txBody>
      </p:sp>
      <p:sp>
        <p:nvSpPr>
          <p:cNvPr id="329" name="Google Shape;329;p27"/>
          <p:cNvSpPr txBox="1"/>
          <p:nvPr>
            <p:ph idx="2" type="body"/>
          </p:nvPr>
        </p:nvSpPr>
        <p:spPr>
          <a:xfrm>
            <a:off x="526041" y="4234151"/>
            <a:ext cx="10827759" cy="1942812"/>
          </a:xfrm>
          <a:prstGeom prst="rect">
            <a:avLst/>
          </a:prstGeom>
          <a:noFill/>
          <a:ln>
            <a:noFill/>
          </a:ln>
        </p:spPr>
        <p:txBody>
          <a:bodyPr anchorCtr="0" anchor="t" bIns="45700" lIns="91425" spcFirstLastPara="1" rIns="91425" wrap="square" tIns="45700">
            <a:normAutofit fontScale="47500" lnSpcReduction="20000"/>
          </a:bodyPr>
          <a:lstStyle/>
          <a:p>
            <a:pPr indent="-228600" lvl="0" marL="228600" rtl="0" algn="l">
              <a:lnSpc>
                <a:spcPct val="90000"/>
              </a:lnSpc>
              <a:spcBef>
                <a:spcPts val="0"/>
              </a:spcBef>
              <a:spcAft>
                <a:spcPts val="0"/>
              </a:spcAft>
              <a:buClr>
                <a:schemeClr val="dk1"/>
              </a:buClr>
              <a:buSzPct val="100000"/>
              <a:buChar char="•"/>
            </a:pPr>
            <a:r>
              <a:rPr lang="en-US"/>
              <a:t>Phoebus Alarm clients</a:t>
            </a:r>
            <a:endParaRPr/>
          </a:p>
          <a:p>
            <a:pPr indent="-14414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Alarm Tree</a:t>
            </a:r>
            <a:endParaRPr/>
          </a:p>
          <a:p>
            <a:pPr indent="-228600" lvl="0" marL="228600" rtl="0" algn="l">
              <a:lnSpc>
                <a:spcPct val="90000"/>
              </a:lnSpc>
              <a:spcBef>
                <a:spcPts val="1000"/>
              </a:spcBef>
              <a:spcAft>
                <a:spcPts val="0"/>
              </a:spcAft>
              <a:buClr>
                <a:schemeClr val="dk1"/>
              </a:buClr>
              <a:buSzPct val="100000"/>
              <a:buChar char="•"/>
            </a:pPr>
            <a:r>
              <a:rPr lang="en-US"/>
              <a:t>Alarm Table</a:t>
            </a:r>
            <a:endParaRPr/>
          </a:p>
          <a:p>
            <a:pPr indent="-228600" lvl="0" marL="228600" rtl="0" algn="l">
              <a:lnSpc>
                <a:spcPct val="90000"/>
              </a:lnSpc>
              <a:spcBef>
                <a:spcPts val="1000"/>
              </a:spcBef>
              <a:spcAft>
                <a:spcPts val="0"/>
              </a:spcAft>
              <a:buClr>
                <a:schemeClr val="dk1"/>
              </a:buClr>
              <a:buSzPct val="100000"/>
              <a:buChar char="•"/>
            </a:pPr>
            <a:r>
              <a:rPr lang="en-US"/>
              <a:t>Alarm Panel</a:t>
            </a:r>
            <a:endParaRPr/>
          </a:p>
          <a:p>
            <a:pPr indent="-14414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Alarm History </a:t>
            </a:r>
            <a:endParaRPr/>
          </a:p>
          <a:p>
            <a:pPr indent="-144145" lvl="0" marL="228600" rtl="0" algn="l">
              <a:lnSpc>
                <a:spcPct val="90000"/>
              </a:lnSpc>
              <a:spcBef>
                <a:spcPts val="1000"/>
              </a:spcBef>
              <a:spcAft>
                <a:spcPts val="0"/>
              </a:spcAft>
              <a:buClr>
                <a:schemeClr val="dk1"/>
              </a:buClr>
              <a:buSzPct val="100000"/>
              <a:buNone/>
            </a:pPr>
            <a:r>
              <a:t/>
            </a:r>
            <a:endParaRPr/>
          </a:p>
        </p:txBody>
      </p:sp>
      <p:pic>
        <p:nvPicPr>
          <p:cNvPr id="330" name="Google Shape;330;p27"/>
          <p:cNvPicPr preferRelativeResize="0"/>
          <p:nvPr/>
        </p:nvPicPr>
        <p:blipFill rotWithShape="1">
          <a:blip r:embed="rId3">
            <a:alphaModFix/>
          </a:blip>
          <a:srcRect b="28200" l="0" r="27891" t="0"/>
          <a:stretch/>
        </p:blipFill>
        <p:spPr>
          <a:xfrm>
            <a:off x="2549769" y="3692770"/>
            <a:ext cx="9491743" cy="3031174"/>
          </a:xfrm>
          <a:prstGeom prst="rect">
            <a:avLst/>
          </a:prstGeom>
          <a:noFill/>
          <a:ln>
            <a:noFill/>
          </a:ln>
        </p:spPr>
      </p:pic>
      <p:pic>
        <p:nvPicPr>
          <p:cNvPr id="331" name="Google Shape;331;p27"/>
          <p:cNvPicPr preferRelativeResize="0"/>
          <p:nvPr>
            <p:ph idx="1" type="body"/>
          </p:nvPr>
        </p:nvPicPr>
        <p:blipFill rotWithShape="1">
          <a:blip r:embed="rId4">
            <a:alphaModFix/>
          </a:blip>
          <a:srcRect b="0" l="0" r="0" t="0"/>
          <a:stretch/>
        </p:blipFill>
        <p:spPr>
          <a:xfrm>
            <a:off x="150487" y="1475684"/>
            <a:ext cx="11891025" cy="275846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p28"/>
          <p:cNvSpPr txBox="1"/>
          <p:nvPr>
            <p:ph type="title"/>
          </p:nvPr>
        </p:nvSpPr>
        <p:spPr>
          <a:xfrm>
            <a:off x="652072" y="37958"/>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Save Restore</a:t>
            </a:r>
            <a:endParaRPr/>
          </a:p>
        </p:txBody>
      </p:sp>
      <p:pic>
        <p:nvPicPr>
          <p:cNvPr descr="Graphical user interface, application&#10;&#10;Description automatically generated" id="337" name="Google Shape;337;p28"/>
          <p:cNvPicPr preferRelativeResize="0"/>
          <p:nvPr>
            <p:ph idx="1" type="body"/>
          </p:nvPr>
        </p:nvPicPr>
        <p:blipFill rotWithShape="1">
          <a:blip r:embed="rId3">
            <a:alphaModFix/>
          </a:blip>
          <a:srcRect b="0" l="0" r="0" t="0"/>
          <a:stretch/>
        </p:blipFill>
        <p:spPr>
          <a:xfrm>
            <a:off x="652072" y="1053650"/>
            <a:ext cx="10887856" cy="576639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1" name="Shape 341"/>
        <p:cNvGrpSpPr/>
        <p:nvPr/>
      </p:nvGrpSpPr>
      <p:grpSpPr>
        <a:xfrm>
          <a:off x="0" y="0"/>
          <a:ext cx="0" cy="0"/>
          <a:chOff x="0" y="0"/>
          <a:chExt cx="0" cy="0"/>
        </a:xfrm>
      </p:grpSpPr>
      <p:sp>
        <p:nvSpPr>
          <p:cNvPr id="342" name="Google Shape;342;p29"/>
          <p:cNvSpPr txBox="1"/>
          <p:nvPr>
            <p:ph type="title"/>
          </p:nvPr>
        </p:nvSpPr>
        <p:spPr>
          <a:xfrm>
            <a:off x="258889" y="29470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Logbook</a:t>
            </a:r>
            <a:endParaRPr/>
          </a:p>
        </p:txBody>
      </p:sp>
      <p:sp>
        <p:nvSpPr>
          <p:cNvPr id="343" name="Google Shape;343;p29"/>
          <p:cNvSpPr txBox="1"/>
          <p:nvPr/>
        </p:nvSpPr>
        <p:spPr>
          <a:xfrm>
            <a:off x="258889" y="1620266"/>
            <a:ext cx="3482075"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Supported for multiple logbook services</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Olog</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Phoebus Olog</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SNS logbook</a:t>
            </a:r>
            <a:endParaRPr/>
          </a:p>
          <a:p>
            <a:pPr indent="-285750" lvl="0" marL="285750" marR="0" rtl="0" algn="l">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elog</a:t>
            </a:r>
            <a:endParaRPr sz="1800">
              <a:solidFill>
                <a:schemeClr val="dk1"/>
              </a:solidFill>
              <a:latin typeface="Calibri"/>
              <a:ea typeface="Calibri"/>
              <a:cs typeface="Calibri"/>
              <a:sym typeface="Calibri"/>
            </a:endParaRPr>
          </a:p>
        </p:txBody>
      </p:sp>
      <p:pic>
        <p:nvPicPr>
          <p:cNvPr descr="Graphical user interface, text, application, email&#10;&#10;Description automatically generated" id="344" name="Google Shape;344;p29"/>
          <p:cNvPicPr preferRelativeResize="0"/>
          <p:nvPr>
            <p:ph idx="1" type="body"/>
          </p:nvPr>
        </p:nvPicPr>
        <p:blipFill rotWithShape="1">
          <a:blip r:embed="rId3">
            <a:alphaModFix/>
          </a:blip>
          <a:srcRect b="0" l="0" r="0" t="0"/>
          <a:stretch/>
        </p:blipFill>
        <p:spPr>
          <a:xfrm>
            <a:off x="3499177" y="550065"/>
            <a:ext cx="3482075" cy="4351338"/>
          </a:xfrm>
          <a:prstGeom prst="rect">
            <a:avLst/>
          </a:prstGeom>
          <a:noFill/>
          <a:ln>
            <a:noFill/>
          </a:ln>
        </p:spPr>
      </p:pic>
      <p:pic>
        <p:nvPicPr>
          <p:cNvPr id="345" name="Google Shape;345;p29"/>
          <p:cNvPicPr preferRelativeResize="0"/>
          <p:nvPr>
            <p:ph idx="2" type="body"/>
          </p:nvPr>
        </p:nvPicPr>
        <p:blipFill rotWithShape="1">
          <a:blip r:embed="rId4">
            <a:alphaModFix/>
          </a:blip>
          <a:srcRect b="0" l="0" r="0" t="0"/>
          <a:stretch/>
        </p:blipFill>
        <p:spPr>
          <a:xfrm>
            <a:off x="5890846" y="1889219"/>
            <a:ext cx="6069703" cy="467407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0" name="Shape 350"/>
        <p:cNvGrpSpPr/>
        <p:nvPr/>
      </p:nvGrpSpPr>
      <p:grpSpPr>
        <a:xfrm>
          <a:off x="0" y="0"/>
          <a:ext cx="0" cy="0"/>
          <a:chOff x="0" y="0"/>
          <a:chExt cx="0" cy="0"/>
        </a:xfrm>
      </p:grpSpPr>
      <p:sp>
        <p:nvSpPr>
          <p:cNvPr id="351" name="Google Shape;351;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VTypes: Type definitions</a:t>
            </a:r>
            <a:endParaRPr/>
          </a:p>
        </p:txBody>
      </p:sp>
      <p:sp>
        <p:nvSpPr>
          <p:cNvPr id="352" name="Google Shape;352;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Java interfaces for values</a:t>
            </a:r>
            <a:endParaRPr/>
          </a:p>
          <a:p>
            <a:pPr indent="-228600" lvl="1" marL="685800" rtl="0" algn="l">
              <a:lnSpc>
                <a:spcPct val="90000"/>
              </a:lnSpc>
              <a:spcBef>
                <a:spcPts val="500"/>
              </a:spcBef>
              <a:spcAft>
                <a:spcPts val="0"/>
              </a:spcAft>
              <a:buClr>
                <a:schemeClr val="dk1"/>
              </a:buClr>
              <a:buSzPts val="2400"/>
              <a:buChar char="•"/>
            </a:pPr>
            <a:r>
              <a:rPr lang="en-US"/>
              <a:t>Not tied to protocol or implementation  (i.e. we can read them from databases, epics protocol, file, …)</a:t>
            </a:r>
            <a:endParaRPr/>
          </a:p>
          <a:p>
            <a:pPr indent="-228600" lvl="1" marL="685800" rtl="0" algn="l">
              <a:lnSpc>
                <a:spcPct val="90000"/>
              </a:lnSpc>
              <a:spcBef>
                <a:spcPts val="500"/>
              </a:spcBef>
              <a:spcAft>
                <a:spcPts val="0"/>
              </a:spcAft>
              <a:buClr>
                <a:schemeClr val="dk1"/>
              </a:buClr>
              <a:buSzPts val="2400"/>
              <a:buChar char="•"/>
            </a:pPr>
            <a:r>
              <a:rPr lang="en-US"/>
              <a:t>Not tied to memory representation (i.e. they can come directly from the network buffer, can be lazily calculated, …)</a:t>
            </a:r>
            <a:endParaRPr/>
          </a:p>
          <a:p>
            <a:pPr indent="-228600" lvl="1" marL="685800" rtl="0" algn="l">
              <a:lnSpc>
                <a:spcPct val="90000"/>
              </a:lnSpc>
              <a:spcBef>
                <a:spcPts val="500"/>
              </a:spcBef>
              <a:spcAft>
                <a:spcPts val="0"/>
              </a:spcAft>
              <a:buClr>
                <a:schemeClr val="dk1"/>
              </a:buClr>
              <a:buSzPts val="2400"/>
              <a:buChar char="•"/>
            </a:pPr>
            <a:r>
              <a:rPr lang="en-US"/>
              <a:t>Immutable</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rPr lang="en-US"/>
              <a:t>It’s the “just give me some value from somewhere that is safe to read”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7" name="Shape 357"/>
        <p:cNvGrpSpPr/>
        <p:nvPr/>
      </p:nvGrpSpPr>
      <p:grpSpPr>
        <a:xfrm>
          <a:off x="0" y="0"/>
          <a:ext cx="0" cy="0"/>
          <a:chOff x="0" y="0"/>
          <a:chExt cx="0" cy="0"/>
        </a:xfrm>
      </p:grpSpPr>
      <p:sp>
        <p:nvSpPr>
          <p:cNvPr id="358" name="Google Shape;35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Formula Functions</a:t>
            </a:r>
            <a:endParaRPr/>
          </a:p>
        </p:txBody>
      </p:sp>
      <p:sp>
        <p:nvSpPr>
          <p:cNvPr id="359" name="Google Shape;359;p31"/>
          <p:cNvSpPr txBox="1"/>
          <p:nvPr>
            <p:ph idx="1" type="body"/>
          </p:nvPr>
        </p:nvSpPr>
        <p:spPr>
          <a:xfrm>
            <a:off x="838200" y="1825625"/>
            <a:ext cx="5370095"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An efficient way to support data processing</a:t>
            </a:r>
            <a:endParaRPr/>
          </a:p>
          <a:p>
            <a:pPr indent="-228600" lvl="1" marL="685800" rtl="0" algn="l">
              <a:lnSpc>
                <a:spcPct val="90000"/>
              </a:lnSpc>
              <a:spcBef>
                <a:spcPts val="500"/>
              </a:spcBef>
              <a:spcAft>
                <a:spcPts val="0"/>
              </a:spcAft>
              <a:buClr>
                <a:schemeClr val="dk1"/>
              </a:buClr>
              <a:buSzPts val="2400"/>
              <a:buChar char="•"/>
            </a:pPr>
            <a:r>
              <a:rPr lang="en-US"/>
              <a:t>No Scripts &amp; Rules</a:t>
            </a:r>
            <a:br>
              <a:rPr lang="en-US"/>
            </a:br>
            <a:endParaRPr/>
          </a:p>
          <a:p>
            <a:pPr indent="-285750" lvl="0" marL="285750" rtl="0" algn="l">
              <a:lnSpc>
                <a:spcPct val="90000"/>
              </a:lnSpc>
              <a:spcBef>
                <a:spcPts val="1000"/>
              </a:spcBef>
              <a:spcAft>
                <a:spcPts val="0"/>
              </a:spcAft>
              <a:buClr>
                <a:schemeClr val="dk1"/>
              </a:buClr>
              <a:buSzPts val="2800"/>
              <a:buChar char="•"/>
            </a:pPr>
            <a:r>
              <a:rPr lang="en-US"/>
              <a:t>Data processing happening off the UI thread</a:t>
            </a:r>
            <a:endParaRPr/>
          </a:p>
          <a:p>
            <a:pPr indent="-285750" lvl="0" marL="285750" rtl="0" algn="l">
              <a:lnSpc>
                <a:spcPct val="90000"/>
              </a:lnSpc>
              <a:spcBef>
                <a:spcPts val="1000"/>
              </a:spcBef>
              <a:spcAft>
                <a:spcPts val="0"/>
              </a:spcAft>
              <a:buClr>
                <a:schemeClr val="dk1"/>
              </a:buClr>
              <a:buSzPts val="2800"/>
              <a:buChar char="•"/>
            </a:pPr>
            <a:r>
              <a:rPr lang="en-US"/>
              <a:t>Thread safe access to data</a:t>
            </a:r>
            <a:endParaRPr/>
          </a:p>
          <a:p>
            <a:pPr indent="-285750" lvl="0" marL="285750" rtl="0" algn="l">
              <a:lnSpc>
                <a:spcPct val="90000"/>
              </a:lnSpc>
              <a:spcBef>
                <a:spcPts val="1000"/>
              </a:spcBef>
              <a:spcAft>
                <a:spcPts val="0"/>
              </a:spcAft>
              <a:buClr>
                <a:schemeClr val="dk1"/>
              </a:buClr>
              <a:buSzPts val="2800"/>
              <a:buChar char="•"/>
            </a:pPr>
            <a:r>
              <a:rPr lang="en-US"/>
              <a:t>Connection management</a:t>
            </a:r>
            <a:endParaRPr/>
          </a:p>
        </p:txBody>
      </p:sp>
      <p:pic>
        <p:nvPicPr>
          <p:cNvPr id="360" name="Google Shape;360;p31"/>
          <p:cNvPicPr preferRelativeResize="0"/>
          <p:nvPr/>
        </p:nvPicPr>
        <p:blipFill rotWithShape="1">
          <a:blip r:embed="rId3">
            <a:alphaModFix/>
          </a:blip>
          <a:srcRect b="0" l="0" r="31723" t="0"/>
          <a:stretch/>
        </p:blipFill>
        <p:spPr>
          <a:xfrm>
            <a:off x="6208295" y="1355558"/>
            <a:ext cx="5439527" cy="5137317"/>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2021-06-30T18:40:38Z</dcterms:created>
  <dc:creator>Shroff, Kunal</dc:creator>
</cp:coreProperties>
</file>