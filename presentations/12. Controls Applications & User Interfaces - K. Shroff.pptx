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69" r:id="rId5"/>
  </p:sldMasterIdLst>
  <p:notesMasterIdLst>
    <p:notesMasterId r:id="rId32"/>
  </p:notesMasterIdLst>
  <p:sldIdLst>
    <p:sldId id="279" r:id="rId6"/>
    <p:sldId id="261" r:id="rId7"/>
    <p:sldId id="324" r:id="rId8"/>
    <p:sldId id="308" r:id="rId9"/>
    <p:sldId id="319" r:id="rId10"/>
    <p:sldId id="336" r:id="rId11"/>
    <p:sldId id="335" r:id="rId12"/>
    <p:sldId id="322" r:id="rId13"/>
    <p:sldId id="342" r:id="rId14"/>
    <p:sldId id="343" r:id="rId15"/>
    <p:sldId id="338" r:id="rId16"/>
    <p:sldId id="339" r:id="rId17"/>
    <p:sldId id="337" r:id="rId18"/>
    <p:sldId id="340" r:id="rId19"/>
    <p:sldId id="341" r:id="rId20"/>
    <p:sldId id="345" r:id="rId21"/>
    <p:sldId id="344" r:id="rId22"/>
    <p:sldId id="321" r:id="rId23"/>
    <p:sldId id="346" r:id="rId24"/>
    <p:sldId id="348" r:id="rId25"/>
    <p:sldId id="320" r:id="rId26"/>
    <p:sldId id="315" r:id="rId27"/>
    <p:sldId id="347" r:id="rId28"/>
    <p:sldId id="316" r:id="rId29"/>
    <p:sldId id="317" r:id="rId30"/>
    <p:sldId id="31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DEE4C-6F86-455C-B7AE-E940923D4B8D}" v="115" dt="2026-06-09T17:44:4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6F475-F7F5-6C41-B37C-656C49194CA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839EF-EF2D-A244-8B03-02564FD3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8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Automatic context capture: Log entries are pre-populated from the active application state.</a:t>
            </a:r>
          </a:p>
          <a:p>
            <a:r>
              <a:rPr lang="en-US"/>
              <a:t>Alarm integration example: Entries created from Alarm tools can initialize with alarming PV(s), alarm severity/state, and timestamp.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77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- **Automated Tuning and Scans**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**Model-assisted scans and optimization loops automate iterative tuning while preserving operator oversight**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**Scripted commissioning workflows support repeatable setup, recovery, and retuning tasks**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**Aligns with HLA requirements for custom beam-physics applications and consistent packaging (F-EIC-CTRL-SW-HLA.1, HLA.2)**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**Beam Diagnostics and Optics Correction**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**Applications support orbit, tune, and trajectory correction using BPM data and response-matrix methods**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**Structured PV data and service interfaces enable machine-wide diagnostics and correction workflows**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**Supports faster fault isolation and reproducible correction studies during commissioning**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**RF and Timing Commissioning**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**Phase alignment, timing synchronization, and LLRF validation workflows are integrated with controls data paths**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**Injection timing and synchronization tools use repeatable scan/verify cycles with archived evidence**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**Interfaces are built on EPICS/PVA communication paths used by commissioning applications (F-EIC-CTRL-SW-HLA.3)**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**Configuration and State Control**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**Save/Restore snapshots capture known-good machine states for controlled studies and rollback**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**Versioned settings and repeatable restore workflows reduce risk during invasive tuning activities**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**Supports operational consistency across shifts and staged commissioning campaigns**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**Operational Traceability**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**Electronic logbook entries, alarm/event context, and archiver history provide auditable commissioning records**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**Post-mortem analysis correlates actions, alarm states, and time-series process data for root-cause studies**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**Improves handoff quality between operations, controls, and physics teams**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**Model-Based Commissioning**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**Online model integration (virtual-accelerator/digital-twin style) reduces machine time and commissioning risk**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**Model/control workflow supports comparison of measured behavior against predicted responses**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- **Consistent with requirement to provide interfaces to physics modeling tools (F-EIC-CTRL-SW-HLA.4)**</a:t>
            </a: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Notes: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1. This slide is intentionally physics-commissioning focused and excludes installation workflow tooling.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2. Keep each workflow tied to traceable evidence (logbook + alarms/events + archiver) to support review and post-mortem analysis.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3. All commissioning applications use EPICS/PVA interfaces and align with HLA requirements in EIC-SEG-RSI-158 Table 4-2.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4. Model-assisted commissioning is a risk-reduction strategy for limited machine-time phases.</a:t>
            </a:r>
            <a:br>
              <a:rPr lang="en-US">
                <a:solidFill>
                  <a:srgbClr val="000000"/>
                </a:solidFill>
              </a:rPr>
            </a:b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References: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HLA requirements authority: [supporting-docs/EIC-SEG-RSI-158-Control.Software-Performance.Requirements.Document.txt](../supporting-docs/EIC-SEG-RSI-158-Control.Software-Performance.Requirements.Document.txt)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EPICS software framework moves from controls to physics (paper): [presentations/raw/commissioning-tools/tuzzplm3.pdf](raw/commissioning-tools/tuzzplm3.pdf)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EPICS software framework moves from controls to physics (talk): [presentations/raw/commissioning-tools/tuzzplm3_talk.pdf](raw/commissioning-tools/tuzzplm3_talk.pdf)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High-level physics controls applications for FRIB (phantasy): [presentations/raw/commissioning-tools/tucpr07.pdf](raw/commissioning-tools/tucpr07.pdf)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- EPICS decision baseline: [rod/EIC-ROD-EPICS-Control-System.md](../rod/EIC-ROD-EPICS-Control-System.md)</a:t>
            </a:r>
            <a:endParaRPr lang="en-US"/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4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•Jobs &amp; scheduling – run tasks off the UI thread for responsiveness</a:t>
            </a:r>
          </a:p>
          <a:p>
            <a:r>
              <a:rPr lang="en-US"/>
              <a:t>•Connection management – pooled, reusable PV and REST clients</a:t>
            </a:r>
            <a:endParaRPr lang="en-GB"/>
          </a:p>
          <a:p>
            <a:r>
              <a:rPr lang="en-US"/>
              <a:t>•VTypes – canonical value model</a:t>
            </a:r>
            <a:endParaRPr lang="en-GB"/>
          </a:p>
          <a:p>
            <a:r>
              <a:rPr lang="en-US"/>
              <a:t>•Protocol-agnostic, not tied to memory layout</a:t>
            </a:r>
            <a:endParaRPr lang="en-GB"/>
          </a:p>
          <a:p>
            <a:r>
              <a:rPr lang="en-US"/>
              <a:t>•Immutable and safe to share</a:t>
            </a:r>
            <a:endParaRPr lang="en-GB"/>
          </a:p>
          <a:p>
            <a:r>
              <a:rPr lang="en-US"/>
              <a:t>•Formula functions – efficient, thread-safe data processing pipelines</a:t>
            </a:r>
            <a:endParaRPr lang="en-GB"/>
          </a:p>
          <a:p>
            <a:r>
              <a:rPr lang="en-US"/>
              <a:t>•Selection services – share user-selected data cleanly across applications</a:t>
            </a:r>
            <a:endParaRPr lang="en-GB"/>
          </a:p>
          <a:p>
            <a:r>
              <a:rPr lang="en-US"/>
              <a:t>•Adapter services – enable runtime integration between loosely coupled apps</a:t>
            </a:r>
            <a:endParaRPr lang="en-GB"/>
          </a:p>
          <a:p>
            <a:r>
              <a:rPr lang="en-US"/>
              <a:t>•Preferences &amp; layouts 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6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**Application workflow model is coherent and source-backed**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**Core application set, middle-layer service model, and architecture direction are defined**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**Desktop and web usage patterns are established**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**Complete formal performance characterization under representative load**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**Finalize subsystem rollout priorities and acceptance evidence**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**Close unresolved interface and operational ownership items**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**Validate web-runtime and service assumptions against EIC-specific rollout plans**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**Are boundaries of the application scope acceptable for this phase?**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**Which workflows need deeper review before final design?**</a:t>
            </a:r>
            <a:endParaRPr lang="en-US"/>
          </a:p>
          <a:p>
            <a:r>
              <a:rPr lang="en-US">
                <a:solidFill>
                  <a:srgbClr val="CF8E6D"/>
                </a:solidFill>
                <a:highlight>
                  <a:srgbClr val="1E1F22"/>
                </a:highlight>
              </a:rPr>
              <a:t>- **Which source talk elements stay in the main body versus appendix for the final slide deck?**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1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D422-CF21-5F4B-9F3C-D943F67A9B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3175" y="1481540"/>
            <a:ext cx="10334625" cy="1947460"/>
          </a:xfrm>
        </p:spPr>
        <p:txBody>
          <a:bodyPr anchor="t" anchorCtr="0"/>
          <a:lstStyle>
            <a:lvl1pPr algn="l">
              <a:defRPr sz="6000" b="1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5F0DF-C789-3B48-88B2-EEF178B16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175" y="4712963"/>
            <a:ext cx="10334625" cy="74618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7851E-C1E1-6E46-8D1B-95D6C1888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3175" y="3441178"/>
            <a:ext cx="10334625" cy="125960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99D03B-F4BD-85C1-5955-B2BB7ACF4A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26314" y="472833"/>
            <a:ext cx="1632203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6D9F0E-4B80-0FD1-A24A-1C1B60A4BB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66183" y="472833"/>
            <a:ext cx="1787236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96317-0189-6060-26F4-32FD050889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67685" y="472833"/>
            <a:ext cx="1825604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55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orient="horz" pos="3888" userDrawn="1">
          <p15:clr>
            <a:srgbClr val="FBAE40"/>
          </p15:clr>
        </p15:guide>
        <p15:guide id="10" pos="360" userDrawn="1">
          <p15:clr>
            <a:srgbClr val="FBAE40"/>
          </p15:clr>
        </p15:guide>
        <p15:guide id="11" pos="7320" userDrawn="1">
          <p15:clr>
            <a:srgbClr val="FBAE40"/>
          </p15:clr>
        </p15:guide>
        <p15:guide id="12" orient="horz" pos="39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C6E50E-3840-229D-97E9-6585956B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99850" cy="5065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456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965E-00C4-6F4C-8817-84A69C14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26A3-B154-C14C-BFED-E141D3C8B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5524500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0C922-34CF-D846-A402-06F51B18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923" y="975360"/>
            <a:ext cx="5755084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68AE-308B-D548-82A1-318656FC5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D9BCDB3-24E9-1B4D-0A74-4298674A9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5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240333"/>
            <a:ext cx="432486" cy="29404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258C7-5BE3-51E9-6313-6F03042F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0C71E18-8584-A0E2-3682-9547339B30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373" y="6240332"/>
            <a:ext cx="3151015" cy="294041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4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D422-CF21-5F4B-9F3C-D943F67A9B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3175" y="1481540"/>
            <a:ext cx="10334625" cy="1947460"/>
          </a:xfrm>
        </p:spPr>
        <p:txBody>
          <a:bodyPr anchor="t" anchorCtr="0"/>
          <a:lstStyle>
            <a:lvl1pPr algn="l">
              <a:defRPr sz="6000" b="1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5F0DF-C789-3B48-88B2-EEF178B16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175" y="4712963"/>
            <a:ext cx="10334625" cy="74618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7851E-C1E1-6E46-8D1B-95D6C1888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3175" y="3441178"/>
            <a:ext cx="10334625" cy="125960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6D9F0E-4B80-0FD1-A24A-1C1B60A4BB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983308" y="450531"/>
            <a:ext cx="1787236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96317-0189-6060-26F4-32FD050889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5554" y="457965"/>
            <a:ext cx="1825604" cy="4572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C982CCA-1B74-BF6E-B229-11EF11E8D2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94996" y="480267"/>
            <a:ext cx="2309706" cy="40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888">
          <p15:clr>
            <a:srgbClr val="FBAE40"/>
          </p15:clr>
        </p15:guide>
        <p15:guide id="10" pos="360">
          <p15:clr>
            <a:srgbClr val="FBAE40"/>
          </p15:clr>
        </p15:guide>
        <p15:guide id="11" pos="7320">
          <p15:clr>
            <a:srgbClr val="FBAE40"/>
          </p15:clr>
        </p15:guide>
        <p15:guide id="12" orient="horz" pos="39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258C7-5BE3-51E9-6313-6F03042F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3A592-2C2C-1149-FE30-72A494F27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0C71E18-8584-A0E2-3682-9547339B30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</p:spTree>
    <p:extLst>
      <p:ext uri="{BB962C8B-B14F-4D97-AF65-F5344CB8AC3E}">
        <p14:creationId xmlns:p14="http://schemas.microsoft.com/office/powerpoint/2010/main" val="161001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965E-00C4-6F4C-8817-84A69C14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26A3-B154-C14C-BFED-E141D3C8B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5524500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0C922-34CF-D846-A402-06F51B18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923" y="975360"/>
            <a:ext cx="5755084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68AE-308B-D548-82A1-318656FC5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CFA25C5-6468-E921-5CC9-27F4A33A7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395F968-4504-BF25-C965-31E73F661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</p:spTree>
    <p:extLst>
      <p:ext uri="{BB962C8B-B14F-4D97-AF65-F5344CB8AC3E}">
        <p14:creationId xmlns:p14="http://schemas.microsoft.com/office/powerpoint/2010/main" val="51953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D9BCDB3-24E9-1B4D-0A74-4298674A9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DB6E2-DDA3-22B8-7251-F0B132B67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39522C-42D3-98C9-C46E-2F2D03D43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5B976-F9BD-96F9-4119-FEAF693C373D}"/>
              </a:ext>
            </a:extLst>
          </p:cNvPr>
          <p:cNvCxnSpPr/>
          <p:nvPr userDrawn="1"/>
        </p:nvCxnSpPr>
        <p:spPr>
          <a:xfrm>
            <a:off x="462579" y="6111240"/>
            <a:ext cx="114999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55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C6E50E-3840-229D-97E9-6585956B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99850" cy="5065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331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1649" y="6533724"/>
            <a:ext cx="432486" cy="29404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258C7-5BE3-51E9-6313-6F03042F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72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DAAA2-8718-2247-8539-9A0DC22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56FE-C136-A54B-9DE3-EACD8E08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25833E0-DD3D-DF4F-9316-F67B7A80E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150B5-704F-CF21-3183-8DB97C07706C}"/>
              </a:ext>
            </a:extLst>
          </p:cNvPr>
          <p:cNvCxnSpPr>
            <a:cxnSpLocks/>
          </p:cNvCxnSpPr>
          <p:nvPr userDrawn="1"/>
        </p:nvCxnSpPr>
        <p:spPr>
          <a:xfrm>
            <a:off x="462579" y="825178"/>
            <a:ext cx="11499925" cy="0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8E02E5-B6DE-6A8F-1CAC-5B5330D6CCDE}"/>
              </a:ext>
            </a:extLst>
          </p:cNvPr>
          <p:cNvSpPr txBox="1"/>
          <p:nvPr userDrawn="1"/>
        </p:nvSpPr>
        <p:spPr>
          <a:xfrm>
            <a:off x="369881" y="6499156"/>
            <a:ext cx="675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EIC Accelerator Controls Global Software, Networking, &amp; Computing PDR, June 15-17,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9E955-C13C-09BA-02F0-E5E9FAB7FA75}"/>
              </a:ext>
            </a:extLst>
          </p:cNvPr>
          <p:cNvSpPr txBox="1"/>
          <p:nvPr userDrawn="1"/>
        </p:nvSpPr>
        <p:spPr>
          <a:xfrm>
            <a:off x="7989616" y="6499156"/>
            <a:ext cx="1435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Kunal Shroff</a:t>
            </a:r>
          </a:p>
        </p:txBody>
      </p:sp>
    </p:spTree>
    <p:extLst>
      <p:ext uri="{BB962C8B-B14F-4D97-AF65-F5344CB8AC3E}">
        <p14:creationId xmlns:p14="http://schemas.microsoft.com/office/powerpoint/2010/main" val="5445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7" r:id="rId4"/>
    <p:sldLayoutId id="2147483668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u="none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60" userDrawn="1">
          <p15:clr>
            <a:srgbClr val="F26B43"/>
          </p15:clr>
        </p15:guide>
        <p15:guide id="10" orient="horz" pos="3888" userDrawn="1">
          <p15:clr>
            <a:srgbClr val="F26B43"/>
          </p15:clr>
        </p15:guide>
        <p15:guide id="11" pos="7320" userDrawn="1">
          <p15:clr>
            <a:srgbClr val="F26B43"/>
          </p15:clr>
        </p15:guide>
        <p15:guide id="12" orient="horz" pos="412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DAAA2-8718-2247-8539-9A0DC22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56FE-C136-A54B-9DE3-EACD8E08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25833E0-DD3D-DF4F-9316-F67B7A80E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150B5-704F-CF21-3183-8DB97C07706C}"/>
              </a:ext>
            </a:extLst>
          </p:cNvPr>
          <p:cNvCxnSpPr>
            <a:cxnSpLocks/>
          </p:cNvCxnSpPr>
          <p:nvPr userDrawn="1"/>
        </p:nvCxnSpPr>
        <p:spPr>
          <a:xfrm>
            <a:off x="462579" y="825178"/>
            <a:ext cx="11499925" cy="0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58D2D7-4525-7982-81CE-BAFE8EFB999D}"/>
              </a:ext>
            </a:extLst>
          </p:cNvPr>
          <p:cNvCxnSpPr/>
          <p:nvPr userDrawn="1"/>
        </p:nvCxnSpPr>
        <p:spPr>
          <a:xfrm>
            <a:off x="462579" y="6111240"/>
            <a:ext cx="114999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E77FA2-7B68-631C-7322-63DCE0C72020}"/>
              </a:ext>
            </a:extLst>
          </p:cNvPr>
          <p:cNvSpPr txBox="1"/>
          <p:nvPr userDrawn="1"/>
        </p:nvSpPr>
        <p:spPr>
          <a:xfrm>
            <a:off x="369881" y="6499156"/>
            <a:ext cx="675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EIC Accelerator Controls Global Software, Networking, &amp; Computing PDR, June 15-17,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0C0C0-891E-DEA0-F2E2-119546E29FD9}"/>
              </a:ext>
            </a:extLst>
          </p:cNvPr>
          <p:cNvSpPr txBox="1"/>
          <p:nvPr userDrawn="1"/>
        </p:nvSpPr>
        <p:spPr>
          <a:xfrm>
            <a:off x="7989616" y="6499156"/>
            <a:ext cx="1435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Kunal Shroff</a:t>
            </a:r>
          </a:p>
        </p:txBody>
      </p:sp>
    </p:spTree>
    <p:extLst>
      <p:ext uri="{BB962C8B-B14F-4D97-AF65-F5344CB8AC3E}">
        <p14:creationId xmlns:p14="http://schemas.microsoft.com/office/powerpoint/2010/main" val="82873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u="none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orient="horz" pos="3888">
          <p15:clr>
            <a:srgbClr val="F26B43"/>
          </p15:clr>
        </p15:guide>
        <p15:guide id="11" pos="7320">
          <p15:clr>
            <a:srgbClr val="F26B43"/>
          </p15:clr>
        </p15:guide>
        <p15:guide id="12" orient="horz" pos="41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6CBC-DA70-7741-BB3F-BCDBBE052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175" y="1481540"/>
            <a:ext cx="10334625" cy="923424"/>
          </a:xfrm>
        </p:spPr>
        <p:txBody>
          <a:bodyPr>
            <a:noAutofit/>
          </a:bodyPr>
          <a:lstStyle/>
          <a:p>
            <a:r>
              <a:rPr lang="en-US" sz="4200">
                <a:cs typeface="Arial"/>
              </a:rPr>
              <a:t>Application Layer &amp; Operator Interfaces</a:t>
            </a:r>
            <a:endParaRPr lang="en-US" sz="4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72E67-F4DB-9E7A-FE6C-424522F97257}"/>
              </a:ext>
            </a:extLst>
          </p:cNvPr>
          <p:cNvSpPr txBox="1"/>
          <p:nvPr/>
        </p:nvSpPr>
        <p:spPr>
          <a:xfrm>
            <a:off x="813175" y="2806045"/>
            <a:ext cx="5769204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Kunal Shroff</a:t>
            </a:r>
            <a:endParaRPr lang="en-US" sz="2500" b="1">
              <a:solidFill>
                <a:srgbClr val="000000"/>
              </a:solidFill>
            </a:endParaRPr>
          </a:p>
          <a:p>
            <a:r>
              <a:rPr lang="en-US" sz="2500">
                <a:solidFill>
                  <a:schemeClr val="bg1"/>
                </a:solidFill>
              </a:rPr>
              <a:t>Software Technical Lead</a:t>
            </a:r>
            <a:endParaRPr lang="en-US" sz="2500">
              <a:solidFill>
                <a:srgbClr val="000000"/>
              </a:solidFill>
              <a:cs typeface="Arial"/>
            </a:endParaRPr>
          </a:p>
          <a:p>
            <a:endParaRPr lang="en-US" sz="2400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02717-071F-2BED-90C3-1562DA3733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3174" y="4275190"/>
            <a:ext cx="10334625" cy="7745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FFFFFF"/>
                </a:solidFill>
                <a:latin typeface="Arial" panose="020B0604020202020204"/>
                <a:cs typeface="Arial"/>
              </a:rPr>
              <a:t>EIC Accelerator Controls Global Software, Networking &amp; Computing PDR</a:t>
            </a:r>
            <a:endParaRPr lang="en-US" sz="200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>
              <a:defRPr/>
            </a:pPr>
            <a:r>
              <a:rPr lang="en-US" sz="2000">
                <a:solidFill>
                  <a:srgbClr val="FFFFFF"/>
                </a:solidFill>
                <a:latin typeface="Arial" panose="020B0604020202020204"/>
                <a:cs typeface="Arial"/>
              </a:rPr>
              <a:t>June 15-17, 2026</a:t>
            </a:r>
            <a:endParaRPr lang="en-US" sz="2000">
              <a:solidFill>
                <a:srgbClr val="000000"/>
              </a:solidFill>
              <a:latin typeface="Arial" panose="020B06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09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C82C4-F825-468B-AB97-CCA5EB55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Me – Kunal Shroff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0661D-1B14-4579-B83B-0BC7B9597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I am the </a:t>
            </a:r>
            <a:r>
              <a:rPr lang="en-US" sz="2200" b="1">
                <a:ea typeface="+mn-lt"/>
                <a:cs typeface="+mn-lt"/>
              </a:rPr>
              <a:t>Controls Software Technical Lead for the Electron-Ion Collider (EIC)</a:t>
            </a:r>
            <a:r>
              <a:rPr lang="en-US" sz="2200">
                <a:ea typeface="+mn-lt"/>
                <a:cs typeface="+mn-lt"/>
              </a:rPr>
              <a:t> at Brookhaven National Laboratory, where I lead the architecture and deployment strategy for controls software and operational services.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I have </a:t>
            </a:r>
            <a:r>
              <a:rPr lang="en-US" sz="2200" b="1">
                <a:ea typeface="+mn-lt"/>
                <a:cs typeface="+mn-lt"/>
              </a:rPr>
              <a:t>17 years of experience</a:t>
            </a:r>
            <a:r>
              <a:rPr lang="en-US" sz="2200">
                <a:ea typeface="+mn-lt"/>
                <a:cs typeface="+mn-lt"/>
              </a:rPr>
              <a:t> developing control systems software for large scientific facilities and serve as the technical lead of the </a:t>
            </a:r>
            <a:r>
              <a:rPr lang="en-US" sz="2200" b="1">
                <a:ea typeface="+mn-lt"/>
                <a:cs typeface="+mn-lt"/>
              </a:rPr>
              <a:t>EPICS Phoebus Collaboration</a:t>
            </a:r>
            <a:r>
              <a:rPr lang="en-US" sz="2200">
                <a:ea typeface="+mn-lt"/>
                <a:cs typeface="+mn-lt"/>
              </a:rPr>
              <a:t>, an international effort developing next-generation tools and services for accelerator control systems.</a:t>
            </a:r>
            <a:endParaRPr lang="en-US">
              <a:cs typeface="Arial" panose="020B0604020202020204"/>
            </a:endParaRPr>
          </a:p>
          <a:p>
            <a:r>
              <a:rPr lang="en-US"/>
              <a:t>Education</a:t>
            </a:r>
          </a:p>
          <a:p>
            <a:pPr lvl="1"/>
            <a:r>
              <a:rPr lang="en-US" sz="1800">
                <a:ea typeface="+mn-lt"/>
                <a:cs typeface="+mn-lt"/>
              </a:rPr>
              <a:t>M.S. Electrical &amp; Computer Engineering, Stony Brook University </a:t>
            </a:r>
            <a:endParaRPr lang="en-US" sz="1800">
              <a:cs typeface="Arial"/>
            </a:endParaRPr>
          </a:p>
          <a:p>
            <a:r>
              <a:rPr lang="en-US"/>
              <a:t>Technical Focus</a:t>
            </a:r>
          </a:p>
          <a:p>
            <a:pPr lvl="1"/>
            <a:r>
              <a:rPr lang="en-US" sz="1800">
                <a:ea typeface="+mn-lt"/>
                <a:cs typeface="+mn-lt"/>
              </a:rPr>
              <a:t>Controls Architecture </a:t>
            </a:r>
            <a:endParaRPr lang="en-US" sz="1800">
              <a:cs typeface="Arial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EPICS &amp; Phoebus </a:t>
            </a:r>
            <a:endParaRPr lang="en-US" sz="1800">
              <a:cs typeface="Arial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Distributed Systems </a:t>
            </a:r>
            <a:endParaRPr lang="en-US" sz="1800">
              <a:cs typeface="Arial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DevOps, CI/CD, &amp; Infrastructure Automation</a:t>
            </a:r>
            <a:endParaRPr lang="en-US" sz="1800">
              <a:cs typeface="Arial"/>
            </a:endParaRPr>
          </a:p>
          <a:p>
            <a:endParaRPr lang="en-US" sz="220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8834F-A6C7-4112-556A-1C18A68D7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3A556B-7C63-244D-9B7C-B0EA8042B33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55894-6BDB-16B0-6752-A1DD503E7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06902D-327E-A150-853A-A765EAF5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Charge Questions</a:t>
            </a:r>
            <a:endParaRPr lang="en-US" sz="140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8DA78-90E0-94A6-4609-8E725D9FCC05}"/>
              </a:ext>
            </a:extLst>
          </p:cNvPr>
          <p:cNvSpPr txBox="1"/>
          <p:nvPr/>
        </p:nvSpPr>
        <p:spPr>
          <a:xfrm>
            <a:off x="462579" y="1037138"/>
            <a:ext cx="11314157" cy="5019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Are the system requirements sufficiently defined, understood, and documented for this phase of the design?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Do the designs meet the requirements?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Are the interfaces sufficiently defined, understood and documented for this phase of the design?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Are the design analysis, simulations, drawings and specifications, and work plans, sufficient for this phase of the design?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Have technical risks been identified and are mitigation plans adequate for this phase of the design?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Are plans to address ES&amp;H and Quality sufficient for this phase of the design?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Is the overall design maturity sufficient to proceed with the final design phase?</a:t>
            </a:r>
          </a:p>
        </p:txBody>
      </p:sp>
    </p:spTree>
    <p:extLst>
      <p:ext uri="{BB962C8B-B14F-4D97-AF65-F5344CB8AC3E}">
        <p14:creationId xmlns:p14="http://schemas.microsoft.com/office/powerpoint/2010/main" val="28325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05573-B624-22EE-2B0D-F4C7C220B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3A556B-7C63-244D-9B7C-B0EA8042B3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49B71-E5B6-0C4B-E95C-61E05E28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CEB6F35-FF79-44CC-01CA-59107DCB4A2B}"/>
              </a:ext>
            </a:extLst>
          </p:cNvPr>
          <p:cNvSpPr>
            <a:spLocks noGrp="1"/>
          </p:cNvSpPr>
          <p:nvPr/>
        </p:nvSpPr>
        <p:spPr>
          <a:xfrm>
            <a:off x="524309" y="1071129"/>
            <a:ext cx="11444431" cy="5252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Scope</a:t>
            </a:r>
            <a:endParaRPr lang="en-US">
              <a:cs typeface="Arial"/>
            </a:endParaRPr>
          </a:p>
          <a:p>
            <a:r>
              <a:rPr lang="en-US">
                <a:cs typeface="Arial"/>
              </a:rPr>
              <a:t>Requirements</a:t>
            </a:r>
            <a:endParaRPr lang="en-US"/>
          </a:p>
          <a:p>
            <a:r>
              <a:rPr lang="en-US"/>
              <a:t>Phoebus</a:t>
            </a:r>
            <a:endParaRPr lang="en-US">
              <a:cs typeface="Arial"/>
            </a:endParaRPr>
          </a:p>
          <a:p>
            <a:r>
              <a:rPr lang="en-US"/>
              <a:t>Phoebus applications</a:t>
            </a:r>
          </a:p>
          <a:p>
            <a:pPr lvl="1"/>
            <a:r>
              <a:rPr lang="en-US">
                <a:cs typeface="Arial"/>
              </a:rPr>
              <a:t>Display Builder</a:t>
            </a:r>
          </a:p>
          <a:p>
            <a:pPr lvl="1"/>
            <a:r>
              <a:rPr lang="en-US">
                <a:cs typeface="Arial"/>
              </a:rPr>
              <a:t>Databrowser</a:t>
            </a:r>
          </a:p>
          <a:p>
            <a:pPr lvl="1"/>
            <a:r>
              <a:rPr lang="en-US">
                <a:cs typeface="Arial"/>
              </a:rPr>
              <a:t>Alarm Applications</a:t>
            </a:r>
          </a:p>
          <a:p>
            <a:pPr lvl="1"/>
            <a:r>
              <a:rPr lang="en-US">
                <a:cs typeface="Arial"/>
              </a:rPr>
              <a:t>Logging</a:t>
            </a:r>
            <a:endParaRPr lang="en-US"/>
          </a:p>
          <a:p>
            <a:r>
              <a:rPr lang="en-US">
                <a:cs typeface="Arial"/>
              </a:rPr>
              <a:t>Phoebus Architecture</a:t>
            </a:r>
          </a:p>
          <a:p>
            <a:r>
              <a:rPr lang="en-US">
                <a:cs typeface="Arial"/>
              </a:rPr>
              <a:t>Risks</a:t>
            </a:r>
          </a:p>
          <a:p>
            <a:r>
              <a:rPr lang="en-US">
                <a:cs typeface="Arial"/>
              </a:rPr>
              <a:t>Path Forward</a:t>
            </a:r>
            <a:endParaRPr lang="en-US"/>
          </a:p>
          <a:p>
            <a:r>
              <a:rPr lang="en-US">
                <a:cs typeface="Arial" panose="020B0604020202020204"/>
              </a:rPr>
              <a:t>Summary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CBF41D-3C09-6B71-04F2-D1E5A6B71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41E02-B5AC-E541-422C-0D1CEE9F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Scope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B3F64-2C85-2A7B-1455-20FF8A87E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User-facing tools for control system operation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cs typeface="Arial" panose="020B0604020202020204"/>
            </a:endParaRPr>
          </a:p>
          <a:p>
            <a:pPr lvl="1"/>
            <a:r>
              <a:rPr lang="en-US">
                <a:ea typeface="+mn-lt"/>
                <a:cs typeface="+mn-lt"/>
              </a:rPr>
              <a:t>Focus on applications used to monitor, operate, diagnose, and document large-scale control systems </a:t>
            </a:r>
            <a:endParaRPr lang="en-US">
              <a:cs typeface="Arial"/>
            </a:endParaRPr>
          </a:p>
          <a:p>
            <a:r>
              <a:rPr lang="en-US" b="1">
                <a:ea typeface="+mn-lt"/>
                <a:cs typeface="+mn-lt"/>
              </a:rPr>
              <a:t>Phoebus as the primary application environment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Cover the integrated Phoebus toolkit, including displays, alarms, archiving, logging, PV tools, and save/restore workflows </a:t>
            </a:r>
            <a:endParaRPr lang="en-US">
              <a:cs typeface="Arial"/>
            </a:endParaRPr>
          </a:p>
          <a:p>
            <a:r>
              <a:rPr lang="en-US" b="1">
                <a:ea typeface="+mn-lt"/>
                <a:cs typeface="+mn-lt"/>
              </a:rPr>
              <a:t>Client libraries beyond Phoebus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Include libraries that bring control system access into other environments and languages </a:t>
            </a:r>
            <a:endParaRPr lang="en-US">
              <a:cs typeface="Arial"/>
            </a:endParaRPr>
          </a:p>
          <a:p>
            <a:r>
              <a:rPr lang="en-US" b="1">
                <a:ea typeface="+mn-lt"/>
                <a:cs typeface="+mn-lt"/>
              </a:rPr>
              <a:t>Integration with analysis and engineering workflows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Discuss use from Python notebooks, MATLAB applications, scripts, and custom tools </a:t>
            </a:r>
            <a:endParaRPr lang="en-US">
              <a:cs typeface="Arial"/>
            </a:endParaRPr>
          </a:p>
          <a:p>
            <a:r>
              <a:rPr lang="en-US" b="1">
                <a:ea typeface="+mn-lt"/>
                <a:cs typeface="+mn-lt"/>
              </a:rPr>
              <a:t>Common goal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Provide flexible, connected interfaces for users to interact with the control system in the environment that best fits their task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767712B-A01A-06E9-72F1-360811897013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58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4FBEC-335D-175C-DB31-3DD7A1682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A2E6EE-82C1-5E0C-A1E3-DA0873EF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Requirements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086F3-C538-DBEA-77E6-03BC5084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42075" y="981075"/>
            <a:ext cx="4219737" cy="5065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Initial versions of the Performance Requirements Documents (PRDs) </a:t>
            </a:r>
            <a:endParaRPr lang="en-US">
              <a:cs typeface="Arial"/>
            </a:endParaRPr>
          </a:p>
          <a:p>
            <a:pPr lvl="1"/>
            <a:r>
              <a:rPr lang="en-US"/>
              <a:t>High Level Applications </a:t>
            </a:r>
            <a:br>
              <a:rPr lang="en-US"/>
            </a:br>
            <a:r>
              <a:rPr lang="en-US">
                <a:highlight>
                  <a:srgbClr val="FFFF00"/>
                </a:highlight>
              </a:rPr>
              <a:t>[EIC-SEG-RSI-158]</a:t>
            </a:r>
            <a:endParaRPr lang="en-US">
              <a:cs typeface="Arial"/>
            </a:endParaRPr>
          </a:p>
          <a:p>
            <a:pPr lvl="1"/>
            <a:r>
              <a:rPr lang="en-US"/>
              <a:t>Networking &amp; Computing </a:t>
            </a:r>
            <a:r>
              <a:rPr lang="en-US">
                <a:highlight>
                  <a:srgbClr val="FFFF00"/>
                </a:highlight>
              </a:rPr>
              <a:t>[EIC-SEG-RSI-XXX]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F600938-2441-5E82-DE2F-CC5E2AB856D8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pc="-80">
                <a:solidFill>
                  <a:srgbClr val="FFFFFF"/>
                </a:solidFill>
                <a:latin typeface="Arial"/>
                <a:cs typeface="Arial"/>
              </a:rPr>
              <a:t> #1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62AA3E13-B9C2-8738-C39A-41A49F5A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8" y="888149"/>
            <a:ext cx="3688369" cy="4839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DF395F-1C59-5CDC-7AD2-81EBFA423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800" y="983292"/>
            <a:ext cx="4525071" cy="54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5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50FA-E282-E262-2587-0886907F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5BC6B7-6AFE-55AB-CF74-76DBAAE9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51" y="642348"/>
            <a:ext cx="8029738" cy="57433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1D311-0EFC-976A-AB42-85C89B265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8E4A02-8229-42F3-4978-05BBF047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Control System Architecture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B32E7-361E-753C-7DCB-777973DB9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3556578" cy="506571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Operator and application layer (Phoebus tools, web tools, HLAs)</a:t>
            </a:r>
            <a:br>
              <a:rPr lang="en-US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>
                <a:highlight>
                  <a:srgbClr val="FFFF00"/>
                </a:highlight>
                <a:latin typeface="Arial"/>
                <a:cs typeface="Arial"/>
              </a:rPr>
              <a:t>[EIC-ROD-069]</a:t>
            </a:r>
          </a:p>
          <a:p>
            <a:pPr>
              <a:lnSpc>
                <a:spcPct val="110000"/>
              </a:lnSpc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Middle-layer services (Archiver, Alarm, Olog, ChannelFinder, Save/Restore, Gateway)</a:t>
            </a:r>
          </a:p>
          <a:p>
            <a:pPr>
              <a:lnSpc>
                <a:spcPct val="110000"/>
              </a:lnSpc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Control system layer (EPICS 7 with PVA-first, CA compatibility)</a:t>
            </a:r>
          </a:p>
          <a:p>
            <a:pPr>
              <a:lnSpc>
                <a:spcPct val="110000"/>
              </a:lnSpc>
            </a:pPr>
            <a:endParaRPr lang="en-US"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65F6CC3-E4F8-2E8F-325D-C215EF7E85C7}"/>
              </a:ext>
            </a:extLst>
          </p:cNvPr>
          <p:cNvSpPr/>
          <p:nvPr/>
        </p:nvSpPr>
        <p:spPr>
          <a:xfrm>
            <a:off x="10462745" y="571938"/>
            <a:ext cx="1500299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pc="-80">
                <a:solidFill>
                  <a:srgbClr val="FFFFFF"/>
                </a:solidFill>
                <a:latin typeface="Arial"/>
                <a:cs typeface="Arial"/>
              </a:rPr>
              <a:t> #1-5</a:t>
            </a:r>
          </a:p>
          <a:p>
            <a:pPr algn="ctr"/>
            <a:endParaRPr lang="en-US" spc="-80">
              <a:solidFill>
                <a:srgbClr val="FFFFFF"/>
              </a:solidFill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38861-143F-4EBB-A8BC-B8FB9E2FA8E2}"/>
              </a:ext>
            </a:extLst>
          </p:cNvPr>
          <p:cNvSpPr/>
          <p:nvPr/>
        </p:nvSpPr>
        <p:spPr>
          <a:xfrm>
            <a:off x="460075" y="2694176"/>
            <a:ext cx="11501887" cy="3494225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6D5AD-F5E9-21C3-A8F4-8D1597DDB9B3}"/>
              </a:ext>
            </a:extLst>
          </p:cNvPr>
          <p:cNvSpPr/>
          <p:nvPr/>
        </p:nvSpPr>
        <p:spPr>
          <a:xfrm>
            <a:off x="4335124" y="6188224"/>
            <a:ext cx="7087862" cy="362591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70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76B914-66F5-8F6C-B73E-790DB62C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Phoebus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2873B-A68A-58F4-6375-8D5A91638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6717195" cy="489111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Rich client toolkit for control system applications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collection of tools for monitoring, operating, and troubleshooting large-scale control systems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Provides a unified desktop environment for operators, engineers, and developers 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Integrated application framework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Combines displays, alarms, archiving, logging, PV tools, and save/restore workflows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Enables applications to share data and operational context automatically 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Seamless cross-application workflows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PV names, values, timestamps, alarm states, archive sources, displays, and logbook entries can move from one tool to another </a:t>
            </a:r>
            <a:endParaRPr lang="en-US">
              <a:cs typeface="Arial"/>
            </a:endParaRP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Operators can move naturally from alarm investigation, to historical data, to device displays, to logbook documentation </a:t>
            </a:r>
            <a:endParaRPr lang="en-US">
              <a:cs typeface="Arial" panose="020B0604020202020204"/>
            </a:endParaRP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Consistent and extensible user experience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Shared UI patterns, menus, selections, and context handling reduce operator effort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Applications interoperate through well-defined interfaces without tight coupling 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Scalable, sustainable, and collaborative platform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Supports modern Java LTS releases, containerized deployment, CI/CD workflows, and microservice-based infrastructure </a:t>
            </a:r>
          </a:p>
          <a:p>
            <a:pPr lvl="1">
              <a:buFont typeface="Arial"/>
            </a:pPr>
            <a:r>
              <a:rPr lang="en-US">
                <a:ea typeface="+mn-lt"/>
                <a:cs typeface="+mn-lt"/>
              </a:rPr>
              <a:t>Developed collaboratively by facilities worldwide as an open ecosystem for control system tools</a:t>
            </a:r>
          </a:p>
          <a:p>
            <a:pPr marL="0" indent="0">
              <a:buNone/>
            </a:pPr>
            <a:endParaRPr lang="en-US" b="1">
              <a:ea typeface="Source Sans Pro"/>
              <a:cs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D55A5F-541B-D969-2DB5-54464A28B3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72840" y="970988"/>
            <a:ext cx="4791075" cy="30003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5DAE8C-3986-788E-2F2B-CA7140710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16BAF88-3AFD-A2B1-2BC4-A09C71699DAC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1-5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854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0A7485-7E02-63B4-1FB8-79316FDA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Display Builder</a:t>
            </a: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355EE9-D97B-32C8-6B16-5CBD133E04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2579" y="1018317"/>
            <a:ext cx="6379426" cy="419187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4FB66B-6C4D-724E-D8AB-C6FF18117B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92436" y="1931450"/>
            <a:ext cx="7167571" cy="41962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E9F0B6-FB5B-484D-9B17-AD41C06F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09B90-F4D2-B5F5-0D13-F73F2F38354B}"/>
              </a:ext>
            </a:extLst>
          </p:cNvPr>
          <p:cNvSpPr txBox="1"/>
          <p:nvPr/>
        </p:nvSpPr>
        <p:spPr>
          <a:xfrm>
            <a:off x="464633" y="5213194"/>
            <a:ext cx="3782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i="1">
                <a:cs typeface="Arial"/>
              </a:rPr>
              <a:t>editor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A589A-AC47-9A7F-EF18-3CB03BD5485B}"/>
              </a:ext>
            </a:extLst>
          </p:cNvPr>
          <p:cNvSpPr txBox="1"/>
          <p:nvPr/>
        </p:nvSpPr>
        <p:spPr>
          <a:xfrm>
            <a:off x="10686585" y="1533292"/>
            <a:ext cx="12730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i="1">
                <a:cs typeface="Arial"/>
              </a:rPr>
              <a:t>runtime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939489-2DA2-DEDF-B544-2D9C142FE3F9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320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71A9-F1EA-6ADA-B1BA-2F661A1E4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C682BC-8C03-391F-9EE7-5A97E8889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303E88-694E-BF8A-D3B2-77F59AA9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Display Builder - editor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0234D-1862-B533-A752-035DF4F48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3173607" cy="506571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>
                <a:cs typeface="Arial"/>
              </a:rPr>
              <a:t>WYSIWYG editor</a:t>
            </a:r>
          </a:p>
          <a:p>
            <a:r>
              <a:rPr lang="en-GB">
                <a:cs typeface="Arial"/>
              </a:rPr>
              <a:t>Large Pallet of widgets</a:t>
            </a:r>
          </a:p>
          <a:p>
            <a:r>
              <a:rPr lang="en-GB">
                <a:cs typeface="Arial"/>
              </a:rPr>
              <a:t>Control System Aware</a:t>
            </a:r>
          </a:p>
          <a:p>
            <a:r>
              <a:rPr lang="en-GB">
                <a:cs typeface="Arial"/>
              </a:rPr>
              <a:t>Advanced customization through properties and scripting</a:t>
            </a:r>
          </a:p>
          <a:p>
            <a:endParaRPr lang="en-GB">
              <a:cs typeface="Arial"/>
            </a:endParaRPr>
          </a:p>
          <a:p>
            <a:r>
              <a:rPr lang="en-GB">
                <a:cs typeface="Arial"/>
              </a:rPr>
              <a:t>Resuable widgets/groups/screens</a:t>
            </a:r>
          </a:p>
          <a:p>
            <a:r>
              <a:rPr lang="en-GB">
                <a:cs typeface="Arial"/>
              </a:rPr>
              <a:t>Simple file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8A3AD-0C5F-EAFF-1457-70572AB2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462" y="979609"/>
            <a:ext cx="8333910" cy="4892633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74679674-5755-6438-FC4B-A88FF77C5FE0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129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6BDD0E-AC77-B472-58FC-92BE4C2A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Display Builder - runtime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5125E-9F64-6F24-9142-9069BA5DF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3332285" cy="4891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Arial"/>
              </a:rPr>
              <a:t>Live process data with metadata, alarm awareness, units, and precision</a:t>
            </a:r>
          </a:p>
          <a:p>
            <a:endParaRPr lang="en-GB">
              <a:cs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17513D-B4C1-7A9C-E2BE-E6669E9A91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43317" y="971317"/>
            <a:ext cx="9316689" cy="531952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4E128-6BEC-BDAE-6CB7-C9EBA847D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11</a:t>
            </a:fld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0FDCD54-DCC2-DAAE-CA16-0F7E5DCFBFEE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616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FBD2-7E5E-6AEA-5045-D2082771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Web Runtime and Remote Operations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BBE13-07FB-38FE-5425-62401F47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4607892" cy="4891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ea typeface="Calibri"/>
                <a:cs typeface="Arial"/>
              </a:rPr>
              <a:t>Help support remote operations by bringing OPI screens to the web</a:t>
            </a:r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ea typeface="Calibri"/>
              <a:cs typeface="Arial"/>
            </a:endParaRPr>
          </a:p>
          <a:p>
            <a:r>
              <a:rPr lang="en-GB">
                <a:latin typeface="Arial"/>
                <a:ea typeface="Calibri"/>
                <a:cs typeface="Arial"/>
              </a:rPr>
              <a:t>.bob files converted to web runtime OPI’s</a:t>
            </a:r>
            <a:br>
              <a:rPr lang="en-GB">
                <a:latin typeface="Arial"/>
                <a:ea typeface="Calibri"/>
                <a:cs typeface="Arial"/>
              </a:rPr>
            </a:br>
            <a:r>
              <a:rPr lang="en-GB">
                <a:latin typeface="Arial"/>
                <a:ea typeface="Calibri"/>
                <a:cs typeface="Arial"/>
              </a:rPr>
              <a:t> </a:t>
            </a:r>
            <a:endParaRPr lang="en-GB"/>
          </a:p>
          <a:p>
            <a:endParaRPr lang="en-GB"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D3E8AD-4714-CB8C-68D3-0BBA1747EC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67445" y="977687"/>
            <a:ext cx="6892562" cy="544967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4978F-076D-689B-8D86-5F9351EB3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12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D1E2EEE-9E4B-5487-B992-98B7EA8EBD6E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4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1BE81A-0A7A-7F7C-FA70-2D162EE1A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19B4A-4610-B5BF-84D1-BADC530A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Screen creation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B38DC-EFB8-F1E2-A46F-A647DAD0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6" y="975711"/>
            <a:ext cx="11101755" cy="534662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48FF3615-8DF4-8B52-6B63-F5DE5CD119B4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23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D11B2F-1C35-2F0F-5DAE-5CDA51B3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>
                <a:ea typeface="+mn-lt"/>
                <a:cs typeface="+mn-lt"/>
              </a:rPr>
              <a:t>Data Browser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97AA1-2B68-C9D0-7F32-96284CA91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3121270" cy="48911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n-lt"/>
                <a:cs typeface="+mn-lt"/>
              </a:rPr>
              <a:t>Presents live and historical data in one plotting environment</a:t>
            </a:r>
          </a:p>
          <a:p>
            <a:pPr lvl="1"/>
            <a:r>
              <a:rPr lang="en-GB">
                <a:ea typeface="+mn-lt"/>
                <a:cs typeface="+mn-lt"/>
              </a:rPr>
              <a:t>Cross-channel correlation for diagnosis and post-mortem analysis</a:t>
            </a:r>
          </a:p>
          <a:p>
            <a:pPr lvl="1"/>
            <a:r>
              <a:rPr lang="en-GB">
                <a:cs typeface="Arial"/>
              </a:rPr>
              <a:t>Data export and inspection</a:t>
            </a:r>
          </a:p>
          <a:p>
            <a:pPr lvl="1"/>
            <a:r>
              <a:rPr lang="en-GB">
                <a:cs typeface="Arial"/>
              </a:rPr>
              <a:t>Optimized retrieval</a:t>
            </a:r>
          </a:p>
          <a:p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Workflow continuity with display, alarm, and logbook tools</a:t>
            </a:r>
          </a:p>
          <a:p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Supports multiple archive providers</a:t>
            </a:r>
          </a:p>
          <a:p>
            <a:endParaRPr lang="en-GB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6925F8-0532-EC15-F16F-58CB4B0CD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14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5B98EE0-F8B0-76C5-0FE9-3B1F15043B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41995" y="1187152"/>
            <a:ext cx="8508720" cy="4676968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28270E1E-C06F-7995-6235-8999DCF16F11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8422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7A19-0659-73BE-8EA1-42AAD4F1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Alarm Applications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9384-50B0-BB7B-17C1-20BEC9819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89602"/>
            <a:ext cx="3031978" cy="4876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Arial"/>
              </a:rPr>
              <a:t>Goals</a:t>
            </a:r>
          </a:p>
          <a:p>
            <a:pPr lvl="1"/>
            <a:r>
              <a:rPr lang="en-GB">
                <a:cs typeface="Arial"/>
              </a:rPr>
              <a:t>Support operator response quality and reduces troubleshooting latency during commissioning and operations</a:t>
            </a:r>
          </a:p>
          <a:p>
            <a:pPr lvl="1"/>
            <a:r>
              <a:rPr lang="en-GB">
                <a:ea typeface="+mn-lt"/>
                <a:cs typeface="+mn-lt"/>
              </a:rPr>
              <a:t>support configuration and  management of Alarm Server behavior (alarm hierarchy, limits, and annunciation rules)</a:t>
            </a:r>
            <a:endParaRPr lang="en-GB">
              <a:cs typeface="Arial"/>
            </a:endParaRPr>
          </a:p>
          <a:p>
            <a:pPr marL="0" indent="0">
              <a:buNone/>
            </a:pPr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173471-8956-8C51-F43D-95847742B0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42082" y="991688"/>
            <a:ext cx="8610802" cy="48798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DEBE-A7AB-3D70-4DA7-3FBCDECAE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15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BFDED7D-2DDC-6FD9-39DE-5C03426FF61F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135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AAD4C-C553-7B1C-796D-9F52CF56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93F6-4FEC-3BA1-606C-11C1157F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Alarm Applications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2B52-4D4B-49B0-C68C-53330F99BA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Arial"/>
              </a:rPr>
              <a:t>Alarm clients include </a:t>
            </a:r>
          </a:p>
          <a:p>
            <a:pPr lvl="1"/>
            <a:r>
              <a:rPr lang="en-GB">
                <a:cs typeface="Arial"/>
              </a:rPr>
              <a:t>Tree</a:t>
            </a:r>
          </a:p>
          <a:p>
            <a:pPr lvl="2"/>
            <a:r>
              <a:rPr lang="en-GB">
                <a:cs typeface="Arial"/>
              </a:rPr>
              <a:t>Organized hierarchical view of alarms</a:t>
            </a:r>
          </a:p>
          <a:p>
            <a:pPr lvl="1"/>
            <a:r>
              <a:rPr lang="en-GB">
                <a:cs typeface="Arial"/>
              </a:rPr>
              <a:t>Table</a:t>
            </a:r>
          </a:p>
          <a:p>
            <a:pPr lvl="2"/>
            <a:r>
              <a:rPr lang="en-GB">
                <a:ea typeface="+mn-lt"/>
                <a:cs typeface="+mn-lt"/>
              </a:rPr>
              <a:t>Fast detection of new, pending, and acknowledged alarms with severity and timestamp context</a:t>
            </a:r>
            <a:endParaRPr lang="en-GB">
              <a:cs typeface="Arial"/>
            </a:endParaRPr>
          </a:p>
          <a:p>
            <a:pPr lvl="1"/>
            <a:r>
              <a:rPr lang="en-GB">
                <a:cs typeface="Arial"/>
              </a:rPr>
              <a:t>Panel</a:t>
            </a:r>
          </a:p>
          <a:p>
            <a:pPr lvl="1"/>
            <a:r>
              <a:rPr lang="en-GB">
                <a:cs typeface="Arial"/>
              </a:rPr>
              <a:t>Annunciator</a:t>
            </a:r>
          </a:p>
          <a:p>
            <a:pPr lvl="1"/>
            <a:r>
              <a:rPr lang="en-GB">
                <a:cs typeface="Arial"/>
              </a:rPr>
              <a:t>Alarm history</a:t>
            </a:r>
          </a:p>
          <a:p>
            <a:pPr lvl="2"/>
            <a:r>
              <a:rPr lang="en-GB">
                <a:cs typeface="Arial"/>
              </a:rPr>
              <a:t>supports post-mortem review and alarm-quality tuning</a:t>
            </a:r>
          </a:p>
          <a:p>
            <a:endParaRPr lang="en-GB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B7B26-C664-9AAC-2217-423DD048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16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AD95CC-7E0A-D88C-5CFE-43020C39E2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0511" y="827972"/>
            <a:ext cx="5755084" cy="34909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9DDE88-2AAA-167B-E7F8-3928E55D7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9" r="2484" b="36176"/>
          <a:stretch>
            <a:fillRect/>
          </a:stretch>
        </p:blipFill>
        <p:spPr>
          <a:xfrm>
            <a:off x="6320008" y="4551170"/>
            <a:ext cx="5512504" cy="1762874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E817A6-A85E-D842-9B67-E6FC543E0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407" y="1944168"/>
            <a:ext cx="1398663" cy="3596356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40C72AB-D918-0473-B4D2-70F513149C8F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43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1030-842F-159F-8471-BA117E4D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Save and Restore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D32F-1A5D-7FDF-6E50-2B901058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2761359" cy="4891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Arial"/>
              </a:rPr>
              <a:t>Save &amp; Restore</a:t>
            </a:r>
          </a:p>
          <a:p>
            <a:pPr lvl="1"/>
            <a:r>
              <a:rPr lang="en-GB">
                <a:cs typeface="Arial"/>
              </a:rPr>
              <a:t>Organized representation of Configurations and Snapshots</a:t>
            </a:r>
          </a:p>
          <a:p>
            <a:pPr lvl="1"/>
            <a:r>
              <a:rPr lang="en-GB">
                <a:cs typeface="Arial"/>
              </a:rPr>
              <a:t>Interface to live, archived, and snapshot data</a:t>
            </a:r>
          </a:p>
          <a:p>
            <a:pPr lvl="1"/>
            <a:r>
              <a:rPr lang="en-GB">
                <a:cs typeface="Arial"/>
              </a:rPr>
              <a:t>Integration with logbook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41EE30-ACD0-6EF0-8F2C-7F62028993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12719" y="1257394"/>
            <a:ext cx="8650684" cy="460749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4DF04-228B-D267-C6DC-6885D7B83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17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7F06DB2-8ED3-AB28-C5A4-AB70F37B1BF6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436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A683E-1A65-340A-D284-71AEDDD2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Logbook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146BC-CBAB-D777-EF03-037982795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86403"/>
            <a:ext cx="4607891" cy="48800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Enable users to create and retrieve log entries which document EIC operations, observations, and events.</a:t>
            </a:r>
          </a:p>
          <a:p>
            <a:pPr lvl="1"/>
            <a:r>
              <a:rPr lang="en-US">
                <a:ea typeface="+mn-lt"/>
                <a:cs typeface="+mn-lt"/>
              </a:rPr>
              <a:t>Phoebus clients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Automatic context capture: Log entries are pre-populated from the active application state.</a:t>
            </a:r>
          </a:p>
          <a:p>
            <a:pPr lvl="1"/>
            <a:r>
              <a:rPr lang="en-US">
                <a:cs typeface="Arial"/>
              </a:rPr>
              <a:t>Web clients</a:t>
            </a:r>
            <a:br>
              <a:rPr lang="en-US">
                <a:cs typeface="Arial"/>
              </a:rPr>
            </a:br>
            <a:r>
              <a:rPr lang="en-US">
                <a:cs typeface="+mn-lt"/>
              </a:rPr>
              <a:t>Easy access for quick entry and 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A5B6F8-69CE-C564-1602-00C31189CE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67445" y="988188"/>
            <a:ext cx="6903605" cy="4876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62403A-91A7-3729-843B-EF54DB35D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18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105650A-521E-9A5E-8E4B-CFD6E003723A}"/>
              </a:ext>
            </a:extLst>
          </p:cNvPr>
          <p:cNvSpPr/>
          <p:nvPr/>
        </p:nvSpPr>
        <p:spPr>
          <a:xfrm>
            <a:off x="10426096" y="571938"/>
            <a:ext cx="15369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1,2,4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557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F323-6308-7A68-B3C4-73CC6A21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Applications Portfolio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A2B4A-72F5-C757-E270-B52026071F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cs typeface="Arial"/>
              </a:rPr>
              <a:t>Channel Finder Clients – fast PV search enriched with metadata (IOC host, record type, tags)</a:t>
            </a:r>
          </a:p>
          <a:p>
            <a:r>
              <a:rPr lang="en-GB">
                <a:cs typeface="Arial"/>
              </a:rPr>
              <a:t>PV Utilities –</a:t>
            </a:r>
            <a:endParaRPr lang="en-GB"/>
          </a:p>
          <a:p>
            <a:pPr lvl="1"/>
            <a:r>
              <a:rPr lang="en-GB">
                <a:cs typeface="Arial"/>
              </a:rPr>
              <a:t>Probe: detailed PV introspection</a:t>
            </a:r>
          </a:p>
          <a:p>
            <a:pPr lvl="1"/>
            <a:r>
              <a:rPr lang="en-GB">
                <a:cs typeface="Arial"/>
              </a:rPr>
              <a:t>PV Table: monitor/save groups of PVs</a:t>
            </a:r>
          </a:p>
          <a:p>
            <a:pPr lvl="1"/>
            <a:r>
              <a:rPr lang="en-GB">
                <a:cs typeface="Arial"/>
              </a:rPr>
              <a:t>PV Tree: visualize EPICS record linkages</a:t>
            </a:r>
          </a:p>
          <a:p>
            <a:endParaRPr lang="en-GB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3729E-E535-8598-6FFA-0FFC71B1D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19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0603EB-B5DC-1A85-8614-87F683C371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70602" y="2515319"/>
            <a:ext cx="3179010" cy="3804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1F8BC-D741-0FCE-AC82-1FAC7914E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935" y="1117232"/>
            <a:ext cx="3122083" cy="31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99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086384-30F7-F103-CC90-79E998A76D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66256" y="590941"/>
            <a:ext cx="6192528" cy="3310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466A8-CAE7-2187-CF44-F1DD6264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Commissioning tools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153C-FD0B-F80F-62FF-4B6B3D860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5806722" cy="52297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000">
                <a:solidFill>
                  <a:srgbClr val="000000"/>
                </a:solidFill>
                <a:latin typeface="Arial"/>
                <a:cs typeface="Arial"/>
              </a:rPr>
              <a:t>Tuning and Scans</a:t>
            </a:r>
          </a:p>
          <a:p>
            <a:pPr lvl="1"/>
            <a:r>
              <a:rPr lang="en-GB" sz="1800">
                <a:solidFill>
                  <a:srgbClr val="000000"/>
                </a:solidFill>
                <a:latin typeface="Arial"/>
                <a:cs typeface="Arial"/>
              </a:rPr>
              <a:t>Model-assisted scans, optimization loops, and scripted recovery/tuning workflows (HLA.1, HLA.2)</a:t>
            </a:r>
          </a:p>
          <a:p>
            <a:r>
              <a:rPr lang="en-GB" sz="2000">
                <a:solidFill>
                  <a:srgbClr val="000000"/>
                </a:solidFill>
                <a:latin typeface="Arial"/>
                <a:cs typeface="Arial"/>
              </a:rPr>
              <a:t>Beam Diagnostics and Optics Correction</a:t>
            </a:r>
          </a:p>
          <a:p>
            <a:pPr lvl="1"/>
            <a:r>
              <a:rPr lang="en-GB" sz="1800">
                <a:solidFill>
                  <a:srgbClr val="000000"/>
                </a:solidFill>
                <a:latin typeface="Arial"/>
                <a:cs typeface="Arial"/>
              </a:rPr>
              <a:t>Orbit, tune, trajectory, and optics correction using BPM and response-matrix methods</a:t>
            </a:r>
          </a:p>
          <a:p>
            <a:r>
              <a:rPr lang="en-GB" sz="2000">
                <a:solidFill>
                  <a:srgbClr val="000000"/>
                </a:solidFill>
                <a:latin typeface="Arial"/>
                <a:cs typeface="Arial"/>
              </a:rPr>
              <a:t>Model-Based Commissioning</a:t>
            </a:r>
          </a:p>
          <a:p>
            <a:pPr lvl="1"/>
            <a:r>
              <a:rPr lang="en-GB" sz="1800">
                <a:solidFill>
                  <a:srgbClr val="000000"/>
                </a:solidFill>
                <a:latin typeface="Arial"/>
                <a:cs typeface="Arial"/>
              </a:rPr>
              <a:t>Online model integration (virtual accelerator / digital twin style) to reduce machine time and risk (HLA.4)</a:t>
            </a:r>
            <a:endParaRPr lang="en-GB" sz="1800">
              <a:cs typeface="Arial"/>
            </a:endParaRPr>
          </a:p>
          <a:p>
            <a:r>
              <a:rPr lang="en-GB" sz="2000">
                <a:solidFill>
                  <a:srgbClr val="000000"/>
                </a:solidFill>
                <a:latin typeface="Arial"/>
                <a:cs typeface="Arial"/>
              </a:rPr>
              <a:t>Commissioning tools infrastructure</a:t>
            </a:r>
          </a:p>
          <a:p>
            <a:pPr lvl="1"/>
            <a:r>
              <a:rPr lang="en-GB" sz="1800">
                <a:solidFill>
                  <a:srgbClr val="000000"/>
                </a:solidFill>
                <a:latin typeface="Arial"/>
                <a:cs typeface="Arial"/>
              </a:rPr>
              <a:t>Infrastructure/framework needed to build and integrate these tools</a:t>
            </a:r>
          </a:p>
          <a:p>
            <a:pPr lvl="1"/>
            <a:r>
              <a:rPr lang="en-GB" sz="1800">
                <a:solidFill>
                  <a:srgbClr val="000000"/>
                </a:solidFill>
                <a:latin typeface="Arial"/>
                <a:cs typeface="Arial"/>
              </a:rPr>
              <a:t>Python and Java client libraries are in development for controls-system and middle-layer service access</a:t>
            </a:r>
            <a:endParaRPr lang="en-GB" sz="1800">
              <a:cs typeface="Arial"/>
            </a:endParaRPr>
          </a:p>
          <a:p>
            <a:endParaRPr lang="en-GB" sz="200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D132D-C865-8B43-DE66-D3699CAB5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7601B-3684-FB86-0938-E8C55B08A066}"/>
              </a:ext>
            </a:extLst>
          </p:cNvPr>
          <p:cNvSpPr txBox="1"/>
          <p:nvPr/>
        </p:nvSpPr>
        <p:spPr>
          <a:xfrm>
            <a:off x="8960555" y="3809999"/>
            <a:ext cx="29986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Greg White, Murali Shankar SLAC; Ivo List, ESS</a:t>
            </a:r>
            <a:endParaRPr lang="en-US" sz="1000">
              <a:cs typeface="Arial"/>
            </a:endParaRPr>
          </a:p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AC305C-BB6E-8E85-491C-229BC89C8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465" y="3810000"/>
            <a:ext cx="3727788" cy="26881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5D880E-4B2A-4FBD-2035-37E351ECD127}"/>
              </a:ext>
            </a:extLst>
          </p:cNvPr>
          <p:cNvSpPr txBox="1"/>
          <p:nvPr/>
        </p:nvSpPr>
        <p:spPr>
          <a:xfrm>
            <a:off x="9348610" y="4564943"/>
            <a:ext cx="2843391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0" algn="l" rtl="0"/>
            <a:r>
              <a:rPr lang="en-US" sz="1000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corrector = Corrector(deviceName=`FM1G4C02A`)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channels = cf.find(deviceName=‘FM1G4CO2A’)</a:t>
            </a:r>
          </a:p>
          <a:p>
            <a:pPr marL="347345" indent="0" algn="l" rtl="0"/>
            <a:endParaRPr lang="en-US" sz="600">
              <a:cs typeface="Arial"/>
            </a:endParaRPr>
          </a:p>
          <a:p>
            <a:pPr marL="347345" indent="0" algn="l" rtl="0"/>
            <a:r>
              <a:rPr lang="en-US" sz="1000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xPos, yPos = corrector.getPositions()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xPosPv = cf.find([(deviceName,‘FM1G4CO2A’), (</a:t>
            </a:r>
            <a:r>
              <a:rPr lang="en-US" sz="700" b="0" i="0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elemField, ‘x’</a:t>
            </a:r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)])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yPosPv = cf.find([(deviceName,‘FM1G4CO2A’), (</a:t>
            </a:r>
            <a:r>
              <a:rPr lang="en-US" sz="700" b="0" i="0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elemField, ‘y’</a:t>
            </a:r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)])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caget(xPosPv ) and caget(yPosPv )</a:t>
            </a:r>
          </a:p>
          <a:p>
            <a:pPr marL="347345" indent="0" algn="l" rtl="0"/>
            <a:endParaRPr lang="en-US" sz="600">
              <a:cs typeface="Arial"/>
            </a:endParaRPr>
          </a:p>
          <a:p>
            <a:pPr marL="347345" indent="0" algn="l" rtl="0"/>
            <a:r>
              <a:rPr lang="en-US" sz="1000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corrector.setPositions(xPos=1.23, yPos=3.21)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caput(‘SR:C02-MG:G04A{HFCor:FM1} Fld-SP’, 1.23) </a:t>
            </a:r>
          </a:p>
          <a:p>
            <a:pPr marL="347345" indent="0" algn="l" rtl="0"/>
            <a:r>
              <a:rPr lang="en-US" sz="700" b="0" i="1">
                <a:solidFill>
                  <a:srgbClr val="595959"/>
                </a:solidFill>
                <a:latin typeface="Helvetica Neue"/>
                <a:ea typeface="Helvetica Neue"/>
                <a:cs typeface="Helvetica Neue"/>
              </a:rPr>
              <a:t>&gt;&gt; caput(‘SR:C02-MG:G04A{VFCor:FM1} Fld-SP’, 3.21)</a:t>
            </a:r>
          </a:p>
          <a:p>
            <a:pPr algn="ctr"/>
            <a:endParaRPr lang="en-GB" sz="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4611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A568EF-C594-06B0-6549-30D332AF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Phoebus Architecture 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9535F-18AC-B8D3-9E63-D90F66E646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600">
                <a:latin typeface="Calibri"/>
                <a:ea typeface="Calibri"/>
                <a:cs typeface="Calibri"/>
              </a:rPr>
              <a:t>Modular framework 🡪 built on </a:t>
            </a:r>
            <a:r>
              <a:rPr lang="en-US" sz="2600" b="1">
                <a:latin typeface="Calibri"/>
                <a:ea typeface="Calibri"/>
                <a:cs typeface="Calibri"/>
              </a:rPr>
              <a:t>Java + JavaFX</a:t>
            </a:r>
            <a:r>
              <a:rPr lang="en-US" sz="2600">
                <a:latin typeface="Calibri"/>
                <a:ea typeface="Calibri"/>
                <a:cs typeface="Calibri"/>
              </a:rPr>
              <a:t> (no Eclipse RCP)</a:t>
            </a:r>
            <a:endParaRPr lang="en-US">
              <a:cs typeface="Arial"/>
            </a:endParaRPr>
          </a:p>
          <a:p>
            <a:pPr lvl="1"/>
            <a:r>
              <a:rPr lang="en-US" sz="2200" b="1">
                <a:latin typeface="Calibri"/>
                <a:ea typeface="Calibri"/>
                <a:cs typeface="Calibri"/>
              </a:rPr>
              <a:t>Core modules</a:t>
            </a:r>
            <a:r>
              <a:rPr lang="en-US" sz="2200">
                <a:latin typeface="Calibri"/>
                <a:ea typeface="Calibri"/>
                <a:cs typeface="Calibri"/>
              </a:rPr>
              <a:t>: PV access, VTypes, adapters, logging, jobs</a:t>
            </a:r>
            <a:endParaRPr lang="en-US" sz="2200">
              <a:cs typeface="Arial"/>
            </a:endParaRPr>
          </a:p>
          <a:p>
            <a:pPr lvl="1"/>
            <a:r>
              <a:rPr lang="en-US" sz="2200" b="1">
                <a:latin typeface="Calibri"/>
                <a:ea typeface="Calibri"/>
                <a:cs typeface="Calibri"/>
              </a:rPr>
              <a:t>Core-UI modules</a:t>
            </a:r>
            <a:r>
              <a:rPr lang="en-US" sz="2200">
                <a:latin typeface="Calibri"/>
                <a:ea typeface="Calibri"/>
                <a:cs typeface="Calibri"/>
              </a:rPr>
              <a:t>: docking, menus, selection services</a:t>
            </a:r>
            <a:endParaRPr lang="en-US" sz="2200">
              <a:cs typeface="Arial"/>
            </a:endParaRPr>
          </a:p>
          <a:p>
            <a:pPr lvl="1"/>
            <a:r>
              <a:rPr lang="en-US" sz="2200" b="1">
                <a:latin typeface="Calibri"/>
                <a:ea typeface="Calibri"/>
                <a:cs typeface="Calibri"/>
              </a:rPr>
              <a:t>Applications</a:t>
            </a:r>
            <a:r>
              <a:rPr lang="en-US" sz="2200">
                <a:latin typeface="Calibri"/>
                <a:ea typeface="Calibri"/>
                <a:cs typeface="Calibri"/>
              </a:rPr>
              <a:t>: operator-facing tools (Display Builder, Data Browser, etc.)</a:t>
            </a:r>
            <a:endParaRPr lang="en-US" sz="2200">
              <a:cs typeface="Arial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Jobs &amp; scheduling</a:t>
            </a:r>
            <a:r>
              <a:rPr lang="en-US">
                <a:latin typeface="Calibri"/>
                <a:ea typeface="Calibri"/>
                <a:cs typeface="Calibri"/>
              </a:rPr>
              <a:t> – run tasks off the UI thread for responsiveness</a:t>
            </a:r>
            <a:endParaRPr lang="en-US">
              <a:cs typeface="Arial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Connection management</a:t>
            </a:r>
            <a:r>
              <a:rPr lang="en-US">
                <a:latin typeface="Calibri"/>
                <a:ea typeface="Calibri"/>
                <a:cs typeface="Calibri"/>
              </a:rPr>
              <a:t> – pooled, reusable PV and REST clients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VTypes </a:t>
            </a:r>
            <a:r>
              <a:rPr lang="en-US">
                <a:latin typeface="Calibri"/>
                <a:ea typeface="Calibri"/>
                <a:cs typeface="Calibri"/>
              </a:rPr>
              <a:t>– canonical value model</a:t>
            </a:r>
            <a:endParaRPr lang="en-US"/>
          </a:p>
          <a:p>
            <a:pPr lvl="1"/>
            <a:r>
              <a:rPr lang="en-US" sz="1600">
                <a:latin typeface="Calibri"/>
                <a:ea typeface="Calibri"/>
                <a:cs typeface="Calibri"/>
              </a:rPr>
              <a:t>Protocol-agnostic, not tied to memory layout</a:t>
            </a:r>
            <a:endParaRPr lang="en-US" sz="1600">
              <a:cs typeface="Arial"/>
            </a:endParaRPr>
          </a:p>
          <a:p>
            <a:pPr lvl="1"/>
            <a:r>
              <a:rPr lang="en-US" sz="1600">
                <a:latin typeface="Calibri"/>
                <a:ea typeface="Calibri"/>
                <a:cs typeface="Calibri"/>
              </a:rPr>
              <a:t>Immutable and safe to share</a:t>
            </a:r>
            <a:endParaRPr lang="en-US">
              <a:cs typeface="Arial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Formula functions</a:t>
            </a:r>
            <a:r>
              <a:rPr lang="en-US">
                <a:latin typeface="Calibri"/>
                <a:ea typeface="Calibri"/>
                <a:cs typeface="Calibri"/>
              </a:rPr>
              <a:t> – efficient, thread-safe data processing pipelines</a:t>
            </a:r>
            <a:endParaRPr lang="en-US"/>
          </a:p>
          <a:p>
            <a:endParaRPr lang="en-US">
              <a:cs typeface="Arial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7BDD69-B371-3CD7-5DC3-66EEBB49D3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71050" y="1053697"/>
            <a:ext cx="5192550" cy="48911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F4AA1D-1F04-431A-3975-95B94BFC7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21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0705EAF-30E5-5B12-E52E-57E4B64ACC39}"/>
              </a:ext>
            </a:extLst>
          </p:cNvPr>
          <p:cNvSpPr/>
          <p:nvPr/>
        </p:nvSpPr>
        <p:spPr>
          <a:xfrm>
            <a:off x="10387996" y="571938"/>
            <a:ext cx="15750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2,4,5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8817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6D71B7-8259-A3DE-C88D-45782DD5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Phoebus Architecture - </a:t>
            </a:r>
            <a:r>
              <a:rPr lang="en-US">
                <a:latin typeface="Arial"/>
                <a:ea typeface="Calibri"/>
                <a:cs typeface="Arial"/>
              </a:rPr>
              <a:t>Extensibility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4006B-B4CD-9E64-3DE9-D7C2DE76B7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Extensible via Java SPI (Service Provider Interface)</a:t>
            </a:r>
          </a:p>
          <a:p>
            <a:pPr lvl="1"/>
            <a:r>
              <a:rPr lang="en-US">
                <a:cs typeface="Arial"/>
              </a:rPr>
              <a:t>New data sources &amp; protocols (CA, PVA, MQTT, Tango, …)</a:t>
            </a:r>
          </a:p>
          <a:p>
            <a:pPr lvl="1"/>
            <a:r>
              <a:rPr lang="en-US">
                <a:cs typeface="Arial"/>
              </a:rPr>
              <a:t>Clients for middle-layer services (Olog, elog, …)</a:t>
            </a:r>
          </a:p>
          <a:p>
            <a:r>
              <a:rPr lang="en-US">
                <a:cs typeface="Arial"/>
              </a:rPr>
              <a:t>New applications</a:t>
            </a:r>
            <a:endParaRPr lang="en-US"/>
          </a:p>
          <a:p>
            <a:r>
              <a:rPr lang="en-US">
                <a:cs typeface="Arial"/>
              </a:rPr>
              <a:t>UI extensions (menus, toolbars, context menus)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1E0A8-A4E6-CB39-31C9-AB7CEEC4E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22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EDA3598-6A1C-8668-F835-A2907382F2DD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99B06E1-CEF9-DCD8-6EAC-CA60D5D7E3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07214" y="3103297"/>
            <a:ext cx="2775514" cy="21449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DD614E-174A-E241-CDBA-564922A97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36" y="3101944"/>
            <a:ext cx="2796178" cy="3338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CB9D6D-C851-246F-492F-2F8667015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229" y="893348"/>
            <a:ext cx="3557544" cy="2137250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C7AAF834-757B-2D57-5BCC-E1BF50B41C32}"/>
              </a:ext>
            </a:extLst>
          </p:cNvPr>
          <p:cNvSpPr/>
          <p:nvPr/>
        </p:nvSpPr>
        <p:spPr>
          <a:xfrm>
            <a:off x="10387996" y="571938"/>
            <a:ext cx="15750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2,4,5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803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D07E-D56A-3028-8073-BB7578A0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9B4FF2-9642-D443-D18E-95EC12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Phoebus Architecture – eic product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AAEC5-73A7-C271-8BF4-8ABECEB16E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EIC phoebus product includes site specific</a:t>
            </a:r>
          </a:p>
          <a:p>
            <a:pPr lvl="1"/>
            <a:r>
              <a:rPr lang="en-US">
                <a:cs typeface="Arial"/>
              </a:rPr>
              <a:t>Applications</a:t>
            </a:r>
          </a:p>
          <a:p>
            <a:pPr lvl="1"/>
            <a:r>
              <a:rPr lang="en-US">
                <a:cs typeface="Arial"/>
              </a:rPr>
              <a:t>Datasources</a:t>
            </a:r>
          </a:p>
          <a:p>
            <a:pPr lvl="1"/>
            <a:r>
              <a:rPr lang="en-US">
                <a:cs typeface="Arial"/>
              </a:rPr>
              <a:t>Configurations</a:t>
            </a:r>
          </a:p>
          <a:p>
            <a:pPr lvl="1"/>
            <a:r>
              <a:rPr lang="en-US">
                <a:cs typeface="Arial"/>
              </a:rPr>
              <a:t>Branding </a:t>
            </a:r>
          </a:p>
          <a:p>
            <a:pPr lvl="1"/>
            <a:r>
              <a:rPr lang="en-US">
                <a:latin typeface="Arial"/>
                <a:ea typeface="Calibri"/>
                <a:cs typeface="Arial"/>
              </a:rPr>
              <a:t>Adapters</a:t>
            </a:r>
          </a:p>
          <a:p>
            <a:pPr lvl="1"/>
            <a:endParaRPr lang="en-US">
              <a:latin typeface="Arial"/>
              <a:ea typeface="Calibri"/>
              <a:cs typeface="Arial"/>
            </a:endParaRPr>
          </a:p>
          <a:p>
            <a:r>
              <a:rPr lang="en-US">
                <a:latin typeface="Arial"/>
                <a:ea typeface="Calibri"/>
                <a:cs typeface="Arial"/>
              </a:rPr>
              <a:t>Address the needs of a particular organization or workflow.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3C3A4A-CB95-C039-D693-8837A9DDE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23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FBE84AF-11C7-4A5E-8E36-422830FE9D93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02DA5E-C981-B06F-561A-7D4BBB2B87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7635" y="975360"/>
            <a:ext cx="5329659" cy="4891110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4EA9298A-C98C-A748-FA44-47B929AF0BBB}"/>
              </a:ext>
            </a:extLst>
          </p:cNvPr>
          <p:cNvSpPr/>
          <p:nvPr/>
        </p:nvSpPr>
        <p:spPr>
          <a:xfrm>
            <a:off x="10387996" y="571938"/>
            <a:ext cx="15750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2,4,5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7932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E0BCE-6914-A5FF-B794-796E22411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41C2E-041D-1E7C-94E8-8074F694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Phoebus Collaboration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6BBB2-4BE3-322B-5A69-2913F27CBF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2792205"/>
            <a:ext cx="4884808" cy="32545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latin typeface="Calibri"/>
                <a:ea typeface="Calibri"/>
                <a:cs typeface="Calibri"/>
              </a:rPr>
              <a:t>An international collaboration of dozens of research facilites</a:t>
            </a:r>
          </a:p>
          <a:p>
            <a:r>
              <a:rPr lang="en-US" sz="2600">
                <a:latin typeface="Calibri"/>
                <a:ea typeface="Calibri"/>
                <a:cs typeface="Calibri"/>
              </a:rPr>
              <a:t>Phoebus</a:t>
            </a:r>
            <a:endParaRPr lang="en-US">
              <a:cs typeface="Arial" panose="020B0604020202020204"/>
            </a:endParaRPr>
          </a:p>
          <a:p>
            <a:pPr lvl="1"/>
            <a:r>
              <a:rPr lang="en-US" sz="1800">
                <a:latin typeface="Calibri"/>
                <a:ea typeface="Calibri"/>
                <a:cs typeface="Calibri"/>
              </a:rPr>
              <a:t>~300 PR’s</a:t>
            </a:r>
            <a:endParaRPr lang="en-US">
              <a:cs typeface="Arial"/>
            </a:endParaRPr>
          </a:p>
          <a:p>
            <a:pPr lvl="1"/>
            <a:r>
              <a:rPr lang="en-US" sz="1800">
                <a:latin typeface="Calibri"/>
                <a:ea typeface="Calibri"/>
                <a:cs typeface="Calibri"/>
              </a:rPr>
              <a:t>~100 Issue</a:t>
            </a:r>
            <a:endParaRPr lang="en-US" sz="1800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5A669C9-8AAC-68DC-DC3C-79B3522D20EF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532E0-E785-76D0-7984-E6A70390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870" y="890243"/>
            <a:ext cx="5239303" cy="3520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034FF-CF2D-F735-2A24-7ABB42F19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42" y="895281"/>
            <a:ext cx="4876386" cy="1897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C1E7F1-664E-72B8-3FEC-37154BA8C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904" y="3431347"/>
            <a:ext cx="4485584" cy="24690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6EBEE8-83BC-BCF5-C7AA-063E476E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823" y="3884267"/>
            <a:ext cx="4204529" cy="2623380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75ADDB9C-0D9A-1A32-6AEA-B25EAEC6D5E0}"/>
              </a:ext>
            </a:extLst>
          </p:cNvPr>
          <p:cNvSpPr/>
          <p:nvPr/>
        </p:nvSpPr>
        <p:spPr>
          <a:xfrm>
            <a:off x="10387996" y="571938"/>
            <a:ext cx="157504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2,5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5365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5BE3CA-01E9-0D80-2840-56191736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Risks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0DF74-007F-7BAD-8F46-CF38726BF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4795631" cy="4891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latin typeface="Arial"/>
                <a:cs typeface="Arial"/>
              </a:rPr>
              <a:t>Risk RT-6-007-001</a:t>
            </a:r>
          </a:p>
          <a:p>
            <a:pPr lvl="1"/>
            <a:r>
              <a:rPr lang="en-US">
                <a:ea typeface="+mn-lt"/>
                <a:cs typeface="+mn-lt"/>
              </a:rPr>
              <a:t>Mitigation: modular, extensible framework enables targeted upgrades with minimized disruption</a:t>
            </a:r>
          </a:p>
          <a:p>
            <a:pPr lvl="1"/>
            <a:r>
              <a:rPr lang="en-US">
                <a:ea typeface="+mn-lt"/>
                <a:cs typeface="+mn-lt"/>
              </a:rPr>
              <a:t>Mitigation: multi-lab collaboration spreads maintenance risk and improves response speed to technology changes</a:t>
            </a:r>
            <a:endParaRPr lang="en-US">
              <a:cs typeface="Arial" panose="020B0604020202020204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CF0EF1-4B05-630C-89BC-D06853BBB9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55185" y="2545107"/>
            <a:ext cx="6627518" cy="36179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A81CC3-E965-6262-69C7-9D41E7D86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25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03D13C4-C3E2-847E-E5C9-1B6F5B1D19A5}"/>
              </a:ext>
            </a:extLst>
          </p:cNvPr>
          <p:cNvSpPr/>
          <p:nvPr/>
        </p:nvSpPr>
        <p:spPr>
          <a:xfrm>
            <a:off x="10662316" y="571938"/>
            <a:ext cx="1300728" cy="318021"/>
          </a:xfrm>
          <a:custGeom>
            <a:avLst/>
            <a:gdLst/>
            <a:ahLst/>
            <a:cxnLst/>
            <a:rect l="l" t="t" r="r" b="b"/>
            <a:pathLst>
              <a:path w="1466850" h="361950">
                <a:moveTo>
                  <a:pt x="1406525" y="0"/>
                </a:moveTo>
                <a:lnTo>
                  <a:pt x="60325" y="0"/>
                </a:lnTo>
                <a:lnTo>
                  <a:pt x="36861" y="4746"/>
                </a:lnTo>
                <a:lnTo>
                  <a:pt x="17684" y="17684"/>
                </a:lnTo>
                <a:lnTo>
                  <a:pt x="4746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6" y="325088"/>
                </a:lnTo>
                <a:lnTo>
                  <a:pt x="17684" y="344265"/>
                </a:lnTo>
                <a:lnTo>
                  <a:pt x="36861" y="357203"/>
                </a:lnTo>
                <a:lnTo>
                  <a:pt x="60325" y="361950"/>
                </a:lnTo>
                <a:lnTo>
                  <a:pt x="1406525" y="361950"/>
                </a:lnTo>
                <a:lnTo>
                  <a:pt x="1429988" y="357203"/>
                </a:lnTo>
                <a:lnTo>
                  <a:pt x="1449165" y="344265"/>
                </a:lnTo>
                <a:lnTo>
                  <a:pt x="1462103" y="325088"/>
                </a:lnTo>
                <a:lnTo>
                  <a:pt x="1466850" y="301625"/>
                </a:lnTo>
                <a:lnTo>
                  <a:pt x="1466850" y="60325"/>
                </a:lnTo>
                <a:lnTo>
                  <a:pt x="1462103" y="36861"/>
                </a:lnTo>
                <a:lnTo>
                  <a:pt x="1449165" y="17684"/>
                </a:lnTo>
                <a:lnTo>
                  <a:pt x="1429988" y="4746"/>
                </a:lnTo>
                <a:lnTo>
                  <a:pt x="140652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spc="-10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lang="en-US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strike="sngStrike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9603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AC7D70-6257-504C-9E5D-09F8C854F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3A556B-7C63-244D-9B7C-B0EA8042B33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7E51D4-A091-99CA-E970-B9FEA68D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7ACF0-8722-2073-9682-EAAB92E5E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99850" cy="5335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Phoebus is the primary application environment for EIC operator workflows, with integrated tools for control, diagnostics, and documentation</a:t>
            </a:r>
            <a:endParaRPr lang="en-US">
              <a:cs typeface="Arial"/>
            </a:endParaRPr>
          </a:p>
          <a:p>
            <a:pPr lvl="1"/>
            <a:r>
              <a:rPr lang="en-US">
                <a:ea typeface="+mn-lt"/>
                <a:cs typeface="+mn-lt"/>
              </a:rPr>
              <a:t>Display Builder, Web Runtime, and Data Browser provide a practical path from screen creation to remote operations and post-event analysis</a:t>
            </a:r>
            <a:endParaRPr lang="en-US">
              <a:cs typeface="Arial"/>
            </a:endParaRPr>
          </a:p>
          <a:p>
            <a:pPr lvl="1"/>
            <a:r>
              <a:rPr lang="en-US">
                <a:ea typeface="+mn-lt"/>
                <a:cs typeface="+mn-lt"/>
              </a:rPr>
              <a:t>Alarm, Save/Restore, and Logbook workflows improve operational response quality, repeatability, and traceability</a:t>
            </a:r>
          </a:p>
          <a:p>
            <a:pPr lvl="1"/>
            <a:r>
              <a:rPr lang="en-US">
                <a:ea typeface="+mn-lt"/>
                <a:cs typeface="+mn-lt"/>
              </a:rPr>
              <a:t>PV utilities strengthen day-to-day usability through fast discovery, metadata context, and diagnostics support</a:t>
            </a:r>
            <a:endParaRPr lang="en-US">
              <a:cs typeface="Arial" panose="020B0604020202020204"/>
            </a:endParaRPr>
          </a:p>
          <a:p>
            <a:r>
              <a:rPr lang="en-US">
                <a:ea typeface="+mn-lt"/>
                <a:cs typeface="+mn-lt"/>
              </a:rPr>
              <a:t>A modular Java/JavaFX architecture with SPI extensibility supports long-term maintainability and site-specific product composition</a:t>
            </a:r>
          </a:p>
          <a:p>
            <a:r>
              <a:rPr lang="en-US">
                <a:ea typeface="+mn-lt"/>
                <a:cs typeface="+mn-lt"/>
              </a:rPr>
              <a:t>Active multi-lab collaboration and targeted risk mitigations position the applications stack for final-design progression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2004"/>
      </p:ext>
    </p:extLst>
  </p:cSld>
  <p:clrMapOvr>
    <a:masterClrMapping/>
  </p:clrMapOvr>
</p:sld>
</file>

<file path=ppt/theme/theme1.xml><?xml version="1.0" encoding="utf-8"?>
<a:theme xmlns:a="http://schemas.openxmlformats.org/drawingml/2006/main" name="BNL">
  <a:themeElements>
    <a:clrScheme name="BNL_NSLS-II">
      <a:dk1>
        <a:srgbClr val="000000"/>
      </a:dk1>
      <a:lt1>
        <a:srgbClr val="FFFFFF"/>
      </a:lt1>
      <a:dk2>
        <a:srgbClr val="105B78"/>
      </a:dk2>
      <a:lt2>
        <a:srgbClr val="00ACDB"/>
      </a:lt2>
      <a:accent1>
        <a:srgbClr val="B2D33A"/>
      </a:accent1>
      <a:accent2>
        <a:srgbClr val="F68A1F"/>
      </a:accent2>
      <a:accent3>
        <a:srgbClr val="B62466"/>
      </a:accent3>
      <a:accent4>
        <a:srgbClr val="FFCC33"/>
      </a:accent4>
      <a:accent5>
        <a:srgbClr val="DA3525"/>
      </a:accent5>
      <a:accent6>
        <a:srgbClr val="50489D"/>
      </a:accent6>
      <a:hlink>
        <a:srgbClr val="4881C3"/>
      </a:hlink>
      <a:folHlink>
        <a:srgbClr val="24B57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.pptx" id="{DB6D734E-BB37-674B-901B-2399B35085C7}" vid="{99678696-B00B-AA46-9759-1FE8045A2629}"/>
    </a:ext>
  </a:extLst>
</a:theme>
</file>

<file path=ppt/theme/theme2.xml><?xml version="1.0" encoding="utf-8"?>
<a:theme xmlns:a="http://schemas.openxmlformats.org/drawingml/2006/main" name="1_BNL">
  <a:themeElements>
    <a:clrScheme name="BNL_NSLS-II">
      <a:dk1>
        <a:srgbClr val="000000"/>
      </a:dk1>
      <a:lt1>
        <a:srgbClr val="FFFFFF"/>
      </a:lt1>
      <a:dk2>
        <a:srgbClr val="105B78"/>
      </a:dk2>
      <a:lt2>
        <a:srgbClr val="00ACDB"/>
      </a:lt2>
      <a:accent1>
        <a:srgbClr val="B2D33A"/>
      </a:accent1>
      <a:accent2>
        <a:srgbClr val="F68A1F"/>
      </a:accent2>
      <a:accent3>
        <a:srgbClr val="B62466"/>
      </a:accent3>
      <a:accent4>
        <a:srgbClr val="FFCC33"/>
      </a:accent4>
      <a:accent5>
        <a:srgbClr val="DA3525"/>
      </a:accent5>
      <a:accent6>
        <a:srgbClr val="50489D"/>
      </a:accent6>
      <a:hlink>
        <a:srgbClr val="4881C3"/>
      </a:hlink>
      <a:folHlink>
        <a:srgbClr val="24B57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0B03456-9B8D-484F-87DB-076ADB43E9F3}" vid="{D3F09972-1605-9348-86B6-2FB56E667A3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senter xmlns="3d20bb5b-8f2d-40ba-9a11-048b4f05bd17">
      <UserInfo>
        <DisplayName/>
        <AccountId xsi:nil="true"/>
        <AccountType/>
      </UserInfo>
    </Presenter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Review Presentation" ma:contentTypeID="0x010100334C119A7B7AAD4B8531CC12C18B34A1020028F255E0DCC10B47BE594092C2246F45" ma:contentTypeVersion="" ma:contentTypeDescription="" ma:contentTypeScope="" ma:versionID="1b1771e368daafdc353345dbee73caa1">
  <xsd:schema xmlns:xsd="http://www.w3.org/2001/XMLSchema" xmlns:xs="http://www.w3.org/2001/XMLSchema" xmlns:p="http://schemas.microsoft.com/office/2006/metadata/properties" xmlns:ns2="3d20bb5b-8f2d-40ba-9a11-048b4f05bd17" targetNamespace="http://schemas.microsoft.com/office/2006/metadata/properties" ma:root="true" ma:fieldsID="282579a5cdabafc5245d86af0e16d00e" ns2:_="">
    <xsd:import namespace="3d20bb5b-8f2d-40ba-9a11-048b4f05bd17"/>
    <xsd:element name="properties">
      <xsd:complexType>
        <xsd:sequence>
          <xsd:element name="documentManagement">
            <xsd:complexType>
              <xsd:all>
                <xsd:element ref="ns2:Present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0bb5b-8f2d-40ba-9a11-048b4f05bd17" elementFormDefault="qualified">
    <xsd:import namespace="http://schemas.microsoft.com/office/2006/documentManagement/types"/>
    <xsd:import namespace="http://schemas.microsoft.com/office/infopath/2007/PartnerControls"/>
    <xsd:element name="Presenter" ma:index="8" nillable="true" ma:displayName="Presenter" ma:list="UserInfo" ma:internalName="Present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209D19-ECD3-440E-A44C-BD3D2F266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5637A3-DEB1-4C7D-9F81-D2184D65C3B4}">
  <ds:schemaRefs>
    <ds:schemaRef ds:uri="E006D8A9-0A03-48B7-A952-162888A85472"/>
    <ds:schemaRef ds:uri="e006d8a9-0a03-48b7-a952-162888a854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d20bb5b-8f2d-40ba-9a11-048b4f05bd17"/>
  </ds:schemaRefs>
</ds:datastoreItem>
</file>

<file path=customXml/itemProps3.xml><?xml version="1.0" encoding="utf-8"?>
<ds:datastoreItem xmlns:ds="http://schemas.openxmlformats.org/officeDocument/2006/customXml" ds:itemID="{AB00340F-34EE-42F8-8DDD-957CCFEB31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20bb5b-8f2d-40ba-9a11-048b4f05bd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9561e60-dc75-4c28-a1c9-2e8d8870196b}" enabled="0" method="" siteId="{89561e60-dc75-4c28-a1c9-2e8d8870196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BNL</Template>
  <Application>Microsoft Office PowerPoint</Application>
  <PresentationFormat>Widescreen</PresentationFormat>
  <Slides>26</Slides>
  <Notes>4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BNL</vt:lpstr>
      <vt:lpstr>1_BNL</vt:lpstr>
      <vt:lpstr>Application Layer &amp; Operator Interfaces</vt:lpstr>
      <vt:lpstr>About Me – Kunal Shroff</vt:lpstr>
      <vt:lpstr>Charge Questions</vt:lpstr>
      <vt:lpstr>Outline</vt:lpstr>
      <vt:lpstr>Scope</vt:lpstr>
      <vt:lpstr>Requirements</vt:lpstr>
      <vt:lpstr>Control System Architecture</vt:lpstr>
      <vt:lpstr>Phoebus</vt:lpstr>
      <vt:lpstr>Display Builder</vt:lpstr>
      <vt:lpstr>Display Builder - editor</vt:lpstr>
      <vt:lpstr>Display Builder - runtime</vt:lpstr>
      <vt:lpstr>Web Runtime and Remote Operations</vt:lpstr>
      <vt:lpstr>Screen creation</vt:lpstr>
      <vt:lpstr>Data Browser</vt:lpstr>
      <vt:lpstr>Alarm Applications</vt:lpstr>
      <vt:lpstr>Alarm Applications</vt:lpstr>
      <vt:lpstr>Save and Restore</vt:lpstr>
      <vt:lpstr>Logbook</vt:lpstr>
      <vt:lpstr>Applications Portfolio</vt:lpstr>
      <vt:lpstr>Commissioning tools</vt:lpstr>
      <vt:lpstr>Phoebus Architecture </vt:lpstr>
      <vt:lpstr>Phoebus Architecture - Extensibility</vt:lpstr>
      <vt:lpstr>Phoebus Architecture – eic product</vt:lpstr>
      <vt:lpstr>Phoebus Collaboration</vt:lpstr>
      <vt:lpstr>Risks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Verdu Andres, Silvia</dc:creator>
  <cp:keywords/>
  <dc:description/>
  <cp:revision>2</cp:revision>
  <dcterms:created xsi:type="dcterms:W3CDTF">2025-05-26T22:03:26Z</dcterms:created>
  <dcterms:modified xsi:type="dcterms:W3CDTF">2026-06-12T19:34:34Z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0x010100334C119A7B7AAD4B8531CC12C18B34A1020028F255E0DCC10B47BE594092C2246F45</vt:lpwstr>
  </property>
  <property fmtid="{D5CDD505-2E9C-101B-9397-08002B2CF9AE}" pid="3" name="MediaServiceImageTags">
    <vt:lpwstr/>
  </property>
  <property fmtid="{D5CDD505-2E9C-101B-9397-08002B2CF9AE}" pid="4" name="Order">
    <vt:r8>41700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EndDate">
    <vt:lpwstr>S. Notaro</vt:lpwstr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AssignedTo">
    <vt:lpwstr/>
  </property>
  <property fmtid="{D5CDD505-2E9C-101B-9397-08002B2CF9AE}" pid="13" name="Status">
    <vt:lpwstr>Draft in Progress</vt:lpwstr>
  </property>
</Properties>
</file>