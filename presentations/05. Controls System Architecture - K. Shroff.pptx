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4"/>
    <p:sldMasterId id="2147483669" r:id="rId5"/>
  </p:sldMasterIdLst>
  <p:notesMasterIdLst>
    <p:notesMasterId r:id="rId36"/>
  </p:notesMasterIdLst>
  <p:sldIdLst>
    <p:sldId id="279" r:id="rId6"/>
    <p:sldId id="261" r:id="rId7"/>
    <p:sldId id="324" r:id="rId8"/>
    <p:sldId id="308" r:id="rId9"/>
    <p:sldId id="319" r:id="rId10"/>
    <p:sldId id="343" r:id="rId11"/>
    <p:sldId id="322" r:id="rId12"/>
    <p:sldId id="335" r:id="rId13"/>
    <p:sldId id="321" r:id="rId14"/>
    <p:sldId id="320" r:id="rId15"/>
    <p:sldId id="325" r:id="rId16"/>
    <p:sldId id="315" r:id="rId17"/>
    <p:sldId id="326" r:id="rId18"/>
    <p:sldId id="316" r:id="rId19"/>
    <p:sldId id="329" r:id="rId20"/>
    <p:sldId id="328" r:id="rId21"/>
    <p:sldId id="330" r:id="rId22"/>
    <p:sldId id="333" r:id="rId23"/>
    <p:sldId id="344" r:id="rId24"/>
    <p:sldId id="336" r:id="rId25"/>
    <p:sldId id="338" r:id="rId26"/>
    <p:sldId id="331" r:id="rId27"/>
    <p:sldId id="337" r:id="rId28"/>
    <p:sldId id="339" r:id="rId29"/>
    <p:sldId id="340" r:id="rId30"/>
    <p:sldId id="332" r:id="rId31"/>
    <p:sldId id="342" r:id="rId32"/>
    <p:sldId id="341" r:id="rId33"/>
    <p:sldId id="318" r:id="rId34"/>
    <p:sldId id="314"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1ADD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D942D2-7E7F-4F15-4EC9-C0161AAC5AF1}" v="42" dt="2026-06-08T20:31:07.887"/>
    <p1510:client id="{AB4F15DD-6D8A-4060-AE12-5296E3775D23}" v="126" dt="2026-06-09T17:29:43.2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theme" Target="theme/theme1.xml"/><Relationship Id="rId21" Type="http://schemas.openxmlformats.org/officeDocument/2006/relationships/slide" Target="slides/slide16.xml"/><Relationship Id="rId34" Type="http://schemas.openxmlformats.org/officeDocument/2006/relationships/slide" Target="slides/slide29.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36F475-F7F5-6C41-B37C-656C49194CAF}" type="datetimeFigureOut">
              <a:rPr lang="en-US" smtClean="0"/>
              <a:t>6/12/2026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5839EF-EF2D-A244-8B03-02564FD38722}" type="slidenum">
              <a:rPr lang="en-US" smtClean="0"/>
              <a:t>‹#›</a:t>
            </a:fld>
            <a:endParaRPr lang="en-US"/>
          </a:p>
        </p:txBody>
      </p:sp>
    </p:spTree>
    <p:extLst>
      <p:ext uri="{BB962C8B-B14F-4D97-AF65-F5344CB8AC3E}">
        <p14:creationId xmlns:p14="http://schemas.microsoft.com/office/powerpoint/2010/main" val="26792809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supporting structured data, efficient subscriptions and notifications, improved security support, and various other features that make it a strong fit for EIC's modern control system needs</a:t>
            </a:r>
          </a:p>
          <a:p>
            <a:endParaRPr lang="en-US">
              <a:ea typeface="Calibri"/>
              <a:cs typeface="Calibri"/>
            </a:endParaRPr>
          </a:p>
          <a:p>
            <a:r>
              <a:rPr lang="en-US">
                <a:solidFill>
                  <a:srgbClr val="CF8E6D"/>
                </a:solidFill>
                <a:highlight>
                  <a:srgbClr val="1E1F22"/>
                </a:highlight>
              </a:rPr>
              <a:t>- **</a:t>
            </a:r>
            <a:r>
              <a:rPr lang="en-US">
                <a:solidFill>
                  <a:srgbClr val="BCBEC4"/>
                </a:solidFill>
                <a:highlight>
                  <a:srgbClr val="1E1F22"/>
                </a:highlight>
              </a:rPr>
              <a:t>What pvAccess provides:</a:t>
            </a:r>
            <a:r>
              <a:rPr lang="en-US">
                <a:solidFill>
                  <a:srgbClr val="CF8E6D"/>
                </a:solidFill>
                <a:highlight>
                  <a:srgbClr val="1E1F22"/>
                </a:highlight>
              </a:rPr>
              <a:t>**</a:t>
            </a:r>
            <a:br>
              <a:rPr lang="en-US">
                <a:highlight>
                  <a:srgbClr val="1E1F22"/>
                </a:highlight>
                <a:cs typeface="+mn-lt"/>
              </a:rPr>
            </a:br>
            <a:r>
              <a:rPr lang="en-US">
                <a:solidFill>
                  <a:srgbClr val="CF8E6D"/>
                </a:solidFill>
                <a:highlight>
                  <a:srgbClr val="1E1F22"/>
                </a:highlight>
              </a:rPr>
              <a:t>    - **</a:t>
            </a:r>
            <a:r>
              <a:rPr lang="en-US">
                <a:solidFill>
                  <a:srgbClr val="BCBEC4"/>
                </a:solidFill>
                <a:highlight>
                  <a:srgbClr val="1E1F22"/>
                </a:highlight>
              </a:rPr>
              <a:t>Extends EPICS with user-defined structured data transport without recompiling client or server code</a:t>
            </a:r>
            <a:r>
              <a:rPr lang="en-US">
                <a:solidFill>
                  <a:srgbClr val="CF8E6D"/>
                </a:solidFill>
                <a:highlight>
                  <a:srgbClr val="1E1F22"/>
                </a:highlight>
              </a:rPr>
              <a:t>**</a:t>
            </a:r>
            <a:br>
              <a:rPr lang="en-US">
                <a:highlight>
                  <a:srgbClr val="1E1F22"/>
                </a:highlight>
                <a:cs typeface="+mn-lt"/>
              </a:rPr>
            </a:br>
            <a:r>
              <a:rPr lang="en-US">
                <a:solidFill>
                  <a:srgbClr val="CF8E6D"/>
                </a:solidFill>
                <a:highlight>
                  <a:srgbClr val="1E1F22"/>
                </a:highlight>
              </a:rPr>
              <a:t>    - **</a:t>
            </a:r>
            <a:r>
              <a:rPr lang="en-US">
                <a:solidFill>
                  <a:srgbClr val="BCBEC4"/>
                </a:solidFill>
                <a:highlight>
                  <a:srgbClr val="1E1F22"/>
                </a:highlight>
              </a:rPr>
              <a:t>Uses a highly efficient subscription model that sends only changed fields in an updated structure</a:t>
            </a:r>
            <a:r>
              <a:rPr lang="en-US">
                <a:solidFill>
                  <a:srgbClr val="CF8E6D"/>
                </a:solidFill>
                <a:highlight>
                  <a:srgbClr val="1E1F22"/>
                </a:highlight>
              </a:rPr>
              <a:t>**</a:t>
            </a:r>
            <a:endParaRPr lang="en-US">
              <a:solidFill>
                <a:srgbClr val="000000"/>
              </a:solidFill>
            </a:endParaRPr>
          </a:p>
          <a:p>
            <a:r>
              <a:rPr lang="en-US">
                <a:highlight>
                  <a:srgbClr val="1E1F22"/>
                </a:highlight>
              </a:rPr>
              <a:t>As mentioned before, pvAccess handles subscriptions to</a:t>
            </a:r>
            <a:endParaRPr lang="en-US"/>
          </a:p>
          <a:p>
            <a:r>
              <a:rPr lang="en-US">
                <a:highlight>
                  <a:srgbClr val="1E1F22"/>
                </a:highlight>
              </a:rPr>
              <a:t>structures very efficiently: While a CA subscription for a</a:t>
            </a:r>
            <a:endParaRPr lang="en-US"/>
          </a:p>
          <a:p>
            <a:r>
              <a:rPr lang="en-US">
                <a:highlight>
                  <a:srgbClr val="1E1F22"/>
                </a:highlight>
              </a:rPr>
              <a:t>DBR_CTRL_DOUBLE data type always transmits the</a:t>
            </a:r>
            <a:endParaRPr lang="en-US"/>
          </a:p>
          <a:p>
            <a:r>
              <a:rPr lang="en-US">
                <a:highlight>
                  <a:srgbClr val="1E1F22"/>
                </a:highlight>
              </a:rPr>
              <a:t>complete structure with every update, a PVA subscription</a:t>
            </a:r>
            <a:endParaRPr lang="en-US"/>
          </a:p>
          <a:p>
            <a:r>
              <a:rPr lang="en-US">
                <a:highlight>
                  <a:srgbClr val="1E1F22"/>
                </a:highlight>
              </a:rPr>
              <a:t>will only transmit the parts of the NTScalar structure that</a:t>
            </a:r>
            <a:endParaRPr lang="en-US"/>
          </a:p>
          <a:p>
            <a:r>
              <a:rPr lang="en-US">
                <a:highlight>
                  <a:srgbClr val="1E1F22"/>
                </a:highlight>
              </a:rPr>
              <a:t>have changed. Fields like the “description” and limits tend</a:t>
            </a:r>
            <a:endParaRPr lang="en-US"/>
          </a:p>
          <a:p>
            <a:r>
              <a:rPr lang="en-US">
                <a:highlight>
                  <a:srgbClr val="1E1F22"/>
                </a:highlight>
              </a:rPr>
              <a:t>to remain constant and will thus not contribute to the network</a:t>
            </a:r>
            <a:endParaRPr lang="en-US"/>
          </a:p>
          <a:p>
            <a:r>
              <a:rPr lang="en-US">
                <a:highlight>
                  <a:srgbClr val="1E1F22"/>
                </a:highlight>
              </a:rPr>
              <a:t>traffic during PVA subscription updates</a:t>
            </a:r>
            <a:endParaRPr lang="en-US"/>
          </a:p>
          <a:p>
            <a:br>
              <a:rPr lang="en-US">
                <a:highlight>
                  <a:srgbClr val="1E1F22"/>
                </a:highlight>
                <a:cs typeface="+mn-lt"/>
              </a:rPr>
            </a:br>
            <a:r>
              <a:rPr lang="en-US">
                <a:solidFill>
                  <a:srgbClr val="CF8E6D"/>
                </a:solidFill>
                <a:highlight>
                  <a:srgbClr val="1E1F22"/>
                </a:highlight>
              </a:rPr>
              <a:t>    - **</a:t>
            </a:r>
            <a:r>
              <a:rPr lang="en-US">
                <a:solidFill>
                  <a:srgbClr val="BCBEC4"/>
                </a:solidFill>
                <a:highlight>
                  <a:srgbClr val="1E1F22"/>
                </a:highlight>
              </a:rPr>
              <a:t>Supports request/response style interactions for middle-layer services and control workflows</a:t>
            </a:r>
            <a:r>
              <a:rPr lang="en-US">
                <a:solidFill>
                  <a:srgbClr val="CF8E6D"/>
                </a:solidFill>
                <a:highlight>
                  <a:srgbClr val="1E1F22"/>
                </a:highlight>
              </a:rPr>
              <a:t>**</a:t>
            </a:r>
            <a:br>
              <a:rPr lang="en-US">
                <a:highlight>
                  <a:srgbClr val="1E1F22"/>
                </a:highlight>
                <a:cs typeface="+mn-lt"/>
              </a:rPr>
            </a:br>
            <a:r>
              <a:rPr lang="en-US">
                <a:solidFill>
                  <a:srgbClr val="CF8E6D"/>
                </a:solidFill>
                <a:highlight>
                  <a:srgbClr val="1E1F22"/>
                </a:highlight>
              </a:rPr>
              <a:t>- **</a:t>
            </a:r>
            <a:r>
              <a:rPr lang="en-US">
                <a:solidFill>
                  <a:srgbClr val="BCBEC4"/>
                </a:solidFill>
                <a:highlight>
                  <a:srgbClr val="1E1F22"/>
                </a:highlight>
              </a:rPr>
              <a:t>Normative Types and data semantics:</a:t>
            </a:r>
            <a:r>
              <a:rPr lang="en-US">
                <a:solidFill>
                  <a:srgbClr val="CF8E6D"/>
                </a:solidFill>
                <a:highlight>
                  <a:srgbClr val="1E1F22"/>
                </a:highlight>
              </a:rPr>
              <a:t>**</a:t>
            </a:r>
            <a:br>
              <a:rPr lang="en-US">
                <a:highlight>
                  <a:srgbClr val="1E1F22"/>
                </a:highlight>
                <a:cs typeface="+mn-lt"/>
              </a:rPr>
            </a:br>
            <a:r>
              <a:rPr lang="en-US">
                <a:solidFill>
                  <a:srgbClr val="CF8E6D"/>
                </a:solidFill>
                <a:highlight>
                  <a:srgbClr val="1E1F22"/>
                </a:highlight>
              </a:rPr>
              <a:t>    - **</a:t>
            </a:r>
            <a:r>
              <a:rPr lang="en-US">
                <a:solidFill>
                  <a:srgbClr val="BCBEC4"/>
                </a:solidFill>
                <a:highlight>
                  <a:srgbClr val="1E1F22"/>
                </a:highlight>
              </a:rPr>
              <a:t>Standard types such as </a:t>
            </a:r>
            <a:r>
              <a:rPr lang="en-US">
                <a:solidFill>
                  <a:srgbClr val="CF8E6D"/>
                </a:solidFill>
                <a:highlight>
                  <a:srgbClr val="1E1F22"/>
                </a:highlight>
              </a:rPr>
              <a:t>`</a:t>
            </a:r>
            <a:r>
              <a:rPr lang="en-US">
                <a:solidFill>
                  <a:srgbClr val="BCBEC4"/>
                </a:solidFill>
                <a:highlight>
                  <a:srgbClr val="1E1F22"/>
                </a:highlight>
              </a:rPr>
              <a:t>NTScalar</a:t>
            </a:r>
            <a:r>
              <a:rPr lang="en-US">
                <a:solidFill>
                  <a:srgbClr val="CF8E6D"/>
                </a:solidFill>
                <a:highlight>
                  <a:srgbClr val="1E1F22"/>
                </a:highlight>
              </a:rPr>
              <a:t>`</a:t>
            </a:r>
            <a:r>
              <a:rPr lang="en-US">
                <a:solidFill>
                  <a:srgbClr val="BCBEC4"/>
                </a:solidFill>
                <a:highlight>
                  <a:srgbClr val="1E1F22"/>
                </a:highlight>
              </a:rPr>
              <a:t>, </a:t>
            </a:r>
            <a:r>
              <a:rPr lang="en-US">
                <a:solidFill>
                  <a:srgbClr val="CF8E6D"/>
                </a:solidFill>
                <a:highlight>
                  <a:srgbClr val="1E1F22"/>
                </a:highlight>
              </a:rPr>
              <a:t>`</a:t>
            </a:r>
            <a:r>
              <a:rPr lang="en-US">
                <a:solidFill>
                  <a:srgbClr val="BCBEC4"/>
                </a:solidFill>
                <a:highlight>
                  <a:srgbClr val="1E1F22"/>
                </a:highlight>
              </a:rPr>
              <a:t>NTNDArray</a:t>
            </a:r>
            <a:r>
              <a:rPr lang="en-US">
                <a:solidFill>
                  <a:srgbClr val="CF8E6D"/>
                </a:solidFill>
                <a:highlight>
                  <a:srgbClr val="1E1F22"/>
                </a:highlight>
              </a:rPr>
              <a:t>`</a:t>
            </a:r>
            <a:r>
              <a:rPr lang="en-US">
                <a:solidFill>
                  <a:srgbClr val="BCBEC4"/>
                </a:solidFill>
                <a:highlight>
                  <a:srgbClr val="1E1F22"/>
                </a:highlight>
              </a:rPr>
              <a:t>, and </a:t>
            </a:r>
            <a:r>
              <a:rPr lang="en-US">
                <a:solidFill>
                  <a:srgbClr val="CF8E6D"/>
                </a:solidFill>
                <a:highlight>
                  <a:srgbClr val="1E1F22"/>
                </a:highlight>
              </a:rPr>
              <a:t>`</a:t>
            </a:r>
            <a:r>
              <a:rPr lang="en-US">
                <a:solidFill>
                  <a:srgbClr val="BCBEC4"/>
                </a:solidFill>
                <a:highlight>
                  <a:srgbClr val="1E1F22"/>
                </a:highlight>
              </a:rPr>
              <a:t>NTTable</a:t>
            </a:r>
            <a:r>
              <a:rPr lang="en-US">
                <a:solidFill>
                  <a:srgbClr val="CF8E6D"/>
                </a:solidFill>
                <a:highlight>
                  <a:srgbClr val="1E1F22"/>
                </a:highlight>
              </a:rPr>
              <a:t>` </a:t>
            </a:r>
            <a:r>
              <a:rPr lang="en-US">
                <a:solidFill>
                  <a:srgbClr val="BCBEC4"/>
                </a:solidFill>
                <a:highlight>
                  <a:srgbClr val="1E1F22"/>
                </a:highlight>
              </a:rPr>
              <a:t>preserve value, timestamp, alarm, and display metadata</a:t>
            </a:r>
            <a:r>
              <a:rPr lang="en-US">
                <a:solidFill>
                  <a:srgbClr val="CF8E6D"/>
                </a:solidFill>
                <a:highlight>
                  <a:srgbClr val="1E1F22"/>
                </a:highlight>
              </a:rPr>
              <a:t>**</a:t>
            </a:r>
            <a:br>
              <a:rPr lang="en-US">
                <a:highlight>
                  <a:srgbClr val="1E1F22"/>
                </a:highlight>
                <a:cs typeface="+mn-lt"/>
              </a:rPr>
            </a:br>
            <a:r>
              <a:rPr lang="en-US">
                <a:solidFill>
                  <a:srgbClr val="CF8E6D"/>
                </a:solidFill>
                <a:highlight>
                  <a:srgbClr val="1E1F22"/>
                </a:highlight>
              </a:rPr>
              <a:t>    - **</a:t>
            </a:r>
            <a:r>
              <a:rPr lang="en-US">
                <a:solidFill>
                  <a:srgbClr val="BCBEC4"/>
                </a:solidFill>
                <a:highlight>
                  <a:srgbClr val="1E1F22"/>
                </a:highlight>
              </a:rPr>
              <a:t>Generic clients can interpret common scalar, array, image, and table structures without custom per-device code</a:t>
            </a:r>
            <a:r>
              <a:rPr lang="en-US">
                <a:solidFill>
                  <a:srgbClr val="CF8E6D"/>
                </a:solidFill>
                <a:highlight>
                  <a:srgbClr val="1E1F22"/>
                </a:highlight>
              </a:rPr>
              <a:t>**</a:t>
            </a:r>
            <a:br>
              <a:rPr lang="en-US">
                <a:highlight>
                  <a:srgbClr val="1E1F22"/>
                </a:highlight>
                <a:cs typeface="+mn-lt"/>
              </a:rPr>
            </a:br>
            <a:r>
              <a:rPr lang="en-US">
                <a:solidFill>
                  <a:srgbClr val="CF8E6D"/>
                </a:solidFill>
                <a:highlight>
                  <a:srgbClr val="1E1F22"/>
                </a:highlight>
              </a:rPr>
              <a:t>    - **</a:t>
            </a:r>
            <a:r>
              <a:rPr lang="en-US">
                <a:solidFill>
                  <a:srgbClr val="BCBEC4"/>
                </a:solidFill>
                <a:highlight>
                  <a:srgbClr val="1E1F22"/>
                </a:highlight>
              </a:rPr>
              <a:t>Specialized structures remain possible when a use case does not fit a standard type</a:t>
            </a:r>
            <a:r>
              <a:rPr lang="en-US">
                <a:solidFill>
                  <a:srgbClr val="CF8E6D"/>
                </a:solidFill>
                <a:highlight>
                  <a:srgbClr val="1E1F22"/>
                </a:highlight>
              </a:rPr>
              <a:t>**</a:t>
            </a:r>
            <a:br>
              <a:rPr lang="en-US">
                <a:highlight>
                  <a:srgbClr val="1E1F22"/>
                </a:highlight>
                <a:cs typeface="+mn-lt"/>
              </a:rPr>
            </a:br>
            <a:r>
              <a:rPr lang="en-US">
                <a:solidFill>
                  <a:srgbClr val="CF8E6D"/>
                </a:solidFill>
                <a:highlight>
                  <a:srgbClr val="1E1F22"/>
                </a:highlight>
              </a:rPr>
              <a:t>    - **</a:t>
            </a:r>
            <a:r>
              <a:rPr lang="en-US">
                <a:solidFill>
                  <a:srgbClr val="BCBEC4"/>
                </a:solidFill>
                <a:highlight>
                  <a:srgbClr val="1E1F22"/>
                </a:highlight>
              </a:rPr>
              <a:t>Supports high-bandwidth data acquisition, imaging, and large structured payloads such as </a:t>
            </a:r>
            <a:r>
              <a:rPr lang="en-US">
                <a:solidFill>
                  <a:srgbClr val="CF8E6D"/>
                </a:solidFill>
                <a:highlight>
                  <a:srgbClr val="1E1F22"/>
                </a:highlight>
              </a:rPr>
              <a:t>`</a:t>
            </a:r>
            <a:r>
              <a:rPr lang="en-US">
                <a:solidFill>
                  <a:srgbClr val="BCBEC4"/>
                </a:solidFill>
                <a:highlight>
                  <a:srgbClr val="1E1F22"/>
                </a:highlight>
              </a:rPr>
              <a:t>NTNDArray</a:t>
            </a:r>
            <a:r>
              <a:rPr lang="en-US">
                <a:solidFill>
                  <a:srgbClr val="CF8E6D"/>
                </a:solidFill>
                <a:highlight>
                  <a:srgbClr val="1E1F22"/>
                </a:highlight>
              </a:rPr>
              <a:t>`**</a:t>
            </a:r>
            <a:br>
              <a:rPr lang="en-US">
                <a:highlight>
                  <a:srgbClr val="1E1F22"/>
                </a:highlight>
                <a:cs typeface="+mn-lt"/>
              </a:rPr>
            </a:br>
            <a:r>
              <a:rPr lang="en-US">
                <a:solidFill>
                  <a:srgbClr val="CF8E6D"/>
                </a:solidFill>
                <a:highlight>
                  <a:srgbClr val="1E1F22"/>
                </a:highlight>
              </a:rPr>
              <a:t>    - **</a:t>
            </a:r>
            <a:r>
              <a:rPr lang="en-US">
                <a:solidFill>
                  <a:srgbClr val="BCBEC4"/>
                </a:solidFill>
                <a:highlight>
                  <a:srgbClr val="1E1F22"/>
                </a:highlight>
              </a:rPr>
              <a:t>Enables modern client libraries (</a:t>
            </a:r>
            <a:r>
              <a:rPr lang="en-US">
                <a:solidFill>
                  <a:srgbClr val="CF8E6D"/>
                </a:solidFill>
                <a:highlight>
                  <a:srgbClr val="1E1F22"/>
                </a:highlight>
              </a:rPr>
              <a:t>`</a:t>
            </a:r>
            <a:r>
              <a:rPr lang="en-US">
                <a:solidFill>
                  <a:srgbClr val="BCBEC4"/>
                </a:solidFill>
                <a:highlight>
                  <a:srgbClr val="1E1F22"/>
                </a:highlight>
              </a:rPr>
              <a:t>PVXS</a:t>
            </a:r>
            <a:r>
              <a:rPr lang="en-US">
                <a:solidFill>
                  <a:srgbClr val="CF8E6D"/>
                </a:solidFill>
                <a:highlight>
                  <a:srgbClr val="1E1F22"/>
                </a:highlight>
              </a:rPr>
              <a:t>`</a:t>
            </a:r>
            <a:r>
              <a:rPr lang="en-US">
                <a:solidFill>
                  <a:srgbClr val="BCBEC4"/>
                </a:solidFill>
                <a:highlight>
                  <a:srgbClr val="1E1F22"/>
                </a:highlight>
              </a:rPr>
              <a:t>, </a:t>
            </a:r>
            <a:r>
              <a:rPr lang="en-US">
                <a:solidFill>
                  <a:srgbClr val="CF8E6D"/>
                </a:solidFill>
                <a:highlight>
                  <a:srgbClr val="1E1F22"/>
                </a:highlight>
              </a:rPr>
              <a:t>`</a:t>
            </a:r>
            <a:r>
              <a:rPr lang="en-US">
                <a:solidFill>
                  <a:srgbClr val="BCBEC4"/>
                </a:solidFill>
                <a:highlight>
                  <a:srgbClr val="1E1F22"/>
                </a:highlight>
              </a:rPr>
              <a:t>core-pva</a:t>
            </a:r>
            <a:r>
              <a:rPr lang="en-US">
                <a:solidFill>
                  <a:srgbClr val="CF8E6D"/>
                </a:solidFill>
                <a:highlight>
                  <a:srgbClr val="1E1F22"/>
                </a:highlight>
              </a:rPr>
              <a:t>`</a:t>
            </a:r>
            <a:r>
              <a:rPr lang="en-US">
                <a:solidFill>
                  <a:srgbClr val="BCBEC4"/>
                </a:solidFill>
                <a:highlight>
                  <a:srgbClr val="1E1F22"/>
                </a:highlight>
              </a:rPr>
              <a:t>, </a:t>
            </a:r>
            <a:r>
              <a:rPr lang="en-US">
                <a:solidFill>
                  <a:srgbClr val="CF8E6D"/>
                </a:solidFill>
                <a:highlight>
                  <a:srgbClr val="1E1F22"/>
                </a:highlight>
              </a:rPr>
              <a:t>`</a:t>
            </a:r>
            <a:r>
              <a:rPr lang="en-US">
                <a:solidFill>
                  <a:srgbClr val="BCBEC4"/>
                </a:solidFill>
                <a:highlight>
                  <a:srgbClr val="1E1F22"/>
                </a:highlight>
              </a:rPr>
              <a:t>P4P</a:t>
            </a:r>
            <a:r>
              <a:rPr lang="en-US">
                <a:solidFill>
                  <a:srgbClr val="CF8E6D"/>
                </a:solidFill>
                <a:highlight>
                  <a:srgbClr val="1E1F22"/>
                </a:highlight>
              </a:rPr>
              <a:t>`</a:t>
            </a:r>
            <a:r>
              <a:rPr lang="en-US">
                <a:solidFill>
                  <a:srgbClr val="BCBEC4"/>
                </a:solidFill>
                <a:highlight>
                  <a:srgbClr val="1E1F22"/>
                </a:highlight>
              </a:rPr>
              <a:t>), IPv6 support, and planned TLS-secured connections</a:t>
            </a:r>
            <a:r>
              <a:rPr lang="en-US">
                <a:solidFill>
                  <a:srgbClr val="CF8E6D"/>
                </a:solidFill>
                <a:highlight>
                  <a:srgbClr val="1E1F22"/>
                </a:highlight>
              </a:rPr>
              <a:t>**</a:t>
            </a:r>
            <a:br>
              <a:rPr lang="en-US">
                <a:highlight>
                  <a:srgbClr val="1E1F22"/>
                </a:highlight>
                <a:cs typeface="+mn-lt"/>
              </a:rPr>
            </a:br>
            <a:r>
              <a:rPr lang="en-US">
                <a:solidFill>
                  <a:srgbClr val="CF8E6D"/>
                </a:solidFill>
                <a:highlight>
                  <a:srgbClr val="1E1F22"/>
                </a:highlight>
              </a:rPr>
              <a:t>    - **</a:t>
            </a:r>
            <a:r>
              <a:rPr lang="en-US">
                <a:solidFill>
                  <a:srgbClr val="BCBEC4"/>
                </a:solidFill>
                <a:highlight>
                  <a:srgbClr val="1E1F22"/>
                </a:highlight>
              </a:rPr>
              <a:t>Has been demonstrated in production at multiple facilities, including ESS commissioning under heavy load</a:t>
            </a:r>
            <a:r>
              <a:rPr lang="en-US">
                <a:solidFill>
                  <a:srgbClr val="CF8E6D"/>
                </a:solidFill>
                <a:highlight>
                  <a:srgbClr val="1E1F22"/>
                </a:highlight>
              </a:rPr>
              <a:t>**</a:t>
            </a: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515839EF-EF2D-A244-8B03-02564FD38722}" type="slidenum">
              <a:rPr lang="en-US" smtClean="0"/>
              <a:t>12</a:t>
            </a:fld>
            <a:endParaRPr lang="en-US"/>
          </a:p>
        </p:txBody>
      </p:sp>
    </p:spTree>
    <p:extLst>
      <p:ext uri="{BB962C8B-B14F-4D97-AF65-F5344CB8AC3E}">
        <p14:creationId xmlns:p14="http://schemas.microsoft.com/office/powerpoint/2010/main" val="8158072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existing ADO based control system for the hadron injection, which also serves other facilities such as BLIP (Brookhaven Linac Isotope Producer) and still operates during the EIC construction, will remain.</a:t>
            </a:r>
          </a:p>
          <a:p>
            <a:endParaRPr lang="en-US">
              <a:ea typeface="Calibri"/>
              <a:cs typeface="Calibri"/>
            </a:endParaRPr>
          </a:p>
          <a:p>
            <a:endParaRPr lang="en-US">
              <a:ea typeface="Calibri"/>
              <a:cs typeface="Calibri"/>
            </a:endParaRPr>
          </a:p>
          <a:p>
            <a:r>
              <a:rPr lang="en-US"/>
              <a:t>- **RHIC architecture baseline:**</a:t>
            </a:r>
            <a:br>
              <a:rPr lang="en-US"/>
            </a:br>
            <a:r>
              <a:rPr lang="en-US"/>
              <a:t>- **RHIC controls were built in the early 1990s as a network-based distributed, two-level architecture**</a:t>
            </a:r>
            <a:br>
              <a:rPr lang="en-US"/>
            </a:br>
            <a:r>
              <a:rPr lang="en-US"/>
              <a:t>- **High-level layer provides operator interfaces, automatic sequencing, alarms, archiving, and logbook workflows**</a:t>
            </a:r>
            <a:br>
              <a:rPr lang="en-US"/>
            </a:br>
            <a:r>
              <a:rPr lang="en-US"/>
              <a:t>- **Low-level layer controls hardware (magnets, vacuum, others) primarily through VME and ADO applications on VxWorks**</a:t>
            </a:r>
            <a:br>
              <a:rPr lang="en-US"/>
            </a:br>
            <a:r>
              <a:rPr lang="en-US"/>
              <a:t>- **Operational strengths and track record:**</a:t>
            </a:r>
            <a:br>
              <a:rPr lang="en-US"/>
            </a:br>
            <a:r>
              <a:rPr lang="en-US"/>
              <a:t>- **The ADO-based system has supported RHIC operations for about 25 years with staged upgrades (including FPGA-based LLRF improvements)**</a:t>
            </a:r>
            <a:br>
              <a:rPr lang="en-US"/>
            </a:br>
            <a:r>
              <a:rPr lang="en-US"/>
              <a:t>- **Established device integrations and operating practices remain a critical asset for injector-era systems**</a:t>
            </a:r>
            <a:br>
              <a:rPr lang="en-US"/>
            </a:br>
            <a:r>
              <a:rPr lang="en-US"/>
              <a:t>- **Why ADO remains in use now:**</a:t>
            </a:r>
            <a:br>
              <a:rPr lang="en-US"/>
            </a:br>
            <a:r>
              <a:rPr lang="en-US"/>
              <a:t>- **The existing ADO control path for hadron injection and BLIP remains operational during EIC construction**</a:t>
            </a:r>
            <a:br>
              <a:rPr lang="en-US"/>
            </a:br>
            <a:r>
              <a:rPr lang="en-US"/>
              <a:t>- **Program execution requires coexistence while new EPICS/PVA systems are commissioned**</a:t>
            </a:r>
            <a:br>
              <a:rPr lang="en-US"/>
            </a:br>
            <a:r>
              <a:rPr lang="en-US"/>
              <a:t>- **Transition driver for EIC:**</a:t>
            </a:r>
            <a:br>
              <a:rPr lang="en-US"/>
            </a:br>
            <a:r>
              <a:rPr lang="en-US"/>
              <a:t>- **EIC performance goals (about two orders of magnitude luminosity increase vs RHIC) require state-of-the-art controls evolution**</a:t>
            </a:r>
            <a:br>
              <a:rPr lang="en-US"/>
            </a:br>
            <a:r>
              <a:rPr lang="en-US"/>
              <a:t>- **EIC lower-level controls are moving to a modular, scalable FPGA platform for timing, LLRF, instrumentation, and related subsystems**</a:t>
            </a:r>
            <a:endParaRPr lang="en-US">
              <a:solidFill>
                <a:srgbClr val="444444"/>
              </a:solidFill>
            </a:endParaRPr>
          </a:p>
          <a:p>
            <a:endParaRPr lang="en-US">
              <a:solidFill>
                <a:srgbClr val="444444"/>
              </a:solidFill>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515839EF-EF2D-A244-8B03-02564FD38722}" type="slidenum">
              <a:rPr lang="en-US" smtClean="0"/>
              <a:t>13</a:t>
            </a:fld>
            <a:endParaRPr lang="en-US"/>
          </a:p>
        </p:txBody>
      </p:sp>
    </p:spTree>
    <p:extLst>
      <p:ext uri="{BB962C8B-B14F-4D97-AF65-F5344CB8AC3E}">
        <p14:creationId xmlns:p14="http://schemas.microsoft.com/office/powerpoint/2010/main" val="16656601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514350" indent="-342900">
              <a:lnSpc>
                <a:spcPct val="120000"/>
              </a:lnSpc>
              <a:spcBef>
                <a:spcPts val="1000"/>
              </a:spcBef>
              <a:buFont typeface="Arial,Sans-Serif"/>
              <a:buChar char="•"/>
            </a:pPr>
            <a:r>
              <a:rPr lang="en-US">
                <a:solidFill>
                  <a:srgbClr val="000000"/>
                </a:solidFill>
                <a:highlight>
                  <a:srgbClr val="1E1F22"/>
                </a:highlight>
              </a:rPr>
              <a:t>EIC performance goals (about two orders of magnitude luminosity increase vs RHIC) require modernized controls platforms and scalable FPGA-based lower-level systems</a:t>
            </a:r>
            <a:endParaRPr lang="en-US">
              <a:highlight>
                <a:srgbClr val="1E1F22"/>
              </a:highlight>
            </a:endParaRPr>
          </a:p>
          <a:p>
            <a:pPr marL="514350" indent="-342900">
              <a:lnSpc>
                <a:spcPct val="120000"/>
              </a:lnSpc>
              <a:spcBef>
                <a:spcPts val="1000"/>
              </a:spcBef>
              <a:buFont typeface="Arial,Sans-Serif"/>
              <a:buChar char="•"/>
            </a:pPr>
            <a:r>
              <a:rPr lang="en-US">
                <a:solidFill>
                  <a:srgbClr val="000000"/>
                </a:solidFill>
                <a:highlight>
                  <a:srgbClr val="1E1F22"/>
                </a:highlight>
              </a:rPr>
              <a:t>Software strategy prioritizes long-term maintainability for a 30+ year lifecycle and broader talent/community support</a:t>
            </a:r>
            <a:endParaRPr lang="en-US">
              <a:highlight>
                <a:srgbClr val="1E1F22"/>
              </a:highlight>
            </a:endParaRPr>
          </a:p>
          <a:p>
            <a:pPr marL="514350" indent="-342900">
              <a:lnSpc>
                <a:spcPct val="120000"/>
              </a:lnSpc>
              <a:spcBef>
                <a:spcPts val="1000"/>
              </a:spcBef>
              <a:buFont typeface="Arial,Sans-Serif"/>
              <a:buChar char="•"/>
            </a:pPr>
            <a:r>
              <a:rPr lang="en-US">
                <a:solidFill>
                  <a:srgbClr val="000000"/>
                </a:solidFill>
                <a:highlight>
                  <a:srgbClr val="1E1F22"/>
                </a:highlight>
              </a:rPr>
              <a:t>Therefore, the near-term architecture is intentionally dual-system: legacy ADO paths continue where needed while new systems are delivered on EPICS/PVA and migrated in phases</a:t>
            </a:r>
          </a:p>
          <a:p>
            <a:endParaRPr lang="en-US">
              <a:solidFill>
                <a:srgbClr val="CF8E6D"/>
              </a:solidFill>
              <a:highlight>
                <a:srgbClr val="1E1F22"/>
              </a:highlight>
              <a:ea typeface="Calibri"/>
              <a:cs typeface="Calibri"/>
            </a:endParaRPr>
          </a:p>
        </p:txBody>
      </p:sp>
      <p:sp>
        <p:nvSpPr>
          <p:cNvPr id="4" name="Slide Number Placeholder 3"/>
          <p:cNvSpPr>
            <a:spLocks noGrp="1"/>
          </p:cNvSpPr>
          <p:nvPr>
            <p:ph type="sldNum" sz="quarter" idx="5"/>
          </p:nvPr>
        </p:nvSpPr>
        <p:spPr/>
        <p:txBody>
          <a:bodyPr/>
          <a:lstStyle/>
          <a:p>
            <a:fld id="{515839EF-EF2D-A244-8B03-02564FD38722}" type="slidenum">
              <a:rPr lang="en-US" smtClean="0"/>
              <a:t>14</a:t>
            </a:fld>
            <a:endParaRPr lang="en-US"/>
          </a:p>
        </p:txBody>
      </p:sp>
    </p:spTree>
    <p:extLst>
      <p:ext uri="{BB962C8B-B14F-4D97-AF65-F5344CB8AC3E}">
        <p14:creationId xmlns:p14="http://schemas.microsoft.com/office/powerpoint/2010/main" val="34998035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B5E0F-A7D0-8C88-77F4-0EA40E74D2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8171AC-D569-5D6F-1302-D44A5E3CA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4E524C-A574-18BF-557B-9737A4450E57}"/>
              </a:ext>
            </a:extLst>
          </p:cNvPr>
          <p:cNvSpPr>
            <a:spLocks noGrp="1"/>
          </p:cNvSpPr>
          <p:nvPr>
            <p:ph type="body" idx="1"/>
          </p:nvPr>
        </p:nvSpPr>
        <p:spPr/>
        <p:txBody>
          <a:bodyPr/>
          <a:lstStyle/>
          <a:p>
            <a:r>
              <a:rPr lang="en-US">
                <a:solidFill>
                  <a:srgbClr val="CF8E6D"/>
                </a:solidFill>
                <a:highlight>
                  <a:srgbClr val="1E1F22"/>
                </a:highlight>
              </a:rPr>
              <a:t> </a:t>
            </a:r>
            <a:endParaRPr lang="en-US"/>
          </a:p>
          <a:p>
            <a:r>
              <a:rPr lang="en-US">
                <a:solidFill>
                  <a:srgbClr val="CF8E6D"/>
                </a:solidFill>
                <a:highlight>
                  <a:srgbClr val="1E1F22"/>
                </a:highlight>
              </a:rPr>
              <a:t>AdoEpicsBridge is a p4p-based middle-layer bridge that connects to ADO on one side and publishes ADO-managed devices as EPICS PVs over pvAccess on the other, enabling EPICS clients and tools to access legacy ADO systems without any changes to the existing ADO infrastructure.</a:t>
            </a:r>
            <a:endParaRPr lang="en-US"/>
          </a:p>
        </p:txBody>
      </p:sp>
      <p:sp>
        <p:nvSpPr>
          <p:cNvPr id="4" name="Slide Number Placeholder 3">
            <a:extLst>
              <a:ext uri="{FF2B5EF4-FFF2-40B4-BE49-F238E27FC236}">
                <a16:creationId xmlns:a16="http://schemas.microsoft.com/office/drawing/2014/main" id="{1825714B-A1F2-78D3-476F-F68EA82CCBBC}"/>
              </a:ext>
            </a:extLst>
          </p:cNvPr>
          <p:cNvSpPr>
            <a:spLocks noGrp="1"/>
          </p:cNvSpPr>
          <p:nvPr>
            <p:ph type="sldNum" sz="quarter" idx="5"/>
          </p:nvPr>
        </p:nvSpPr>
        <p:spPr/>
        <p:txBody>
          <a:bodyPr/>
          <a:lstStyle/>
          <a:p>
            <a:fld id="{515839EF-EF2D-A244-8B03-02564FD38722}" type="slidenum">
              <a:rPr lang="en-US" smtClean="0"/>
              <a:t>15</a:t>
            </a:fld>
            <a:endParaRPr lang="en-US"/>
          </a:p>
        </p:txBody>
      </p:sp>
    </p:spTree>
    <p:extLst>
      <p:ext uri="{BB962C8B-B14F-4D97-AF65-F5344CB8AC3E}">
        <p14:creationId xmlns:p14="http://schemas.microsoft.com/office/powerpoint/2010/main" val="40125135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F026F2-D731-5C62-0DCE-B689710527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C6D392-91D5-E61B-1EE1-E4B42FA8FD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7A96F5-3EA8-2F5C-8904-8C340C9040A6}"/>
              </a:ext>
            </a:extLst>
          </p:cNvPr>
          <p:cNvSpPr>
            <a:spLocks noGrp="1"/>
          </p:cNvSpPr>
          <p:nvPr>
            <p:ph type="body" idx="1"/>
          </p:nvPr>
        </p:nvSpPr>
        <p:spPr/>
        <p:txBody>
          <a:bodyPr/>
          <a:lstStyle/>
          <a:p>
            <a:r>
              <a:rPr lang="en-US">
                <a:solidFill>
                  <a:srgbClr val="CF8E6D"/>
                </a:solidFill>
                <a:highlight>
                  <a:srgbClr val="1E1F22"/>
                </a:highlight>
              </a:rPr>
              <a:t> </a:t>
            </a:r>
            <a:endParaRPr lang="en-US"/>
          </a:p>
          <a:p>
            <a:r>
              <a:rPr lang="en-US">
                <a:solidFill>
                  <a:srgbClr val="CF8E6D"/>
                </a:solidFill>
                <a:highlight>
                  <a:srgbClr val="1E1F22"/>
                </a:highlight>
              </a:rPr>
              <a:t>AdoEpicsBridge is a p4p-based middle-layer bridge that connects to ADO on one side and publishes ADO-managed devices as EPICS PVs over pvAccess on the other, enabling EPICS clients and tools to access legacy ADO systems without any changes to the existing ADO infrastructure.</a:t>
            </a:r>
            <a:endParaRPr lang="en-US"/>
          </a:p>
        </p:txBody>
      </p:sp>
      <p:sp>
        <p:nvSpPr>
          <p:cNvPr id="4" name="Slide Number Placeholder 3">
            <a:extLst>
              <a:ext uri="{FF2B5EF4-FFF2-40B4-BE49-F238E27FC236}">
                <a16:creationId xmlns:a16="http://schemas.microsoft.com/office/drawing/2014/main" id="{CB0D8919-793F-B61D-4DFE-022698CCBF82}"/>
              </a:ext>
            </a:extLst>
          </p:cNvPr>
          <p:cNvSpPr>
            <a:spLocks noGrp="1"/>
          </p:cNvSpPr>
          <p:nvPr>
            <p:ph type="sldNum" sz="quarter" idx="5"/>
          </p:nvPr>
        </p:nvSpPr>
        <p:spPr/>
        <p:txBody>
          <a:bodyPr/>
          <a:lstStyle/>
          <a:p>
            <a:fld id="{515839EF-EF2D-A244-8B03-02564FD38722}" type="slidenum">
              <a:rPr lang="en-US" smtClean="0"/>
              <a:t>16</a:t>
            </a:fld>
            <a:endParaRPr lang="en-US"/>
          </a:p>
        </p:txBody>
      </p:sp>
    </p:spTree>
    <p:extLst>
      <p:ext uri="{BB962C8B-B14F-4D97-AF65-F5344CB8AC3E}">
        <p14:creationId xmlns:p14="http://schemas.microsoft.com/office/powerpoint/2010/main" val="20181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2464D-3551-5F89-2377-56B1D41349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041F06-8165-DE6C-4308-837F55F85E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F393AC-AA3F-7625-B343-445C637184B9}"/>
              </a:ext>
            </a:extLst>
          </p:cNvPr>
          <p:cNvSpPr>
            <a:spLocks noGrp="1"/>
          </p:cNvSpPr>
          <p:nvPr>
            <p:ph type="body" idx="1"/>
          </p:nvPr>
        </p:nvSpPr>
        <p:spPr/>
        <p:txBody>
          <a:bodyPr/>
          <a:lstStyle/>
          <a:p>
            <a:r>
              <a:rPr lang="en-US">
                <a:solidFill>
                  <a:srgbClr val="CF8E6D"/>
                </a:solidFill>
                <a:highlight>
                  <a:srgbClr val="1E1F22"/>
                </a:highlight>
              </a:rPr>
              <a:t> </a:t>
            </a:r>
            <a:endParaRPr lang="en-US"/>
          </a:p>
          <a:p>
            <a:r>
              <a:rPr lang="en-US">
                <a:solidFill>
                  <a:srgbClr val="CF8E6D"/>
                </a:solidFill>
                <a:highlight>
                  <a:srgbClr val="1E1F22"/>
                </a:highlight>
              </a:rPr>
              <a:t>AdoEpicsBridge is a p4p-based middle-layer bridge that connects to ADO on one side and publishes ADO-managed devices as EPICS PVs over pvAccess on the other, enabling EPICS clients and tools to access legacy ADO systems without any changes to the existing ADO infrastructure.</a:t>
            </a:r>
            <a:endParaRPr lang="en-US"/>
          </a:p>
        </p:txBody>
      </p:sp>
      <p:sp>
        <p:nvSpPr>
          <p:cNvPr id="4" name="Slide Number Placeholder 3">
            <a:extLst>
              <a:ext uri="{FF2B5EF4-FFF2-40B4-BE49-F238E27FC236}">
                <a16:creationId xmlns:a16="http://schemas.microsoft.com/office/drawing/2014/main" id="{A11D2181-A782-3FC6-3E6C-89885B19696B}"/>
              </a:ext>
            </a:extLst>
          </p:cNvPr>
          <p:cNvSpPr>
            <a:spLocks noGrp="1"/>
          </p:cNvSpPr>
          <p:nvPr>
            <p:ph type="sldNum" sz="quarter" idx="5"/>
          </p:nvPr>
        </p:nvSpPr>
        <p:spPr/>
        <p:txBody>
          <a:bodyPr/>
          <a:lstStyle/>
          <a:p>
            <a:fld id="{515839EF-EF2D-A244-8B03-02564FD38722}" type="slidenum">
              <a:rPr lang="en-US" smtClean="0"/>
              <a:t>17</a:t>
            </a:fld>
            <a:endParaRPr lang="en-US"/>
          </a:p>
        </p:txBody>
      </p:sp>
    </p:spTree>
    <p:extLst>
      <p:ext uri="{BB962C8B-B14F-4D97-AF65-F5344CB8AC3E}">
        <p14:creationId xmlns:p14="http://schemas.microsoft.com/office/powerpoint/2010/main" val="34529970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a:br>
            <a:r>
              <a:rPr lang="en-US"/>
              <a:t>- **Operating model:**</a:t>
            </a:r>
            <a:br>
              <a:rPr lang="en-US"/>
            </a:br>
            <a:r>
              <a:rPr lang="en-US"/>
              <a:t>- **Desktop and web clients use the same underlying controls/services data, so access modes stay consistent.**</a:t>
            </a:r>
            <a:br>
              <a:rPr lang="en-US"/>
            </a:br>
            <a:r>
              <a:rPr lang="en-US"/>
              <a:t>- **Web tools extend access and visibility; they complement, not replace, the Phoebus desktop workflow.**</a:t>
            </a:r>
          </a:p>
        </p:txBody>
      </p:sp>
      <p:sp>
        <p:nvSpPr>
          <p:cNvPr id="4" name="Slide Number Placeholder 3"/>
          <p:cNvSpPr>
            <a:spLocks noGrp="1"/>
          </p:cNvSpPr>
          <p:nvPr>
            <p:ph type="sldNum" sz="quarter" idx="5"/>
          </p:nvPr>
        </p:nvSpPr>
        <p:spPr/>
        <p:txBody>
          <a:bodyPr/>
          <a:lstStyle/>
          <a:p>
            <a:fld id="{515839EF-EF2D-A244-8B03-02564FD38722}" type="slidenum">
              <a:rPr lang="en-US" smtClean="0"/>
              <a:t>26</a:t>
            </a:fld>
            <a:endParaRPr lang="en-US"/>
          </a:p>
        </p:txBody>
      </p:sp>
    </p:spTree>
    <p:extLst>
      <p:ext uri="{BB962C8B-B14F-4D97-AF65-F5344CB8AC3E}">
        <p14:creationId xmlns:p14="http://schemas.microsoft.com/office/powerpoint/2010/main" val="18005408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99EFAB-ED38-ADAC-0ED2-5AB296709A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1CE07C-3E53-07AA-7E24-139F3EAB94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0F027C-86E4-43BF-70C6-B908300E981E}"/>
              </a:ext>
            </a:extLst>
          </p:cNvPr>
          <p:cNvSpPr>
            <a:spLocks noGrp="1"/>
          </p:cNvSpPr>
          <p:nvPr>
            <p:ph type="body" idx="1"/>
          </p:nvPr>
        </p:nvSpPr>
        <p:spPr/>
        <p:txBody>
          <a:bodyPr/>
          <a:lstStyle/>
          <a:p>
            <a:r>
              <a:rPr lang="en-US"/>
              <a:t>- **CI/CD purpose for controls architecture:**</a:t>
            </a:r>
            <a:br>
              <a:rPr lang="en-US"/>
            </a:br>
            <a:r>
              <a:rPr lang="en-US"/>
              <a:t>    - **Standardize delivery workflows across infrastructure, controls software, and operations tooling**</a:t>
            </a:r>
            <a:br>
              <a:rPr lang="en-US"/>
            </a:br>
            <a:r>
              <a:rPr lang="en-US"/>
              <a:t>    - **Reduce integration risk through automated validation and repeatable deployment steps**</a:t>
            </a:r>
            <a:br>
              <a:rPr lang="en-US"/>
            </a:br>
            <a:r>
              <a:rPr lang="en-US"/>
              <a:t>    - **Improve traceability from design change to deployed system state**</a:t>
            </a:r>
            <a:br>
              <a:rPr lang="en-US"/>
            </a:br>
            <a:r>
              <a:rPr lang="en-US">
                <a:solidFill>
                  <a:srgbClr val="000000"/>
                </a:solidFill>
              </a:rPr>
              <a:t>- **Industry-aligned workflow model:**</a:t>
            </a:r>
            <a:br>
              <a:rPr lang="en-US"/>
            </a:br>
            <a:r>
              <a:rPr lang="en-US">
                <a:solidFill>
                  <a:srgbClr val="000000"/>
                </a:solidFill>
              </a:rPr>
              <a:t>    - **Git-based change control with pull request approvals and protected branches**</a:t>
            </a:r>
            <a:br>
              <a:rPr lang="en-US">
                <a:solidFill>
                  <a:srgbClr val="000000"/>
                </a:solidFill>
              </a:rPr>
            </a:br>
            <a:r>
              <a:rPr lang="en-US">
                <a:solidFill>
                  <a:srgbClr val="000000"/>
                </a:solidFill>
              </a:rPr>
              <a:t>    - **Pipeline-first validation before integration and release**</a:t>
            </a:r>
            <a:br>
              <a:rPr lang="en-US">
                <a:solidFill>
                  <a:srgbClr val="000000"/>
                </a:solidFill>
              </a:rPr>
            </a:br>
            <a:r>
              <a:rPr lang="en-US">
                <a:solidFill>
                  <a:srgbClr val="000000"/>
                </a:solidFill>
              </a:rPr>
              <a:t>    - **Infrastructure as code as the default operating model for environment setup and updates**</a:t>
            </a:r>
            <a:br>
              <a:rPr lang="en-US">
                <a:solidFill>
                  <a:srgbClr val="000000"/>
                </a:solidFill>
              </a:rPr>
            </a:br>
            <a:r>
              <a:rPr lang="en-US">
                <a:solidFill>
                  <a:srgbClr val="000000"/>
                </a:solidFill>
              </a:rPr>
              <a:t>- **GitHub as source control platform:**</a:t>
            </a:r>
            <a:br>
              <a:rPr lang="en-US">
                <a:solidFill>
                  <a:srgbClr val="000000"/>
                </a:solidFill>
              </a:rPr>
            </a:br>
            <a:r>
              <a:rPr lang="en-US">
                <a:solidFill>
                  <a:srgbClr val="000000"/>
                </a:solidFill>
              </a:rPr>
              <a:t>    - **Full history and traceability of architecture, code, configuration, and operations assets**</a:t>
            </a:r>
            <a:br>
              <a:rPr lang="en-US">
                <a:solidFill>
                  <a:srgbClr val="000000"/>
                </a:solidFill>
              </a:rPr>
            </a:br>
            <a:r>
              <a:rPr lang="en-US">
                <a:solidFill>
                  <a:srgbClr val="000000"/>
                </a:solidFill>
              </a:rPr>
              <a:t>    - **Structured collaboration via pull requests, reviews, and issue tracking**</a:t>
            </a:r>
            <a:br>
              <a:rPr lang="en-US">
                <a:solidFill>
                  <a:srgbClr val="000000"/>
                </a:solidFill>
              </a:rPr>
            </a:br>
            <a:r>
              <a:rPr lang="en-US">
                <a:solidFill>
                  <a:srgbClr val="000000"/>
                </a:solidFill>
              </a:rPr>
              <a:t>    - **Branch protection and CODEOWNERS enforce controlled change paths**</a:t>
            </a:r>
            <a:br>
              <a:rPr lang="en-US">
                <a:solidFill>
                  <a:srgbClr val="000000"/>
                </a:solidFill>
              </a:rPr>
            </a:br>
            <a:r>
              <a:rPr lang="en-US">
                <a:solidFill>
                  <a:srgbClr val="000000"/>
                </a:solidFill>
              </a:rPr>
              <a:t>- **GitHub Actions for CI/CD orchestration:**</a:t>
            </a:r>
            <a:br>
              <a:rPr lang="en-US">
                <a:solidFill>
                  <a:srgbClr val="000000"/>
                </a:solidFill>
              </a:rPr>
            </a:br>
            <a:r>
              <a:rPr lang="en-US">
                <a:solidFill>
                  <a:srgbClr val="000000"/>
                </a:solidFill>
              </a:rPr>
              <a:t>    - **Automated build, test, packaging, and deployment workflows**</a:t>
            </a:r>
            <a:br>
              <a:rPr lang="en-US">
                <a:solidFill>
                  <a:srgbClr val="000000"/>
                </a:solidFill>
              </a:rPr>
            </a:br>
            <a:r>
              <a:rPr lang="en-US">
                <a:solidFill>
                  <a:srgbClr val="000000"/>
                </a:solidFill>
              </a:rPr>
              <a:t>    - **Reusable workflows reduce duplication and enforce common standards**</a:t>
            </a:r>
            <a:br>
              <a:rPr lang="en-US">
                <a:solidFill>
                  <a:srgbClr val="000000"/>
                </a:solidFill>
              </a:rPr>
            </a:br>
            <a:r>
              <a:rPr lang="en-US">
                <a:solidFill>
                  <a:srgbClr val="000000"/>
                </a:solidFill>
              </a:rPr>
              <a:t>    - **Environment-aware pipelines for development, test, and production readiness**</a:t>
            </a:r>
            <a:br>
              <a:rPr lang="en-US">
                <a:solidFill>
                  <a:srgbClr val="000000"/>
                </a:solidFill>
              </a:rPr>
            </a:br>
            <a:r>
              <a:rPr lang="en-US">
                <a:solidFill>
                  <a:srgbClr val="000000"/>
                </a:solidFill>
              </a:rPr>
              <a:t>- **Ansible and AWX for operational automation:**</a:t>
            </a:r>
            <a:br>
              <a:rPr lang="en-US">
                <a:solidFill>
                  <a:srgbClr val="000000"/>
                </a:solidFill>
              </a:rPr>
            </a:br>
            <a:r>
              <a:rPr lang="en-US">
                <a:solidFill>
                  <a:srgbClr val="000000"/>
                </a:solidFill>
              </a:rPr>
              <a:t>    - **Ansible playbooks define desired state for systems and services**</a:t>
            </a:r>
            <a:br>
              <a:rPr lang="en-US">
                <a:solidFill>
                  <a:srgbClr val="000000"/>
                </a:solidFill>
              </a:rPr>
            </a:br>
            <a:r>
              <a:rPr lang="en-US">
                <a:solidFill>
                  <a:srgbClr val="000000"/>
                </a:solidFill>
              </a:rPr>
              <a:t>    - **AWX provides managed execution, scheduling, credential handling, and run visibility**</a:t>
            </a:r>
            <a:br>
              <a:rPr lang="en-US">
                <a:solidFill>
                  <a:srgbClr val="000000"/>
                </a:solidFill>
              </a:rPr>
            </a:br>
            <a:r>
              <a:rPr lang="en-US">
                <a:solidFill>
                  <a:srgbClr val="000000"/>
                </a:solidFill>
              </a:rPr>
              <a:t>    - **Consistent, repeatable rollouts across multiple environments**</a:t>
            </a:r>
            <a:br>
              <a:rPr lang="en-US">
                <a:solidFill>
                  <a:srgbClr val="000000"/>
                </a:solidFill>
              </a:rPr>
            </a:br>
            <a:r>
              <a:rPr lang="en-US">
                <a:solidFill>
                  <a:srgbClr val="000000"/>
                </a:solidFill>
              </a:rPr>
              <a:t>- **Infrastructure as code principles:**</a:t>
            </a:r>
            <a:br>
              <a:rPr lang="en-US">
                <a:solidFill>
                  <a:srgbClr val="000000"/>
                </a:solidFill>
              </a:rPr>
            </a:br>
            <a:r>
              <a:rPr lang="en-US">
                <a:solidFill>
                  <a:srgbClr val="000000"/>
                </a:solidFill>
              </a:rPr>
              <a:t>    - **Version-controlled infrastructure definitions and configuration policies**</a:t>
            </a:r>
            <a:br>
              <a:rPr lang="en-US">
                <a:solidFill>
                  <a:srgbClr val="000000"/>
                </a:solidFill>
              </a:rPr>
            </a:br>
            <a:r>
              <a:rPr lang="en-US">
                <a:solidFill>
                  <a:srgbClr val="000000"/>
                </a:solidFill>
              </a:rPr>
              <a:t>    - **Reviewable, auditable changes to platform and service topology**</a:t>
            </a:r>
            <a:br>
              <a:rPr lang="en-US">
                <a:solidFill>
                  <a:srgbClr val="000000"/>
                </a:solidFill>
              </a:rPr>
            </a:br>
            <a:r>
              <a:rPr lang="en-US">
                <a:solidFill>
                  <a:srgbClr val="000000"/>
                </a:solidFill>
              </a:rPr>
              <a:t>    - **Drift reduction through repeatable automation runs**</a:t>
            </a:r>
            <a:br>
              <a:rPr lang="en-US">
                <a:solidFill>
                  <a:srgbClr val="000000"/>
                </a:solidFill>
              </a:rPr>
            </a:br>
            <a:r>
              <a:rPr lang="en-US">
                <a:solidFill>
                  <a:srgbClr val="000000"/>
                </a:solidFill>
              </a:rPr>
              <a:t>2. Emphasize that CI/CD is part of architecture maturity, not only software process.</a:t>
            </a:r>
            <a:br>
              <a:rPr lang="en-US">
                <a:solidFill>
                  <a:srgbClr val="000000"/>
                </a:solidFill>
              </a:rPr>
            </a:br>
            <a:r>
              <a:rPr lang="en-US">
                <a:solidFill>
                  <a:srgbClr val="000000"/>
                </a:solidFill>
              </a:rPr>
              <a:t>3. Focus on the end-to-end toolchain, not isolated tools.</a:t>
            </a:r>
            <a:endParaRPr lang="en-US"/>
          </a:p>
          <a:p>
            <a:endParaRPr lang="en-US">
              <a:ea typeface="Calibri"/>
              <a:cs typeface="Calibri"/>
            </a:endParaRPr>
          </a:p>
        </p:txBody>
      </p:sp>
      <p:sp>
        <p:nvSpPr>
          <p:cNvPr id="4" name="Slide Number Placeholder 3">
            <a:extLst>
              <a:ext uri="{FF2B5EF4-FFF2-40B4-BE49-F238E27FC236}">
                <a16:creationId xmlns:a16="http://schemas.microsoft.com/office/drawing/2014/main" id="{209FB7AC-736D-5D54-5330-A23A5485C858}"/>
              </a:ext>
            </a:extLst>
          </p:cNvPr>
          <p:cNvSpPr>
            <a:spLocks noGrp="1"/>
          </p:cNvSpPr>
          <p:nvPr>
            <p:ph type="sldNum" sz="quarter" idx="5"/>
          </p:nvPr>
        </p:nvSpPr>
        <p:spPr/>
        <p:txBody>
          <a:bodyPr/>
          <a:lstStyle/>
          <a:p>
            <a:fld id="{515839EF-EF2D-A244-8B03-02564FD38722}" type="slidenum">
              <a:rPr lang="en-US" smtClean="0"/>
              <a:t>27</a:t>
            </a:fld>
            <a:endParaRPr lang="en-US"/>
          </a:p>
        </p:txBody>
      </p:sp>
    </p:spTree>
    <p:extLst>
      <p:ext uri="{BB962C8B-B14F-4D97-AF65-F5344CB8AC3E}">
        <p14:creationId xmlns:p14="http://schemas.microsoft.com/office/powerpoint/2010/main" val="15987210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4A94E-E20D-EC39-3A00-3244F81624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7F64BB-7003-F2F5-0FE7-83AE89790B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613DC8-C41B-C5BA-35C4-611EB1A14FB8}"/>
              </a:ext>
            </a:extLst>
          </p:cNvPr>
          <p:cNvSpPr>
            <a:spLocks noGrp="1"/>
          </p:cNvSpPr>
          <p:nvPr>
            <p:ph type="body" idx="1"/>
          </p:nvPr>
        </p:nvSpPr>
        <p:spPr/>
        <p:txBody>
          <a:bodyPr/>
          <a:lstStyle/>
          <a:p>
            <a:r>
              <a:rPr lang="en-US"/>
              <a:t>- **CI/CD purpose for controls architecture:**</a:t>
            </a:r>
            <a:br>
              <a:rPr lang="en-US"/>
            </a:br>
            <a:r>
              <a:rPr lang="en-US"/>
              <a:t>    - **Standardize delivery workflows across infrastructure, controls software, and operations tooling**</a:t>
            </a:r>
            <a:br>
              <a:rPr lang="en-US"/>
            </a:br>
            <a:r>
              <a:rPr lang="en-US"/>
              <a:t>    - **Reduce integration risk through automated validation and repeatable deployment steps**</a:t>
            </a:r>
            <a:br>
              <a:rPr lang="en-US"/>
            </a:br>
            <a:r>
              <a:rPr lang="en-US"/>
              <a:t>    - **Improve traceability from design change to deployed system state**</a:t>
            </a:r>
            <a:br>
              <a:rPr lang="en-US"/>
            </a:br>
            <a:r>
              <a:rPr lang="en-US">
                <a:solidFill>
                  <a:srgbClr val="000000"/>
                </a:solidFill>
              </a:rPr>
              <a:t>- **Industry-aligned workflow model:**</a:t>
            </a:r>
            <a:br>
              <a:rPr lang="en-US"/>
            </a:br>
            <a:r>
              <a:rPr lang="en-US">
                <a:solidFill>
                  <a:srgbClr val="000000"/>
                </a:solidFill>
              </a:rPr>
              <a:t>    - **Git-based change control with pull request approvals and protected branches**</a:t>
            </a:r>
            <a:br>
              <a:rPr lang="en-US">
                <a:solidFill>
                  <a:srgbClr val="000000"/>
                </a:solidFill>
              </a:rPr>
            </a:br>
            <a:r>
              <a:rPr lang="en-US">
                <a:solidFill>
                  <a:srgbClr val="000000"/>
                </a:solidFill>
              </a:rPr>
              <a:t>    - **Pipeline-first validation before integration and release**</a:t>
            </a:r>
            <a:br>
              <a:rPr lang="en-US">
                <a:solidFill>
                  <a:srgbClr val="000000"/>
                </a:solidFill>
              </a:rPr>
            </a:br>
            <a:r>
              <a:rPr lang="en-US">
                <a:solidFill>
                  <a:srgbClr val="000000"/>
                </a:solidFill>
              </a:rPr>
              <a:t>    - **Infrastructure as code as the default operating model for environment setup and updates**</a:t>
            </a:r>
            <a:br>
              <a:rPr lang="en-US">
                <a:solidFill>
                  <a:srgbClr val="000000"/>
                </a:solidFill>
              </a:rPr>
            </a:br>
            <a:r>
              <a:rPr lang="en-US">
                <a:solidFill>
                  <a:srgbClr val="000000"/>
                </a:solidFill>
              </a:rPr>
              <a:t>- **GitHub as source control platform:**</a:t>
            </a:r>
            <a:br>
              <a:rPr lang="en-US">
                <a:solidFill>
                  <a:srgbClr val="000000"/>
                </a:solidFill>
              </a:rPr>
            </a:br>
            <a:r>
              <a:rPr lang="en-US">
                <a:solidFill>
                  <a:srgbClr val="000000"/>
                </a:solidFill>
              </a:rPr>
              <a:t>    - **Full history and traceability of architecture, code, configuration, and operations assets**</a:t>
            </a:r>
            <a:br>
              <a:rPr lang="en-US">
                <a:solidFill>
                  <a:srgbClr val="000000"/>
                </a:solidFill>
              </a:rPr>
            </a:br>
            <a:r>
              <a:rPr lang="en-US">
                <a:solidFill>
                  <a:srgbClr val="000000"/>
                </a:solidFill>
              </a:rPr>
              <a:t>    - **Structured collaboration via pull requests, reviews, and issue tracking**</a:t>
            </a:r>
            <a:br>
              <a:rPr lang="en-US">
                <a:solidFill>
                  <a:srgbClr val="000000"/>
                </a:solidFill>
              </a:rPr>
            </a:br>
            <a:r>
              <a:rPr lang="en-US">
                <a:solidFill>
                  <a:srgbClr val="000000"/>
                </a:solidFill>
              </a:rPr>
              <a:t>    - **Branch protection and CODEOWNERS enforce controlled change paths**</a:t>
            </a:r>
            <a:br>
              <a:rPr lang="en-US">
                <a:solidFill>
                  <a:srgbClr val="000000"/>
                </a:solidFill>
              </a:rPr>
            </a:br>
            <a:r>
              <a:rPr lang="en-US">
                <a:solidFill>
                  <a:srgbClr val="000000"/>
                </a:solidFill>
              </a:rPr>
              <a:t>- **GitHub Actions for CI/CD orchestration:**</a:t>
            </a:r>
            <a:br>
              <a:rPr lang="en-US">
                <a:solidFill>
                  <a:srgbClr val="000000"/>
                </a:solidFill>
              </a:rPr>
            </a:br>
            <a:r>
              <a:rPr lang="en-US">
                <a:solidFill>
                  <a:srgbClr val="000000"/>
                </a:solidFill>
              </a:rPr>
              <a:t>    - **Automated build, test, packaging, and deployment workflows**</a:t>
            </a:r>
            <a:br>
              <a:rPr lang="en-US">
                <a:solidFill>
                  <a:srgbClr val="000000"/>
                </a:solidFill>
              </a:rPr>
            </a:br>
            <a:r>
              <a:rPr lang="en-US">
                <a:solidFill>
                  <a:srgbClr val="000000"/>
                </a:solidFill>
              </a:rPr>
              <a:t>    - **Reusable workflows reduce duplication and enforce common standards**</a:t>
            </a:r>
            <a:br>
              <a:rPr lang="en-US">
                <a:solidFill>
                  <a:srgbClr val="000000"/>
                </a:solidFill>
              </a:rPr>
            </a:br>
            <a:r>
              <a:rPr lang="en-US">
                <a:solidFill>
                  <a:srgbClr val="000000"/>
                </a:solidFill>
              </a:rPr>
              <a:t>    - **Environment-aware pipelines for development, test, and production readiness**</a:t>
            </a:r>
            <a:br>
              <a:rPr lang="en-US">
                <a:solidFill>
                  <a:srgbClr val="000000"/>
                </a:solidFill>
              </a:rPr>
            </a:br>
            <a:r>
              <a:rPr lang="en-US">
                <a:solidFill>
                  <a:srgbClr val="000000"/>
                </a:solidFill>
              </a:rPr>
              <a:t>- **Ansible and AWX for operational automation:**</a:t>
            </a:r>
            <a:br>
              <a:rPr lang="en-US">
                <a:solidFill>
                  <a:srgbClr val="000000"/>
                </a:solidFill>
              </a:rPr>
            </a:br>
            <a:r>
              <a:rPr lang="en-US">
                <a:solidFill>
                  <a:srgbClr val="000000"/>
                </a:solidFill>
              </a:rPr>
              <a:t>    - **Ansible playbooks define desired state for systems and services**</a:t>
            </a:r>
            <a:br>
              <a:rPr lang="en-US">
                <a:solidFill>
                  <a:srgbClr val="000000"/>
                </a:solidFill>
              </a:rPr>
            </a:br>
            <a:r>
              <a:rPr lang="en-US">
                <a:solidFill>
                  <a:srgbClr val="000000"/>
                </a:solidFill>
              </a:rPr>
              <a:t>    - **AWX provides managed execution, scheduling, credential handling, and run visibility**</a:t>
            </a:r>
            <a:br>
              <a:rPr lang="en-US">
                <a:solidFill>
                  <a:srgbClr val="000000"/>
                </a:solidFill>
              </a:rPr>
            </a:br>
            <a:r>
              <a:rPr lang="en-US">
                <a:solidFill>
                  <a:srgbClr val="000000"/>
                </a:solidFill>
              </a:rPr>
              <a:t>    - **Consistent, repeatable rollouts across multiple environments**</a:t>
            </a:r>
            <a:br>
              <a:rPr lang="en-US">
                <a:solidFill>
                  <a:srgbClr val="000000"/>
                </a:solidFill>
              </a:rPr>
            </a:br>
            <a:r>
              <a:rPr lang="en-US">
                <a:solidFill>
                  <a:srgbClr val="000000"/>
                </a:solidFill>
              </a:rPr>
              <a:t>- **Infrastructure as code principles:**</a:t>
            </a:r>
            <a:br>
              <a:rPr lang="en-US">
                <a:solidFill>
                  <a:srgbClr val="000000"/>
                </a:solidFill>
              </a:rPr>
            </a:br>
            <a:r>
              <a:rPr lang="en-US">
                <a:solidFill>
                  <a:srgbClr val="000000"/>
                </a:solidFill>
              </a:rPr>
              <a:t>    - **Version-controlled infrastructure definitions and configuration policies**</a:t>
            </a:r>
            <a:br>
              <a:rPr lang="en-US">
                <a:solidFill>
                  <a:srgbClr val="000000"/>
                </a:solidFill>
              </a:rPr>
            </a:br>
            <a:r>
              <a:rPr lang="en-US">
                <a:solidFill>
                  <a:srgbClr val="000000"/>
                </a:solidFill>
              </a:rPr>
              <a:t>    - **Reviewable, auditable changes to platform and service topology**</a:t>
            </a:r>
            <a:br>
              <a:rPr lang="en-US">
                <a:solidFill>
                  <a:srgbClr val="000000"/>
                </a:solidFill>
              </a:rPr>
            </a:br>
            <a:r>
              <a:rPr lang="en-US">
                <a:solidFill>
                  <a:srgbClr val="000000"/>
                </a:solidFill>
              </a:rPr>
              <a:t>    - **Drift reduction through repeatable automation runs**</a:t>
            </a:r>
            <a:br>
              <a:rPr lang="en-US">
                <a:solidFill>
                  <a:srgbClr val="000000"/>
                </a:solidFill>
              </a:rPr>
            </a:br>
            <a:r>
              <a:rPr lang="en-US">
                <a:solidFill>
                  <a:srgbClr val="000000"/>
                </a:solidFill>
              </a:rPr>
              <a:t>2. Emphasize that CI/CD is part of architecture maturity, not only software process.</a:t>
            </a:r>
            <a:br>
              <a:rPr lang="en-US">
                <a:solidFill>
                  <a:srgbClr val="000000"/>
                </a:solidFill>
              </a:rPr>
            </a:br>
            <a:r>
              <a:rPr lang="en-US">
                <a:solidFill>
                  <a:srgbClr val="000000"/>
                </a:solidFill>
              </a:rPr>
              <a:t>3. Focus on the end-to-end toolchain, not isolated tools.</a:t>
            </a:r>
            <a:endParaRPr lang="en-US"/>
          </a:p>
          <a:p>
            <a:endParaRPr lang="en-US">
              <a:ea typeface="Calibri"/>
              <a:cs typeface="Calibri"/>
            </a:endParaRPr>
          </a:p>
        </p:txBody>
      </p:sp>
      <p:sp>
        <p:nvSpPr>
          <p:cNvPr id="4" name="Slide Number Placeholder 3">
            <a:extLst>
              <a:ext uri="{FF2B5EF4-FFF2-40B4-BE49-F238E27FC236}">
                <a16:creationId xmlns:a16="http://schemas.microsoft.com/office/drawing/2014/main" id="{2E91503A-EFE0-DD1C-486D-7E0FDEF53FAB}"/>
              </a:ext>
            </a:extLst>
          </p:cNvPr>
          <p:cNvSpPr>
            <a:spLocks noGrp="1"/>
          </p:cNvSpPr>
          <p:nvPr>
            <p:ph type="sldNum" sz="quarter" idx="5"/>
          </p:nvPr>
        </p:nvSpPr>
        <p:spPr/>
        <p:txBody>
          <a:bodyPr/>
          <a:lstStyle/>
          <a:p>
            <a:fld id="{515839EF-EF2D-A244-8B03-02564FD38722}" type="slidenum">
              <a:rPr lang="en-US" smtClean="0"/>
              <a:t>28</a:t>
            </a:fld>
            <a:endParaRPr lang="en-US"/>
          </a:p>
        </p:txBody>
      </p:sp>
    </p:spTree>
    <p:extLst>
      <p:ext uri="{BB962C8B-B14F-4D97-AF65-F5344CB8AC3E}">
        <p14:creationId xmlns:p14="http://schemas.microsoft.com/office/powerpoint/2010/main" val="42314126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lnSpc>
                <a:spcPct val="120000"/>
              </a:lnSpc>
              <a:spcBef>
                <a:spcPts val="500"/>
              </a:spcBef>
              <a:buChar char="•"/>
            </a:pPr>
            <a:r>
              <a:rPr lang="en-US"/>
              <a:t>Configuration changes through versioned automation</a:t>
            </a:r>
          </a:p>
          <a:p>
            <a:pPr lvl="1">
              <a:lnSpc>
                <a:spcPct val="120000"/>
              </a:lnSpc>
              <a:spcBef>
                <a:spcPts val="500"/>
              </a:spcBef>
              <a:buChar char="•"/>
            </a:pPr>
            <a:r>
              <a:rPr lang="en-US"/>
              <a:t>Verify service health and interface compatibility post-deployment</a:t>
            </a:r>
            <a:endParaRPr lang="en-GB"/>
          </a:p>
        </p:txBody>
      </p:sp>
      <p:sp>
        <p:nvSpPr>
          <p:cNvPr id="4" name="Slide Number Placeholder 3"/>
          <p:cNvSpPr>
            <a:spLocks noGrp="1"/>
          </p:cNvSpPr>
          <p:nvPr>
            <p:ph type="sldNum" sz="quarter" idx="5"/>
          </p:nvPr>
        </p:nvSpPr>
        <p:spPr/>
        <p:txBody>
          <a:bodyPr/>
          <a:lstStyle/>
          <a:p>
            <a:fld id="{515839EF-EF2D-A244-8B03-02564FD38722}" type="slidenum">
              <a:rPr lang="en-US" smtClean="0"/>
              <a:t>29</a:t>
            </a:fld>
            <a:endParaRPr lang="en-US"/>
          </a:p>
        </p:txBody>
      </p:sp>
    </p:spTree>
    <p:extLst>
      <p:ext uri="{BB962C8B-B14F-4D97-AF65-F5344CB8AC3E}">
        <p14:creationId xmlns:p14="http://schemas.microsoft.com/office/powerpoint/2010/main" val="390680205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 Id="rId5" Type="http://schemas.openxmlformats.org/officeDocument/2006/relationships/image" Target="../media/image5.emf"/><Relationship Id="rId4" Type="http://schemas.openxmlformats.org/officeDocument/2006/relationships/image" Target="../media/image4.emf"/></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2.xml"/><Relationship Id="rId5" Type="http://schemas.openxmlformats.org/officeDocument/2006/relationships/image" Target="../media/image8.png"/><Relationship Id="rId4" Type="http://schemas.openxmlformats.org/officeDocument/2006/relationships/image" Target="../media/image5.emf"/></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FD422-CF21-5F4B-9F3C-D943F67A9BE0}"/>
              </a:ext>
            </a:extLst>
          </p:cNvPr>
          <p:cNvSpPr>
            <a:spLocks noGrp="1"/>
          </p:cNvSpPr>
          <p:nvPr>
            <p:ph type="ctrTitle" hasCustomPrompt="1"/>
          </p:nvPr>
        </p:nvSpPr>
        <p:spPr>
          <a:xfrm>
            <a:off x="813175" y="1481540"/>
            <a:ext cx="10334625" cy="1947460"/>
          </a:xfrm>
        </p:spPr>
        <p:txBody>
          <a:bodyPr anchor="t" anchorCtr="0"/>
          <a:lstStyle>
            <a:lvl1pPr algn="l">
              <a:defRPr sz="6000" b="1" i="0">
                <a:solidFill>
                  <a:schemeClr val="bg1"/>
                </a:solidFill>
                <a:latin typeface="+mn-lt"/>
                <a:cs typeface="Arial" panose="020B0604020202020204" pitchFamily="34" charset="0"/>
              </a:defRPr>
            </a:lvl1pPr>
          </a:lstStyle>
          <a:p>
            <a:r>
              <a:rPr lang="en-US"/>
              <a:t>Click To Edit Master Title Style</a:t>
            </a:r>
          </a:p>
        </p:txBody>
      </p:sp>
      <p:sp>
        <p:nvSpPr>
          <p:cNvPr id="3" name="Subtitle 2">
            <a:extLst>
              <a:ext uri="{FF2B5EF4-FFF2-40B4-BE49-F238E27FC236}">
                <a16:creationId xmlns:a16="http://schemas.microsoft.com/office/drawing/2014/main" id="{B4A5F0DF-C789-3B48-88B2-EEF178B1680D}"/>
              </a:ext>
            </a:extLst>
          </p:cNvPr>
          <p:cNvSpPr>
            <a:spLocks noGrp="1"/>
          </p:cNvSpPr>
          <p:nvPr>
            <p:ph type="subTitle" idx="1"/>
          </p:nvPr>
        </p:nvSpPr>
        <p:spPr>
          <a:xfrm>
            <a:off x="813175" y="4712963"/>
            <a:ext cx="10334625" cy="746185"/>
          </a:xfrm>
        </p:spPr>
        <p:txBody>
          <a:bodyPr>
            <a:normAutofit/>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Text Placeholder 4">
            <a:extLst>
              <a:ext uri="{FF2B5EF4-FFF2-40B4-BE49-F238E27FC236}">
                <a16:creationId xmlns:a16="http://schemas.microsoft.com/office/drawing/2014/main" id="{4B87851E-C1E1-6E46-8D1B-95D6C1888590}"/>
              </a:ext>
            </a:extLst>
          </p:cNvPr>
          <p:cNvSpPr>
            <a:spLocks noGrp="1"/>
          </p:cNvSpPr>
          <p:nvPr>
            <p:ph type="body" sz="quarter" idx="10"/>
          </p:nvPr>
        </p:nvSpPr>
        <p:spPr>
          <a:xfrm>
            <a:off x="813175" y="3441178"/>
            <a:ext cx="10334625" cy="1259607"/>
          </a:xfrm>
        </p:spPr>
        <p:txBody>
          <a:bodyPr>
            <a:noAutofit/>
          </a:bodyPr>
          <a:lstStyle>
            <a:lvl1pPr marL="0" indent="0">
              <a:buFontTx/>
              <a:buNone/>
              <a:defRPr sz="2400">
                <a:solidFill>
                  <a:schemeClr val="bg1"/>
                </a:solidFill>
              </a:defRPr>
            </a:lvl1pPr>
            <a:lvl2pPr marL="457200" indent="0">
              <a:buFontTx/>
              <a:buNone/>
              <a:defRPr sz="2000"/>
            </a:lvl2pPr>
            <a:lvl3pPr marL="914400" indent="0">
              <a:buFontTx/>
              <a:buNone/>
              <a:defRPr sz="2000"/>
            </a:lvl3pPr>
            <a:lvl4pPr marL="1371600" indent="0">
              <a:buFontTx/>
              <a:buNone/>
              <a:defRPr sz="2000"/>
            </a:lvl4pPr>
            <a:lvl5pPr marL="1828800" indent="0">
              <a:buFontTx/>
              <a:buNone/>
              <a:defRPr sz="2000"/>
            </a:lvl5pPr>
          </a:lstStyle>
          <a:p>
            <a:pPr lvl="0"/>
            <a:r>
              <a:rPr lang="en-US"/>
              <a:t>Click to edit Master text styles</a:t>
            </a:r>
          </a:p>
        </p:txBody>
      </p:sp>
      <p:pic>
        <p:nvPicPr>
          <p:cNvPr id="6" name="Picture 5">
            <a:extLst>
              <a:ext uri="{FF2B5EF4-FFF2-40B4-BE49-F238E27FC236}">
                <a16:creationId xmlns:a16="http://schemas.microsoft.com/office/drawing/2014/main" id="{6D99D03B-F4BD-85C1-5955-B2BB7ACF4A45}"/>
              </a:ext>
            </a:extLst>
          </p:cNvPr>
          <p:cNvPicPr>
            <a:picLocks noChangeAspect="1"/>
          </p:cNvPicPr>
          <p:nvPr userDrawn="1"/>
        </p:nvPicPr>
        <p:blipFill>
          <a:blip r:embed="rId3"/>
          <a:stretch>
            <a:fillRect/>
          </a:stretch>
        </p:blipFill>
        <p:spPr>
          <a:xfrm>
            <a:off x="10026314" y="472833"/>
            <a:ext cx="1632203" cy="457200"/>
          </a:xfrm>
          <a:prstGeom prst="rect">
            <a:avLst/>
          </a:prstGeom>
        </p:spPr>
      </p:pic>
      <p:pic>
        <p:nvPicPr>
          <p:cNvPr id="8" name="Picture 7">
            <a:extLst>
              <a:ext uri="{FF2B5EF4-FFF2-40B4-BE49-F238E27FC236}">
                <a16:creationId xmlns:a16="http://schemas.microsoft.com/office/drawing/2014/main" id="{276D9F0E-4B80-0FD1-A24A-1C1B60A4BB47}"/>
              </a:ext>
            </a:extLst>
          </p:cNvPr>
          <p:cNvPicPr>
            <a:picLocks noChangeAspect="1"/>
          </p:cNvPicPr>
          <p:nvPr userDrawn="1"/>
        </p:nvPicPr>
        <p:blipFill>
          <a:blip r:embed="rId4"/>
          <a:srcRect/>
          <a:stretch/>
        </p:blipFill>
        <p:spPr>
          <a:xfrm>
            <a:off x="7566183" y="472833"/>
            <a:ext cx="1787236" cy="457200"/>
          </a:xfrm>
          <a:prstGeom prst="rect">
            <a:avLst/>
          </a:prstGeom>
        </p:spPr>
      </p:pic>
      <p:pic>
        <p:nvPicPr>
          <p:cNvPr id="10" name="Picture 9">
            <a:extLst>
              <a:ext uri="{FF2B5EF4-FFF2-40B4-BE49-F238E27FC236}">
                <a16:creationId xmlns:a16="http://schemas.microsoft.com/office/drawing/2014/main" id="{70496317-0189-6060-26F4-32FD05088972}"/>
              </a:ext>
            </a:extLst>
          </p:cNvPr>
          <p:cNvPicPr>
            <a:picLocks noChangeAspect="1"/>
          </p:cNvPicPr>
          <p:nvPr userDrawn="1"/>
        </p:nvPicPr>
        <p:blipFill>
          <a:blip r:embed="rId5"/>
          <a:stretch>
            <a:fillRect/>
          </a:stretch>
        </p:blipFill>
        <p:spPr>
          <a:xfrm>
            <a:off x="5067685" y="472833"/>
            <a:ext cx="1825604" cy="457200"/>
          </a:xfrm>
          <a:prstGeom prst="rect">
            <a:avLst/>
          </a:prstGeom>
        </p:spPr>
      </p:pic>
    </p:spTree>
    <p:extLst>
      <p:ext uri="{BB962C8B-B14F-4D97-AF65-F5344CB8AC3E}">
        <p14:creationId xmlns:p14="http://schemas.microsoft.com/office/powerpoint/2010/main" val="642655364"/>
      </p:ext>
    </p:extLst>
  </p:cSld>
  <p:clrMapOvr>
    <a:masterClrMapping/>
  </p:clrMapOvr>
  <p:hf hdr="0" dt="0"/>
  <p:extLst>
    <p:ext uri="{DCECCB84-F9BA-43D5-87BE-67443E8EF086}">
      <p15:sldGuideLst xmlns:p15="http://schemas.microsoft.com/office/powerpoint/2012/main">
        <p15:guide id="7" orient="horz" pos="2160" userDrawn="1">
          <p15:clr>
            <a:srgbClr val="FBAE40"/>
          </p15:clr>
        </p15:guide>
        <p15:guide id="8" pos="3840" userDrawn="1">
          <p15:clr>
            <a:srgbClr val="FBAE40"/>
          </p15:clr>
        </p15:guide>
        <p15:guide id="9" orient="horz" pos="3888" userDrawn="1">
          <p15:clr>
            <a:srgbClr val="FBAE40"/>
          </p15:clr>
        </p15:guide>
        <p15:guide id="10" pos="360" userDrawn="1">
          <p15:clr>
            <a:srgbClr val="FBAE40"/>
          </p15:clr>
        </p15:guide>
        <p15:guide id="11" pos="7320" userDrawn="1">
          <p15:clr>
            <a:srgbClr val="FBAE40"/>
          </p15:clr>
        </p15:guide>
        <p15:guide id="12" orient="horz" pos="398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84785F67-179E-4145-8BCB-4A0C61A894B6}"/>
              </a:ext>
            </a:extLst>
          </p:cNvPr>
          <p:cNvSpPr>
            <a:spLocks noGrp="1"/>
          </p:cNvSpPr>
          <p:nvPr>
            <p:ph type="sldNum" sz="quarter" idx="4"/>
          </p:nvPr>
        </p:nvSpPr>
        <p:spPr>
          <a:xfrm>
            <a:off x="11530018" y="6316595"/>
            <a:ext cx="432486" cy="365125"/>
          </a:xfrm>
          <a:prstGeom prst="rect">
            <a:avLst/>
          </a:prstGeom>
        </p:spPr>
        <p:txBody>
          <a:bodyPr lIns="0" tIns="0" rIns="0" bIns="0" anchor="ctr"/>
          <a:lstStyle>
            <a:lvl1pPr algn="ctr">
              <a:defRPr sz="1000"/>
            </a:lvl1pPr>
          </a:lstStyle>
          <a:p>
            <a:pPr algn="ctr"/>
            <a:fld id="{933A556B-7C63-244D-9B7C-B0EA8042B330}" type="slidenum">
              <a:rPr lang="en-US" smtClean="0"/>
              <a:pPr algn="ctr"/>
              <a:t>‹#›</a:t>
            </a:fld>
            <a:endParaRPr lang="en-US"/>
          </a:p>
        </p:txBody>
      </p:sp>
      <p:sp>
        <p:nvSpPr>
          <p:cNvPr id="8" name="Title Placeholder 1">
            <a:extLst>
              <a:ext uri="{FF2B5EF4-FFF2-40B4-BE49-F238E27FC236}">
                <a16:creationId xmlns:a16="http://schemas.microsoft.com/office/drawing/2014/main" id="{7E7747BA-6145-3552-2339-5F4BF5DF2FDE}"/>
              </a:ext>
            </a:extLst>
          </p:cNvPr>
          <p:cNvSpPr>
            <a:spLocks noGrp="1"/>
          </p:cNvSpPr>
          <p:nvPr>
            <p:ph type="title"/>
          </p:nvPr>
        </p:nvSpPr>
        <p:spPr>
          <a:xfrm>
            <a:off x="462579" y="0"/>
            <a:ext cx="11499925" cy="825178"/>
          </a:xfrm>
          <a:prstGeom prst="rect">
            <a:avLst/>
          </a:prstGeom>
        </p:spPr>
        <p:txBody>
          <a:bodyPr vert="horz" lIns="91440" tIns="45720" rIns="91440" bIns="45720" rtlCol="0" anchor="ctr">
            <a:normAutofit/>
          </a:bodyPr>
          <a:lstStyle/>
          <a:p>
            <a:r>
              <a:rPr lang="en-US"/>
              <a:t>Click to edit Master title style</a:t>
            </a:r>
          </a:p>
        </p:txBody>
      </p:sp>
      <p:sp>
        <p:nvSpPr>
          <p:cNvPr id="14" name="Text Placeholder 13">
            <a:extLst>
              <a:ext uri="{FF2B5EF4-FFF2-40B4-BE49-F238E27FC236}">
                <a16:creationId xmlns:a16="http://schemas.microsoft.com/office/drawing/2014/main" id="{54C6E50E-3840-229D-97E9-6585956B40D4}"/>
              </a:ext>
            </a:extLst>
          </p:cNvPr>
          <p:cNvSpPr>
            <a:spLocks noGrp="1"/>
          </p:cNvSpPr>
          <p:nvPr>
            <p:ph type="body" sz="quarter" idx="10"/>
          </p:nvPr>
        </p:nvSpPr>
        <p:spPr>
          <a:xfrm>
            <a:off x="461963" y="981075"/>
            <a:ext cx="11499850" cy="5065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9456895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B965E-00C4-6F4C-8817-84A69C14D22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8926A3-B154-C14C-BFED-E141D3C8B7D4}"/>
              </a:ext>
            </a:extLst>
          </p:cNvPr>
          <p:cNvSpPr>
            <a:spLocks noGrp="1"/>
          </p:cNvSpPr>
          <p:nvPr>
            <p:ph sz="half" idx="1"/>
          </p:nvPr>
        </p:nvSpPr>
        <p:spPr>
          <a:xfrm>
            <a:off x="462579" y="975360"/>
            <a:ext cx="5524500" cy="489111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940C922-34CF-D846-A402-06F51B18941E}"/>
              </a:ext>
            </a:extLst>
          </p:cNvPr>
          <p:cNvSpPr>
            <a:spLocks noGrp="1"/>
          </p:cNvSpPr>
          <p:nvPr>
            <p:ph sz="half" idx="2"/>
          </p:nvPr>
        </p:nvSpPr>
        <p:spPr>
          <a:xfrm>
            <a:off x="6204923" y="975360"/>
            <a:ext cx="5755084" cy="489111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71868AE-308B-D548-82A1-318656FC5556}"/>
              </a:ext>
            </a:extLst>
          </p:cNvPr>
          <p:cNvSpPr>
            <a:spLocks noGrp="1"/>
          </p:cNvSpPr>
          <p:nvPr>
            <p:ph type="sldNum" sz="quarter" idx="4"/>
          </p:nvPr>
        </p:nvSpPr>
        <p:spPr>
          <a:xfrm>
            <a:off x="11527522" y="6316595"/>
            <a:ext cx="432486" cy="365125"/>
          </a:xfrm>
          <a:prstGeom prst="rect">
            <a:avLst/>
          </a:prstGeom>
        </p:spPr>
        <p:txBody>
          <a:bodyPr lIns="0" tIns="0" rIns="0" bIns="0" anchor="ctr"/>
          <a:lstStyle>
            <a:lvl1pPr algn="ctr">
              <a:defRPr sz="1000"/>
            </a:lvl1pPr>
          </a:lstStyle>
          <a:p>
            <a:pPr algn="ctr"/>
            <a:fld id="{933A556B-7C63-244D-9B7C-B0EA8042B330}" type="slidenum">
              <a:rPr lang="en-US" smtClean="0"/>
              <a:pPr algn="ctr"/>
              <a:t>‹#›</a:t>
            </a:fld>
            <a:endParaRPr lang="en-US"/>
          </a:p>
        </p:txBody>
      </p:sp>
    </p:spTree>
    <p:extLst>
      <p:ext uri="{BB962C8B-B14F-4D97-AF65-F5344CB8AC3E}">
        <p14:creationId xmlns:p14="http://schemas.microsoft.com/office/powerpoint/2010/main" val="3630614248"/>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CD9BCDB3-24E9-1B4D-0A74-4298674A99F5}"/>
              </a:ext>
            </a:extLst>
          </p:cNvPr>
          <p:cNvSpPr>
            <a:spLocks noGrp="1"/>
          </p:cNvSpPr>
          <p:nvPr>
            <p:ph type="sldNum" sz="quarter" idx="4"/>
          </p:nvPr>
        </p:nvSpPr>
        <p:spPr>
          <a:xfrm>
            <a:off x="11527522" y="6316595"/>
            <a:ext cx="432486" cy="365125"/>
          </a:xfrm>
          <a:prstGeom prst="rect">
            <a:avLst/>
          </a:prstGeom>
        </p:spPr>
        <p:txBody>
          <a:bodyPr lIns="0" tIns="0" rIns="0" bIns="0" anchor="ctr"/>
          <a:lstStyle>
            <a:lvl1pPr algn="ctr">
              <a:defRPr sz="1000"/>
            </a:lvl1pPr>
          </a:lstStyle>
          <a:p>
            <a:pPr algn="ctr"/>
            <a:fld id="{933A556B-7C63-244D-9B7C-B0EA8042B330}" type="slidenum">
              <a:rPr lang="en-US" smtClean="0"/>
              <a:pPr algn="ctr"/>
              <a:t>‹#›</a:t>
            </a:fld>
            <a:endParaRPr lang="en-US"/>
          </a:p>
        </p:txBody>
      </p:sp>
    </p:spTree>
    <p:extLst>
      <p:ext uri="{BB962C8B-B14F-4D97-AF65-F5344CB8AC3E}">
        <p14:creationId xmlns:p14="http://schemas.microsoft.com/office/powerpoint/2010/main" val="2391252601"/>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84785F67-179E-4145-8BCB-4A0C61A894B6}"/>
              </a:ext>
            </a:extLst>
          </p:cNvPr>
          <p:cNvSpPr>
            <a:spLocks noGrp="1"/>
          </p:cNvSpPr>
          <p:nvPr>
            <p:ph type="sldNum" sz="quarter" idx="4"/>
          </p:nvPr>
        </p:nvSpPr>
        <p:spPr>
          <a:xfrm>
            <a:off x="11530018" y="6240333"/>
            <a:ext cx="432486" cy="294041"/>
          </a:xfrm>
          <a:prstGeom prst="rect">
            <a:avLst/>
          </a:prstGeom>
        </p:spPr>
        <p:txBody>
          <a:bodyPr lIns="0" tIns="0" rIns="0" bIns="0" anchor="ctr"/>
          <a:lstStyle>
            <a:lvl1pPr algn="ctr">
              <a:defRPr sz="1400">
                <a:solidFill>
                  <a:schemeClr val="tx1"/>
                </a:solidFill>
              </a:defRPr>
            </a:lvl1pPr>
          </a:lstStyle>
          <a:p>
            <a:fld id="{933A556B-7C63-244D-9B7C-B0EA8042B330}" type="slidenum">
              <a:rPr lang="en-US" smtClean="0"/>
              <a:pPr/>
              <a:t>‹#›</a:t>
            </a:fld>
            <a:endParaRPr lang="en-US"/>
          </a:p>
        </p:txBody>
      </p:sp>
      <p:sp>
        <p:nvSpPr>
          <p:cNvPr id="8" name="Title Placeholder 1">
            <a:extLst>
              <a:ext uri="{FF2B5EF4-FFF2-40B4-BE49-F238E27FC236}">
                <a16:creationId xmlns:a16="http://schemas.microsoft.com/office/drawing/2014/main" id="{7E7747BA-6145-3552-2339-5F4BF5DF2FDE}"/>
              </a:ext>
            </a:extLst>
          </p:cNvPr>
          <p:cNvSpPr>
            <a:spLocks noGrp="1"/>
          </p:cNvSpPr>
          <p:nvPr>
            <p:ph type="title"/>
          </p:nvPr>
        </p:nvSpPr>
        <p:spPr>
          <a:xfrm>
            <a:off x="462579" y="0"/>
            <a:ext cx="11499925" cy="825178"/>
          </a:xfrm>
          <a:prstGeom prst="rect">
            <a:avLst/>
          </a:prstGeom>
        </p:spPr>
        <p:txBody>
          <a:bodyPr vert="horz" lIns="91440" tIns="45720" rIns="91440" bIns="45720" rtlCol="0" anchor="ctr">
            <a:normAutofit/>
          </a:bodyPr>
          <a:lstStyle/>
          <a:p>
            <a:r>
              <a:rPr lang="en-US"/>
              <a:t>Click to edit Master title style</a:t>
            </a:r>
          </a:p>
        </p:txBody>
      </p:sp>
      <p:sp>
        <p:nvSpPr>
          <p:cNvPr id="9" name="Text Placeholder 2">
            <a:extLst>
              <a:ext uri="{FF2B5EF4-FFF2-40B4-BE49-F238E27FC236}">
                <a16:creationId xmlns:a16="http://schemas.microsoft.com/office/drawing/2014/main" id="{C65258C7-5BE3-51E9-6313-6F03042F389D}"/>
              </a:ext>
            </a:extLst>
          </p:cNvPr>
          <p:cNvSpPr>
            <a:spLocks noGrp="1"/>
          </p:cNvSpPr>
          <p:nvPr>
            <p:ph idx="1"/>
          </p:nvPr>
        </p:nvSpPr>
        <p:spPr>
          <a:xfrm>
            <a:off x="462579" y="975365"/>
            <a:ext cx="11499925" cy="486585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2">
            <a:extLst>
              <a:ext uri="{FF2B5EF4-FFF2-40B4-BE49-F238E27FC236}">
                <a16:creationId xmlns:a16="http://schemas.microsoft.com/office/drawing/2014/main" id="{30C71E18-8584-A0E2-3682-9547339B30E0}"/>
              </a:ext>
            </a:extLst>
          </p:cNvPr>
          <p:cNvSpPr>
            <a:spLocks noGrp="1"/>
          </p:cNvSpPr>
          <p:nvPr>
            <p:ph type="body" sz="quarter" idx="11"/>
          </p:nvPr>
        </p:nvSpPr>
        <p:spPr>
          <a:xfrm>
            <a:off x="6001373" y="6240332"/>
            <a:ext cx="3151015" cy="294041"/>
          </a:xfrm>
        </p:spPr>
        <p:txBody>
          <a:bodyPr>
            <a:noAutofit/>
          </a:bodyPr>
          <a:lstStyle>
            <a:lvl1pPr marL="0" indent="0" algn="ctr">
              <a:buNone/>
              <a:defRPr sz="1400"/>
            </a:lvl1pPr>
            <a:lvl2pPr marL="457200" indent="0">
              <a:buNone/>
              <a:defRPr sz="1000"/>
            </a:lvl2pPr>
            <a:lvl3pPr marL="914400" indent="0">
              <a:buNone/>
              <a:defRPr sz="1000"/>
            </a:lvl3pPr>
            <a:lvl4pPr marL="1371600" indent="0">
              <a:buNone/>
              <a:defRPr sz="1000"/>
            </a:lvl4pPr>
            <a:lvl5pPr marL="1828800" indent="0">
              <a:buNone/>
              <a:defRPr sz="1000"/>
            </a:lvl5pPr>
          </a:lstStyle>
          <a:p>
            <a:pPr lvl="0"/>
            <a:endParaRPr lang="en-US"/>
          </a:p>
        </p:txBody>
      </p:sp>
    </p:spTree>
    <p:extLst>
      <p:ext uri="{BB962C8B-B14F-4D97-AF65-F5344CB8AC3E}">
        <p14:creationId xmlns:p14="http://schemas.microsoft.com/office/powerpoint/2010/main" val="2180848414"/>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FD422-CF21-5F4B-9F3C-D943F67A9BE0}"/>
              </a:ext>
            </a:extLst>
          </p:cNvPr>
          <p:cNvSpPr>
            <a:spLocks noGrp="1"/>
          </p:cNvSpPr>
          <p:nvPr>
            <p:ph type="ctrTitle" hasCustomPrompt="1"/>
          </p:nvPr>
        </p:nvSpPr>
        <p:spPr>
          <a:xfrm>
            <a:off x="813175" y="1481540"/>
            <a:ext cx="10334625" cy="1947460"/>
          </a:xfrm>
        </p:spPr>
        <p:txBody>
          <a:bodyPr anchor="t" anchorCtr="0"/>
          <a:lstStyle>
            <a:lvl1pPr algn="l">
              <a:defRPr sz="6000" b="1" i="0">
                <a:solidFill>
                  <a:schemeClr val="bg1"/>
                </a:solidFill>
                <a:latin typeface="+mn-lt"/>
                <a:cs typeface="Arial" panose="020B0604020202020204" pitchFamily="34" charset="0"/>
              </a:defRPr>
            </a:lvl1pPr>
          </a:lstStyle>
          <a:p>
            <a:r>
              <a:rPr lang="en-US"/>
              <a:t>Click To Edit Master Title Style</a:t>
            </a:r>
          </a:p>
        </p:txBody>
      </p:sp>
      <p:sp>
        <p:nvSpPr>
          <p:cNvPr id="3" name="Subtitle 2">
            <a:extLst>
              <a:ext uri="{FF2B5EF4-FFF2-40B4-BE49-F238E27FC236}">
                <a16:creationId xmlns:a16="http://schemas.microsoft.com/office/drawing/2014/main" id="{B4A5F0DF-C789-3B48-88B2-EEF178B1680D}"/>
              </a:ext>
            </a:extLst>
          </p:cNvPr>
          <p:cNvSpPr>
            <a:spLocks noGrp="1"/>
          </p:cNvSpPr>
          <p:nvPr>
            <p:ph type="subTitle" idx="1"/>
          </p:nvPr>
        </p:nvSpPr>
        <p:spPr>
          <a:xfrm>
            <a:off x="813175" y="4712963"/>
            <a:ext cx="10334625" cy="746185"/>
          </a:xfrm>
        </p:spPr>
        <p:txBody>
          <a:bodyPr>
            <a:normAutofit/>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Text Placeholder 4">
            <a:extLst>
              <a:ext uri="{FF2B5EF4-FFF2-40B4-BE49-F238E27FC236}">
                <a16:creationId xmlns:a16="http://schemas.microsoft.com/office/drawing/2014/main" id="{4B87851E-C1E1-6E46-8D1B-95D6C1888590}"/>
              </a:ext>
            </a:extLst>
          </p:cNvPr>
          <p:cNvSpPr>
            <a:spLocks noGrp="1"/>
          </p:cNvSpPr>
          <p:nvPr>
            <p:ph type="body" sz="quarter" idx="10"/>
          </p:nvPr>
        </p:nvSpPr>
        <p:spPr>
          <a:xfrm>
            <a:off x="813175" y="3441178"/>
            <a:ext cx="10334625" cy="1259607"/>
          </a:xfrm>
        </p:spPr>
        <p:txBody>
          <a:bodyPr>
            <a:noAutofit/>
          </a:bodyPr>
          <a:lstStyle>
            <a:lvl1pPr marL="0" indent="0">
              <a:buFontTx/>
              <a:buNone/>
              <a:defRPr sz="2400">
                <a:solidFill>
                  <a:schemeClr val="bg1"/>
                </a:solidFill>
              </a:defRPr>
            </a:lvl1pPr>
            <a:lvl2pPr marL="457200" indent="0">
              <a:buFontTx/>
              <a:buNone/>
              <a:defRPr sz="2000"/>
            </a:lvl2pPr>
            <a:lvl3pPr marL="914400" indent="0">
              <a:buFontTx/>
              <a:buNone/>
              <a:defRPr sz="2000"/>
            </a:lvl3pPr>
            <a:lvl4pPr marL="1371600" indent="0">
              <a:buFontTx/>
              <a:buNone/>
              <a:defRPr sz="2000"/>
            </a:lvl4pPr>
            <a:lvl5pPr marL="1828800" indent="0">
              <a:buFontTx/>
              <a:buNone/>
              <a:defRPr sz="2000"/>
            </a:lvl5pPr>
          </a:lstStyle>
          <a:p>
            <a:pPr lvl="0"/>
            <a:r>
              <a:rPr lang="en-US"/>
              <a:t>Click to edit Master text styles</a:t>
            </a:r>
          </a:p>
        </p:txBody>
      </p:sp>
      <p:pic>
        <p:nvPicPr>
          <p:cNvPr id="8" name="Picture 7">
            <a:extLst>
              <a:ext uri="{FF2B5EF4-FFF2-40B4-BE49-F238E27FC236}">
                <a16:creationId xmlns:a16="http://schemas.microsoft.com/office/drawing/2014/main" id="{276D9F0E-4B80-0FD1-A24A-1C1B60A4BB47}"/>
              </a:ext>
            </a:extLst>
          </p:cNvPr>
          <p:cNvPicPr>
            <a:picLocks noChangeAspect="1"/>
          </p:cNvPicPr>
          <p:nvPr userDrawn="1"/>
        </p:nvPicPr>
        <p:blipFill>
          <a:blip r:embed="rId3"/>
          <a:srcRect/>
          <a:stretch/>
        </p:blipFill>
        <p:spPr>
          <a:xfrm>
            <a:off x="6983308" y="450531"/>
            <a:ext cx="1787236" cy="457200"/>
          </a:xfrm>
          <a:prstGeom prst="rect">
            <a:avLst/>
          </a:prstGeom>
        </p:spPr>
      </p:pic>
      <p:pic>
        <p:nvPicPr>
          <p:cNvPr id="10" name="Picture 9">
            <a:extLst>
              <a:ext uri="{FF2B5EF4-FFF2-40B4-BE49-F238E27FC236}">
                <a16:creationId xmlns:a16="http://schemas.microsoft.com/office/drawing/2014/main" id="{70496317-0189-6060-26F4-32FD05088972}"/>
              </a:ext>
            </a:extLst>
          </p:cNvPr>
          <p:cNvPicPr>
            <a:picLocks noChangeAspect="1"/>
          </p:cNvPicPr>
          <p:nvPr userDrawn="1"/>
        </p:nvPicPr>
        <p:blipFill>
          <a:blip r:embed="rId4"/>
          <a:stretch>
            <a:fillRect/>
          </a:stretch>
        </p:blipFill>
        <p:spPr>
          <a:xfrm>
            <a:off x="4655554" y="457965"/>
            <a:ext cx="1825604" cy="457200"/>
          </a:xfrm>
          <a:prstGeom prst="rect">
            <a:avLst/>
          </a:prstGeom>
        </p:spPr>
      </p:pic>
      <p:pic>
        <p:nvPicPr>
          <p:cNvPr id="7" name="Picture 6" descr="A black background with white text&#10;&#10;Description automatically generated">
            <a:extLst>
              <a:ext uri="{FF2B5EF4-FFF2-40B4-BE49-F238E27FC236}">
                <a16:creationId xmlns:a16="http://schemas.microsoft.com/office/drawing/2014/main" id="{2C982CCA-1B74-BF6E-B229-11EF11E8D20A}"/>
              </a:ext>
            </a:extLst>
          </p:cNvPr>
          <p:cNvPicPr>
            <a:picLocks noChangeAspect="1"/>
          </p:cNvPicPr>
          <p:nvPr userDrawn="1"/>
        </p:nvPicPr>
        <p:blipFill>
          <a:blip r:embed="rId5"/>
          <a:stretch>
            <a:fillRect/>
          </a:stretch>
        </p:blipFill>
        <p:spPr>
          <a:xfrm>
            <a:off x="9294996" y="480267"/>
            <a:ext cx="2309706" cy="408248"/>
          </a:xfrm>
          <a:prstGeom prst="rect">
            <a:avLst/>
          </a:prstGeom>
        </p:spPr>
      </p:pic>
    </p:spTree>
    <p:extLst>
      <p:ext uri="{BB962C8B-B14F-4D97-AF65-F5344CB8AC3E}">
        <p14:creationId xmlns:p14="http://schemas.microsoft.com/office/powerpoint/2010/main" val="275807811"/>
      </p:ext>
    </p:extLst>
  </p:cSld>
  <p:clrMapOvr>
    <a:masterClrMapping/>
  </p:clrMapOvr>
  <p:hf hdr="0" dt="0"/>
  <p:extLst>
    <p:ext uri="{DCECCB84-F9BA-43D5-87BE-67443E8EF086}">
      <p15:sldGuideLst xmlns:p15="http://schemas.microsoft.com/office/powerpoint/2012/main">
        <p15:guide id="7" orient="horz" pos="2160">
          <p15:clr>
            <a:srgbClr val="FBAE40"/>
          </p15:clr>
        </p15:guide>
        <p15:guide id="8" pos="3840">
          <p15:clr>
            <a:srgbClr val="FBAE40"/>
          </p15:clr>
        </p15:guide>
        <p15:guide id="9" orient="horz" pos="3888">
          <p15:clr>
            <a:srgbClr val="FBAE40"/>
          </p15:clr>
        </p15:guide>
        <p15:guide id="10" pos="360">
          <p15:clr>
            <a:srgbClr val="FBAE40"/>
          </p15:clr>
        </p15:guide>
        <p15:guide id="11" pos="7320">
          <p15:clr>
            <a:srgbClr val="FBAE40"/>
          </p15:clr>
        </p15:guide>
        <p15:guide id="12" orient="horz" pos="398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84785F67-179E-4145-8BCB-4A0C61A894B6}"/>
              </a:ext>
            </a:extLst>
          </p:cNvPr>
          <p:cNvSpPr>
            <a:spLocks noGrp="1"/>
          </p:cNvSpPr>
          <p:nvPr>
            <p:ph type="sldNum" sz="quarter" idx="4"/>
          </p:nvPr>
        </p:nvSpPr>
        <p:spPr>
          <a:xfrm>
            <a:off x="11530018" y="6316595"/>
            <a:ext cx="432486" cy="365125"/>
          </a:xfrm>
          <a:prstGeom prst="rect">
            <a:avLst/>
          </a:prstGeom>
        </p:spPr>
        <p:txBody>
          <a:bodyPr lIns="0" tIns="0" rIns="0" bIns="0" anchor="ctr"/>
          <a:lstStyle>
            <a:lvl1pPr algn="ctr">
              <a:defRPr sz="1000"/>
            </a:lvl1pPr>
          </a:lstStyle>
          <a:p>
            <a:pPr algn="ctr"/>
            <a:fld id="{933A556B-7C63-244D-9B7C-B0EA8042B330}" type="slidenum">
              <a:rPr lang="en-US" smtClean="0"/>
              <a:pPr algn="ctr"/>
              <a:t>‹#›</a:t>
            </a:fld>
            <a:endParaRPr lang="en-US"/>
          </a:p>
        </p:txBody>
      </p:sp>
      <p:sp>
        <p:nvSpPr>
          <p:cNvPr id="8" name="Title Placeholder 1">
            <a:extLst>
              <a:ext uri="{FF2B5EF4-FFF2-40B4-BE49-F238E27FC236}">
                <a16:creationId xmlns:a16="http://schemas.microsoft.com/office/drawing/2014/main" id="{7E7747BA-6145-3552-2339-5F4BF5DF2FDE}"/>
              </a:ext>
            </a:extLst>
          </p:cNvPr>
          <p:cNvSpPr>
            <a:spLocks noGrp="1"/>
          </p:cNvSpPr>
          <p:nvPr>
            <p:ph type="title"/>
          </p:nvPr>
        </p:nvSpPr>
        <p:spPr>
          <a:xfrm>
            <a:off x="462579" y="0"/>
            <a:ext cx="11499925" cy="825178"/>
          </a:xfrm>
          <a:prstGeom prst="rect">
            <a:avLst/>
          </a:prstGeom>
        </p:spPr>
        <p:txBody>
          <a:bodyPr vert="horz" lIns="91440" tIns="45720" rIns="91440" bIns="45720" rtlCol="0" anchor="ctr">
            <a:normAutofit/>
          </a:bodyPr>
          <a:lstStyle/>
          <a:p>
            <a:r>
              <a:rPr lang="en-US"/>
              <a:t>Click to edit Master title style</a:t>
            </a:r>
          </a:p>
        </p:txBody>
      </p:sp>
      <p:sp>
        <p:nvSpPr>
          <p:cNvPr id="9" name="Text Placeholder 2">
            <a:extLst>
              <a:ext uri="{FF2B5EF4-FFF2-40B4-BE49-F238E27FC236}">
                <a16:creationId xmlns:a16="http://schemas.microsoft.com/office/drawing/2014/main" id="{C65258C7-5BE3-51E9-6313-6F03042F389D}"/>
              </a:ext>
            </a:extLst>
          </p:cNvPr>
          <p:cNvSpPr>
            <a:spLocks noGrp="1"/>
          </p:cNvSpPr>
          <p:nvPr>
            <p:ph idx="1"/>
          </p:nvPr>
        </p:nvSpPr>
        <p:spPr>
          <a:xfrm>
            <a:off x="462579" y="975365"/>
            <a:ext cx="11499925" cy="486585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a:extLst>
              <a:ext uri="{FF2B5EF4-FFF2-40B4-BE49-F238E27FC236}">
                <a16:creationId xmlns:a16="http://schemas.microsoft.com/office/drawing/2014/main" id="{A043A592-2C2C-1149-FE30-72A494F27799}"/>
              </a:ext>
            </a:extLst>
          </p:cNvPr>
          <p:cNvSpPr>
            <a:spLocks noGrp="1"/>
          </p:cNvSpPr>
          <p:nvPr>
            <p:ph type="body" sz="quarter" idx="10" hasCustomPrompt="1"/>
          </p:nvPr>
        </p:nvSpPr>
        <p:spPr>
          <a:xfrm>
            <a:off x="3485192" y="6316595"/>
            <a:ext cx="2659380" cy="365125"/>
          </a:xfrm>
        </p:spPr>
        <p:txBody>
          <a:bodyPr>
            <a:noAutofit/>
          </a:bodyPr>
          <a:lstStyle>
            <a:lvl1pPr marL="0" indent="0" algn="ctr">
              <a:buNone/>
              <a:defRPr sz="1200"/>
            </a:lvl1pPr>
            <a:lvl2pPr marL="457200" indent="0">
              <a:buNone/>
              <a:defRPr sz="1000"/>
            </a:lvl2pPr>
            <a:lvl3pPr marL="914400" indent="0">
              <a:buNone/>
              <a:defRPr sz="1000"/>
            </a:lvl3pPr>
            <a:lvl4pPr marL="1371600" indent="0">
              <a:buNone/>
              <a:defRPr sz="1000"/>
            </a:lvl4pPr>
            <a:lvl5pPr marL="1828800" indent="0">
              <a:buNone/>
              <a:defRPr sz="1000"/>
            </a:lvl5pPr>
          </a:lstStyle>
          <a:p>
            <a:pPr lvl="0"/>
            <a:r>
              <a:rPr lang="en-US"/>
              <a:t>Title of Meeting/Review</a:t>
            </a:r>
          </a:p>
        </p:txBody>
      </p:sp>
      <p:sp>
        <p:nvSpPr>
          <p:cNvPr id="4" name="Text Placeholder 2">
            <a:extLst>
              <a:ext uri="{FF2B5EF4-FFF2-40B4-BE49-F238E27FC236}">
                <a16:creationId xmlns:a16="http://schemas.microsoft.com/office/drawing/2014/main" id="{30C71E18-8584-A0E2-3682-9547339B30E0}"/>
              </a:ext>
            </a:extLst>
          </p:cNvPr>
          <p:cNvSpPr>
            <a:spLocks noGrp="1"/>
          </p:cNvSpPr>
          <p:nvPr>
            <p:ph type="body" sz="quarter" idx="11" hasCustomPrompt="1"/>
          </p:nvPr>
        </p:nvSpPr>
        <p:spPr>
          <a:xfrm>
            <a:off x="7094220" y="6316595"/>
            <a:ext cx="2659380" cy="365125"/>
          </a:xfrm>
        </p:spPr>
        <p:txBody>
          <a:bodyPr>
            <a:noAutofit/>
          </a:bodyPr>
          <a:lstStyle>
            <a:lvl1pPr marL="0" indent="0" algn="ctr">
              <a:buNone/>
              <a:defRPr sz="1200"/>
            </a:lvl1pPr>
            <a:lvl2pPr marL="457200" indent="0">
              <a:buNone/>
              <a:defRPr sz="1000"/>
            </a:lvl2pPr>
            <a:lvl3pPr marL="914400" indent="0">
              <a:buNone/>
              <a:defRPr sz="1000"/>
            </a:lvl3pPr>
            <a:lvl4pPr marL="1371600" indent="0">
              <a:buNone/>
              <a:defRPr sz="1000"/>
            </a:lvl4pPr>
            <a:lvl5pPr marL="1828800" indent="0">
              <a:buNone/>
              <a:defRPr sz="1000"/>
            </a:lvl5pPr>
          </a:lstStyle>
          <a:p>
            <a:pPr lvl="0"/>
            <a:r>
              <a:rPr lang="en-US"/>
              <a:t>Name of Presenter</a:t>
            </a:r>
          </a:p>
        </p:txBody>
      </p:sp>
    </p:spTree>
    <p:extLst>
      <p:ext uri="{BB962C8B-B14F-4D97-AF65-F5344CB8AC3E}">
        <p14:creationId xmlns:p14="http://schemas.microsoft.com/office/powerpoint/2010/main" val="1610016433"/>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B965E-00C4-6F4C-8817-84A69C14D22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8926A3-B154-C14C-BFED-E141D3C8B7D4}"/>
              </a:ext>
            </a:extLst>
          </p:cNvPr>
          <p:cNvSpPr>
            <a:spLocks noGrp="1"/>
          </p:cNvSpPr>
          <p:nvPr>
            <p:ph sz="half" idx="1"/>
          </p:nvPr>
        </p:nvSpPr>
        <p:spPr>
          <a:xfrm>
            <a:off x="462579" y="975360"/>
            <a:ext cx="5524500" cy="489111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940C922-34CF-D846-A402-06F51B18941E}"/>
              </a:ext>
            </a:extLst>
          </p:cNvPr>
          <p:cNvSpPr>
            <a:spLocks noGrp="1"/>
          </p:cNvSpPr>
          <p:nvPr>
            <p:ph sz="half" idx="2"/>
          </p:nvPr>
        </p:nvSpPr>
        <p:spPr>
          <a:xfrm>
            <a:off x="6204923" y="975360"/>
            <a:ext cx="5755084" cy="489111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71868AE-308B-D548-82A1-318656FC5556}"/>
              </a:ext>
            </a:extLst>
          </p:cNvPr>
          <p:cNvSpPr>
            <a:spLocks noGrp="1"/>
          </p:cNvSpPr>
          <p:nvPr>
            <p:ph type="sldNum" sz="quarter" idx="4"/>
          </p:nvPr>
        </p:nvSpPr>
        <p:spPr>
          <a:xfrm>
            <a:off x="11527522" y="6316595"/>
            <a:ext cx="432486" cy="365125"/>
          </a:xfrm>
          <a:prstGeom prst="rect">
            <a:avLst/>
          </a:prstGeom>
        </p:spPr>
        <p:txBody>
          <a:bodyPr lIns="0" tIns="0" rIns="0" bIns="0" anchor="ctr"/>
          <a:lstStyle>
            <a:lvl1pPr algn="ctr">
              <a:defRPr sz="1000"/>
            </a:lvl1pPr>
          </a:lstStyle>
          <a:p>
            <a:pPr algn="ctr"/>
            <a:fld id="{933A556B-7C63-244D-9B7C-B0EA8042B330}" type="slidenum">
              <a:rPr lang="en-US" smtClean="0"/>
              <a:pPr algn="ctr"/>
              <a:t>‹#›</a:t>
            </a:fld>
            <a:endParaRPr lang="en-US"/>
          </a:p>
        </p:txBody>
      </p:sp>
      <p:sp>
        <p:nvSpPr>
          <p:cNvPr id="5" name="Text Placeholder 2">
            <a:extLst>
              <a:ext uri="{FF2B5EF4-FFF2-40B4-BE49-F238E27FC236}">
                <a16:creationId xmlns:a16="http://schemas.microsoft.com/office/drawing/2014/main" id="{0CFA25C5-6468-E921-5CC9-27F4A33A7696}"/>
              </a:ext>
            </a:extLst>
          </p:cNvPr>
          <p:cNvSpPr>
            <a:spLocks noGrp="1"/>
          </p:cNvSpPr>
          <p:nvPr>
            <p:ph type="body" sz="quarter" idx="10" hasCustomPrompt="1"/>
          </p:nvPr>
        </p:nvSpPr>
        <p:spPr>
          <a:xfrm>
            <a:off x="3485192" y="6316595"/>
            <a:ext cx="2659380" cy="365125"/>
          </a:xfrm>
        </p:spPr>
        <p:txBody>
          <a:bodyPr>
            <a:noAutofit/>
          </a:bodyPr>
          <a:lstStyle>
            <a:lvl1pPr marL="0" indent="0" algn="ctr">
              <a:buNone/>
              <a:defRPr sz="1200"/>
            </a:lvl1pPr>
            <a:lvl2pPr marL="457200" indent="0">
              <a:buNone/>
              <a:defRPr sz="1000"/>
            </a:lvl2pPr>
            <a:lvl3pPr marL="914400" indent="0">
              <a:buNone/>
              <a:defRPr sz="1000"/>
            </a:lvl3pPr>
            <a:lvl4pPr marL="1371600" indent="0">
              <a:buNone/>
              <a:defRPr sz="1000"/>
            </a:lvl4pPr>
            <a:lvl5pPr marL="1828800" indent="0">
              <a:buNone/>
              <a:defRPr sz="1000"/>
            </a:lvl5pPr>
          </a:lstStyle>
          <a:p>
            <a:pPr lvl="0"/>
            <a:r>
              <a:rPr lang="en-US"/>
              <a:t>Title of Meeting/Review</a:t>
            </a:r>
          </a:p>
        </p:txBody>
      </p:sp>
      <p:sp>
        <p:nvSpPr>
          <p:cNvPr id="7" name="Text Placeholder 2">
            <a:extLst>
              <a:ext uri="{FF2B5EF4-FFF2-40B4-BE49-F238E27FC236}">
                <a16:creationId xmlns:a16="http://schemas.microsoft.com/office/drawing/2014/main" id="{6395F968-4504-BF25-C965-31E73F66167E}"/>
              </a:ext>
            </a:extLst>
          </p:cNvPr>
          <p:cNvSpPr>
            <a:spLocks noGrp="1"/>
          </p:cNvSpPr>
          <p:nvPr>
            <p:ph type="body" sz="quarter" idx="11" hasCustomPrompt="1"/>
          </p:nvPr>
        </p:nvSpPr>
        <p:spPr>
          <a:xfrm>
            <a:off x="7094220" y="6316595"/>
            <a:ext cx="2659380" cy="365125"/>
          </a:xfrm>
        </p:spPr>
        <p:txBody>
          <a:bodyPr>
            <a:noAutofit/>
          </a:bodyPr>
          <a:lstStyle>
            <a:lvl1pPr marL="0" indent="0" algn="ctr">
              <a:buNone/>
              <a:defRPr sz="1200"/>
            </a:lvl1pPr>
            <a:lvl2pPr marL="457200" indent="0">
              <a:buNone/>
              <a:defRPr sz="1000"/>
            </a:lvl2pPr>
            <a:lvl3pPr marL="914400" indent="0">
              <a:buNone/>
              <a:defRPr sz="1000"/>
            </a:lvl3pPr>
            <a:lvl4pPr marL="1371600" indent="0">
              <a:buNone/>
              <a:defRPr sz="1000"/>
            </a:lvl4pPr>
            <a:lvl5pPr marL="1828800" indent="0">
              <a:buNone/>
              <a:defRPr sz="1000"/>
            </a:lvl5pPr>
          </a:lstStyle>
          <a:p>
            <a:pPr lvl="0"/>
            <a:r>
              <a:rPr lang="en-US"/>
              <a:t>Name of Presenter</a:t>
            </a:r>
          </a:p>
        </p:txBody>
      </p:sp>
    </p:spTree>
    <p:extLst>
      <p:ext uri="{BB962C8B-B14F-4D97-AF65-F5344CB8AC3E}">
        <p14:creationId xmlns:p14="http://schemas.microsoft.com/office/powerpoint/2010/main" val="519536384"/>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CD9BCDB3-24E9-1B4D-0A74-4298674A99F5}"/>
              </a:ext>
            </a:extLst>
          </p:cNvPr>
          <p:cNvSpPr>
            <a:spLocks noGrp="1"/>
          </p:cNvSpPr>
          <p:nvPr>
            <p:ph type="sldNum" sz="quarter" idx="4"/>
          </p:nvPr>
        </p:nvSpPr>
        <p:spPr>
          <a:xfrm>
            <a:off x="11527522" y="6316595"/>
            <a:ext cx="432486" cy="365125"/>
          </a:xfrm>
          <a:prstGeom prst="rect">
            <a:avLst/>
          </a:prstGeom>
        </p:spPr>
        <p:txBody>
          <a:bodyPr lIns="0" tIns="0" rIns="0" bIns="0" anchor="ctr"/>
          <a:lstStyle>
            <a:lvl1pPr algn="ctr">
              <a:defRPr sz="1000"/>
            </a:lvl1pPr>
          </a:lstStyle>
          <a:p>
            <a:pPr algn="ctr"/>
            <a:fld id="{933A556B-7C63-244D-9B7C-B0EA8042B330}" type="slidenum">
              <a:rPr lang="en-US" smtClean="0"/>
              <a:pPr algn="ctr"/>
              <a:t>‹#›</a:t>
            </a:fld>
            <a:endParaRPr lang="en-US"/>
          </a:p>
        </p:txBody>
      </p:sp>
      <p:sp>
        <p:nvSpPr>
          <p:cNvPr id="3" name="Text Placeholder 2">
            <a:extLst>
              <a:ext uri="{FF2B5EF4-FFF2-40B4-BE49-F238E27FC236}">
                <a16:creationId xmlns:a16="http://schemas.microsoft.com/office/drawing/2014/main" id="{388DB6E2-DDA3-22B8-7251-F0B132B676AF}"/>
              </a:ext>
            </a:extLst>
          </p:cNvPr>
          <p:cNvSpPr>
            <a:spLocks noGrp="1"/>
          </p:cNvSpPr>
          <p:nvPr>
            <p:ph type="body" sz="quarter" idx="10" hasCustomPrompt="1"/>
          </p:nvPr>
        </p:nvSpPr>
        <p:spPr>
          <a:xfrm>
            <a:off x="3485192" y="6316595"/>
            <a:ext cx="2659380" cy="365125"/>
          </a:xfrm>
        </p:spPr>
        <p:txBody>
          <a:bodyPr>
            <a:noAutofit/>
          </a:bodyPr>
          <a:lstStyle>
            <a:lvl1pPr marL="0" indent="0" algn="ctr">
              <a:buNone/>
              <a:defRPr sz="1200"/>
            </a:lvl1pPr>
            <a:lvl2pPr marL="457200" indent="0">
              <a:buNone/>
              <a:defRPr sz="1000"/>
            </a:lvl2pPr>
            <a:lvl3pPr marL="914400" indent="0">
              <a:buNone/>
              <a:defRPr sz="1000"/>
            </a:lvl3pPr>
            <a:lvl4pPr marL="1371600" indent="0">
              <a:buNone/>
              <a:defRPr sz="1000"/>
            </a:lvl4pPr>
            <a:lvl5pPr marL="1828800" indent="0">
              <a:buNone/>
              <a:defRPr sz="1000"/>
            </a:lvl5pPr>
          </a:lstStyle>
          <a:p>
            <a:pPr lvl="0"/>
            <a:r>
              <a:rPr lang="en-US"/>
              <a:t>Title of Meeting/Review</a:t>
            </a:r>
          </a:p>
        </p:txBody>
      </p:sp>
      <p:sp>
        <p:nvSpPr>
          <p:cNvPr id="4" name="Text Placeholder 2">
            <a:extLst>
              <a:ext uri="{FF2B5EF4-FFF2-40B4-BE49-F238E27FC236}">
                <a16:creationId xmlns:a16="http://schemas.microsoft.com/office/drawing/2014/main" id="{E439522C-42D3-98C9-C46E-2F2D03D4359E}"/>
              </a:ext>
            </a:extLst>
          </p:cNvPr>
          <p:cNvSpPr>
            <a:spLocks noGrp="1"/>
          </p:cNvSpPr>
          <p:nvPr>
            <p:ph type="body" sz="quarter" idx="11" hasCustomPrompt="1"/>
          </p:nvPr>
        </p:nvSpPr>
        <p:spPr>
          <a:xfrm>
            <a:off x="7094220" y="6316595"/>
            <a:ext cx="2659380" cy="365125"/>
          </a:xfrm>
        </p:spPr>
        <p:txBody>
          <a:bodyPr>
            <a:noAutofit/>
          </a:bodyPr>
          <a:lstStyle>
            <a:lvl1pPr marL="0" indent="0" algn="ctr">
              <a:buNone/>
              <a:defRPr sz="1200"/>
            </a:lvl1pPr>
            <a:lvl2pPr marL="457200" indent="0">
              <a:buNone/>
              <a:defRPr sz="1000"/>
            </a:lvl2pPr>
            <a:lvl3pPr marL="914400" indent="0">
              <a:buNone/>
              <a:defRPr sz="1000"/>
            </a:lvl3pPr>
            <a:lvl4pPr marL="1371600" indent="0">
              <a:buNone/>
              <a:defRPr sz="1000"/>
            </a:lvl4pPr>
            <a:lvl5pPr marL="1828800" indent="0">
              <a:buNone/>
              <a:defRPr sz="1000"/>
            </a:lvl5pPr>
          </a:lstStyle>
          <a:p>
            <a:pPr lvl="0"/>
            <a:r>
              <a:rPr lang="en-US"/>
              <a:t>Name of Presenter</a:t>
            </a:r>
          </a:p>
        </p:txBody>
      </p:sp>
      <p:cxnSp>
        <p:nvCxnSpPr>
          <p:cNvPr id="5" name="Straight Connector 4">
            <a:extLst>
              <a:ext uri="{FF2B5EF4-FFF2-40B4-BE49-F238E27FC236}">
                <a16:creationId xmlns:a16="http://schemas.microsoft.com/office/drawing/2014/main" id="{8D45B976-F9BD-96F9-4119-FEAF693C373D}"/>
              </a:ext>
            </a:extLst>
          </p:cNvPr>
          <p:cNvCxnSpPr/>
          <p:nvPr userDrawn="1"/>
        </p:nvCxnSpPr>
        <p:spPr>
          <a:xfrm>
            <a:off x="462579" y="6111240"/>
            <a:ext cx="11499925"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889558644"/>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3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84785F67-179E-4145-8BCB-4A0C61A894B6}"/>
              </a:ext>
            </a:extLst>
          </p:cNvPr>
          <p:cNvSpPr>
            <a:spLocks noGrp="1"/>
          </p:cNvSpPr>
          <p:nvPr>
            <p:ph type="sldNum" sz="quarter" idx="4"/>
          </p:nvPr>
        </p:nvSpPr>
        <p:spPr>
          <a:xfrm>
            <a:off x="11451649" y="6533724"/>
            <a:ext cx="432486" cy="294041"/>
          </a:xfrm>
          <a:prstGeom prst="rect">
            <a:avLst/>
          </a:prstGeom>
        </p:spPr>
        <p:txBody>
          <a:bodyPr lIns="0" tIns="0" rIns="0" bIns="0" anchor="ctr"/>
          <a:lstStyle>
            <a:lvl1pPr algn="ctr">
              <a:defRPr sz="1000">
                <a:solidFill>
                  <a:schemeClr val="tx1"/>
                </a:solidFill>
              </a:defRPr>
            </a:lvl1pPr>
          </a:lstStyle>
          <a:p>
            <a:fld id="{933A556B-7C63-244D-9B7C-B0EA8042B330}" type="slidenum">
              <a:rPr lang="en-US" smtClean="0"/>
              <a:pPr/>
              <a:t>‹#›</a:t>
            </a:fld>
            <a:endParaRPr lang="en-US"/>
          </a:p>
        </p:txBody>
      </p:sp>
      <p:sp>
        <p:nvSpPr>
          <p:cNvPr id="8" name="Title Placeholder 1">
            <a:extLst>
              <a:ext uri="{FF2B5EF4-FFF2-40B4-BE49-F238E27FC236}">
                <a16:creationId xmlns:a16="http://schemas.microsoft.com/office/drawing/2014/main" id="{7E7747BA-6145-3552-2339-5F4BF5DF2FDE}"/>
              </a:ext>
            </a:extLst>
          </p:cNvPr>
          <p:cNvSpPr>
            <a:spLocks noGrp="1"/>
          </p:cNvSpPr>
          <p:nvPr>
            <p:ph type="title"/>
          </p:nvPr>
        </p:nvSpPr>
        <p:spPr>
          <a:xfrm>
            <a:off x="462579" y="0"/>
            <a:ext cx="11499925" cy="825178"/>
          </a:xfrm>
          <a:prstGeom prst="rect">
            <a:avLst/>
          </a:prstGeom>
        </p:spPr>
        <p:txBody>
          <a:bodyPr vert="horz" lIns="91440" tIns="45720" rIns="91440" bIns="45720" rtlCol="0" anchor="ctr">
            <a:normAutofit/>
          </a:bodyPr>
          <a:lstStyle/>
          <a:p>
            <a:r>
              <a:rPr lang="en-US"/>
              <a:t>Click to edit Master title style</a:t>
            </a:r>
          </a:p>
        </p:txBody>
      </p:sp>
      <p:sp>
        <p:nvSpPr>
          <p:cNvPr id="9" name="Text Placeholder 2">
            <a:extLst>
              <a:ext uri="{FF2B5EF4-FFF2-40B4-BE49-F238E27FC236}">
                <a16:creationId xmlns:a16="http://schemas.microsoft.com/office/drawing/2014/main" id="{C65258C7-5BE3-51E9-6313-6F03042F389D}"/>
              </a:ext>
            </a:extLst>
          </p:cNvPr>
          <p:cNvSpPr>
            <a:spLocks noGrp="1"/>
          </p:cNvSpPr>
          <p:nvPr>
            <p:ph idx="1"/>
          </p:nvPr>
        </p:nvSpPr>
        <p:spPr>
          <a:xfrm>
            <a:off x="462579" y="975365"/>
            <a:ext cx="11499925" cy="486585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3101835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image" Target="../media/image1.jpeg"/><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theme" Target="../theme/theme2.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D7DAAA2-8718-2247-8539-9A0DC22C048C}"/>
              </a:ext>
            </a:extLst>
          </p:cNvPr>
          <p:cNvSpPr>
            <a:spLocks noGrp="1"/>
          </p:cNvSpPr>
          <p:nvPr>
            <p:ph type="title"/>
          </p:nvPr>
        </p:nvSpPr>
        <p:spPr>
          <a:xfrm>
            <a:off x="462579" y="0"/>
            <a:ext cx="11499925" cy="825178"/>
          </a:xfrm>
          <a:prstGeom prst="rect">
            <a:avLst/>
          </a:prstGeom>
        </p:spPr>
        <p:txBody>
          <a:bodyPr vert="horz" lIns="91440" tIns="45720" rIns="91440" bIns="45720" rtlCol="0" anchor="ctr">
            <a:normAutofit/>
          </a:bodyPr>
          <a:lstStyle/>
          <a:p>
            <a:endParaRPr lang="en-US"/>
          </a:p>
        </p:txBody>
      </p:sp>
      <p:sp>
        <p:nvSpPr>
          <p:cNvPr id="3" name="Text Placeholder 2">
            <a:extLst>
              <a:ext uri="{FF2B5EF4-FFF2-40B4-BE49-F238E27FC236}">
                <a16:creationId xmlns:a16="http://schemas.microsoft.com/office/drawing/2014/main" id="{A73056FE-C136-A54B-9DE3-EACD8E08FED9}"/>
              </a:ext>
            </a:extLst>
          </p:cNvPr>
          <p:cNvSpPr>
            <a:spLocks noGrp="1"/>
          </p:cNvSpPr>
          <p:nvPr>
            <p:ph type="body" idx="1"/>
          </p:nvPr>
        </p:nvSpPr>
        <p:spPr>
          <a:xfrm>
            <a:off x="462579" y="975365"/>
            <a:ext cx="11499925" cy="486585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5">
            <a:extLst>
              <a:ext uri="{FF2B5EF4-FFF2-40B4-BE49-F238E27FC236}">
                <a16:creationId xmlns:a16="http://schemas.microsoft.com/office/drawing/2014/main" id="{125833E0-DD3D-DF4F-9316-F67B7A80E307}"/>
              </a:ext>
            </a:extLst>
          </p:cNvPr>
          <p:cNvSpPr>
            <a:spLocks noGrp="1"/>
          </p:cNvSpPr>
          <p:nvPr>
            <p:ph type="sldNum" sz="quarter" idx="4"/>
          </p:nvPr>
        </p:nvSpPr>
        <p:spPr>
          <a:xfrm>
            <a:off x="11530018" y="6316595"/>
            <a:ext cx="432486" cy="365125"/>
          </a:xfrm>
          <a:prstGeom prst="rect">
            <a:avLst/>
          </a:prstGeom>
        </p:spPr>
        <p:txBody>
          <a:bodyPr lIns="0" tIns="0" rIns="0" bIns="0" anchor="ctr"/>
          <a:lstStyle>
            <a:lvl1pPr algn="ctr">
              <a:defRPr sz="1100" b="1">
                <a:solidFill>
                  <a:schemeClr val="tx1"/>
                </a:solidFill>
              </a:defRPr>
            </a:lvl1pPr>
          </a:lstStyle>
          <a:p>
            <a:fld id="{933A556B-7C63-244D-9B7C-B0EA8042B330}" type="slidenum">
              <a:rPr lang="en-US" smtClean="0"/>
              <a:pPr/>
              <a:t>‹#›</a:t>
            </a:fld>
            <a:endParaRPr lang="en-US"/>
          </a:p>
        </p:txBody>
      </p:sp>
      <p:cxnSp>
        <p:nvCxnSpPr>
          <p:cNvPr id="5" name="Straight Connector 4">
            <a:extLst>
              <a:ext uri="{FF2B5EF4-FFF2-40B4-BE49-F238E27FC236}">
                <a16:creationId xmlns:a16="http://schemas.microsoft.com/office/drawing/2014/main" id="{CAB150B5-704F-CF21-3183-8DB97C07706C}"/>
              </a:ext>
            </a:extLst>
          </p:cNvPr>
          <p:cNvCxnSpPr>
            <a:cxnSpLocks/>
          </p:cNvCxnSpPr>
          <p:nvPr userDrawn="1"/>
        </p:nvCxnSpPr>
        <p:spPr>
          <a:xfrm>
            <a:off x="462579" y="825178"/>
            <a:ext cx="11499925" cy="0"/>
          </a:xfrm>
          <a:prstGeom prst="line">
            <a:avLst/>
          </a:prstGeom>
          <a:ln w="25400">
            <a:gradFill>
              <a:gsLst>
                <a:gs pos="0">
                  <a:schemeClr val="bg2"/>
                </a:gs>
                <a:gs pos="100000">
                  <a:schemeClr val="accent5"/>
                </a:gs>
              </a:gsLst>
              <a:lin ang="0" scaled="0"/>
            </a:gra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88E02E5-B6DE-6A8F-1CAC-5B5330D6CCDE}"/>
              </a:ext>
            </a:extLst>
          </p:cNvPr>
          <p:cNvSpPr txBox="1"/>
          <p:nvPr userDrawn="1"/>
        </p:nvSpPr>
        <p:spPr>
          <a:xfrm>
            <a:off x="369881" y="6499156"/>
            <a:ext cx="6734304" cy="276999"/>
          </a:xfrm>
          <a:prstGeom prst="rect">
            <a:avLst/>
          </a:prstGeom>
          <a:noFill/>
        </p:spPr>
        <p:txBody>
          <a:bodyPr wrap="square" rtlCol="0">
            <a:spAutoFit/>
          </a:bodyPr>
          <a:lstStyle/>
          <a:p>
            <a:r>
              <a:rPr lang="en-US" sz="1200">
                <a:solidFill>
                  <a:schemeClr val="tx1"/>
                </a:solidFill>
              </a:rPr>
              <a:t>EIC Accelerator Controls Global Software, Networking, &amp; Computing PDR, June 15-17, 2026</a:t>
            </a:r>
          </a:p>
        </p:txBody>
      </p:sp>
      <p:sp>
        <p:nvSpPr>
          <p:cNvPr id="6" name="TextBox 5">
            <a:extLst>
              <a:ext uri="{FF2B5EF4-FFF2-40B4-BE49-F238E27FC236}">
                <a16:creationId xmlns:a16="http://schemas.microsoft.com/office/drawing/2014/main" id="{B919E955-C13C-09BA-02F0-E5E9FAB7FA75}"/>
              </a:ext>
            </a:extLst>
          </p:cNvPr>
          <p:cNvSpPr txBox="1"/>
          <p:nvPr userDrawn="1"/>
        </p:nvSpPr>
        <p:spPr>
          <a:xfrm>
            <a:off x="8190524" y="6488097"/>
            <a:ext cx="1578708" cy="276999"/>
          </a:xfrm>
          <a:prstGeom prst="rect">
            <a:avLst/>
          </a:prstGeom>
          <a:noFill/>
        </p:spPr>
        <p:txBody>
          <a:bodyPr wrap="square" rtlCol="0">
            <a:spAutoFit/>
          </a:bodyPr>
          <a:lstStyle/>
          <a:p>
            <a:r>
              <a:rPr lang="en-US" sz="1200">
                <a:solidFill>
                  <a:schemeClr val="tx1"/>
                </a:solidFill>
              </a:rPr>
              <a:t>Kunal Shroff</a:t>
            </a:r>
          </a:p>
        </p:txBody>
      </p:sp>
    </p:spTree>
    <p:extLst>
      <p:ext uri="{BB962C8B-B14F-4D97-AF65-F5344CB8AC3E}">
        <p14:creationId xmlns:p14="http://schemas.microsoft.com/office/powerpoint/2010/main" val="5445211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7" r:id="rId4"/>
    <p:sldLayoutId id="2147483668" r:id="rId5"/>
  </p:sldLayoutIdLst>
  <p:hf hdr="0" dt="0"/>
  <p:txStyles>
    <p:titleStyle>
      <a:lvl1pPr algn="l" defTabSz="914400" rtl="0" eaLnBrk="1" latinLnBrk="0" hangingPunct="1">
        <a:lnSpc>
          <a:spcPct val="90000"/>
        </a:lnSpc>
        <a:spcBef>
          <a:spcPct val="0"/>
        </a:spcBef>
        <a:buNone/>
        <a:defRPr sz="4000" b="1" u="none"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orient="horz" pos="2160" userDrawn="1">
          <p15:clr>
            <a:srgbClr val="F26B43"/>
          </p15:clr>
        </p15:guide>
        <p15:guide id="8" pos="3840" userDrawn="1">
          <p15:clr>
            <a:srgbClr val="F26B43"/>
          </p15:clr>
        </p15:guide>
        <p15:guide id="9" pos="360" userDrawn="1">
          <p15:clr>
            <a:srgbClr val="F26B43"/>
          </p15:clr>
        </p15:guide>
        <p15:guide id="10" orient="horz" pos="3888" userDrawn="1">
          <p15:clr>
            <a:srgbClr val="F26B43"/>
          </p15:clr>
        </p15:guide>
        <p15:guide id="11" pos="7320" userDrawn="1">
          <p15:clr>
            <a:srgbClr val="F26B43"/>
          </p15:clr>
        </p15:guide>
        <p15:guide id="12" orient="horz" pos="4128"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D7DAAA2-8718-2247-8539-9A0DC22C048C}"/>
              </a:ext>
            </a:extLst>
          </p:cNvPr>
          <p:cNvSpPr>
            <a:spLocks noGrp="1"/>
          </p:cNvSpPr>
          <p:nvPr>
            <p:ph type="title"/>
          </p:nvPr>
        </p:nvSpPr>
        <p:spPr>
          <a:xfrm>
            <a:off x="462579" y="0"/>
            <a:ext cx="11499925" cy="825178"/>
          </a:xfrm>
          <a:prstGeom prst="rect">
            <a:avLst/>
          </a:prstGeom>
        </p:spPr>
        <p:txBody>
          <a:bodyPr vert="horz" lIns="91440" tIns="45720" rIns="91440" bIns="45720" rtlCol="0" anchor="ctr">
            <a:normAutofit/>
          </a:bodyPr>
          <a:lstStyle/>
          <a:p>
            <a:endParaRPr lang="en-US"/>
          </a:p>
        </p:txBody>
      </p:sp>
      <p:sp>
        <p:nvSpPr>
          <p:cNvPr id="3" name="Text Placeholder 2">
            <a:extLst>
              <a:ext uri="{FF2B5EF4-FFF2-40B4-BE49-F238E27FC236}">
                <a16:creationId xmlns:a16="http://schemas.microsoft.com/office/drawing/2014/main" id="{A73056FE-C136-A54B-9DE3-EACD8E08FED9}"/>
              </a:ext>
            </a:extLst>
          </p:cNvPr>
          <p:cNvSpPr>
            <a:spLocks noGrp="1"/>
          </p:cNvSpPr>
          <p:nvPr>
            <p:ph type="body" idx="1"/>
          </p:nvPr>
        </p:nvSpPr>
        <p:spPr>
          <a:xfrm>
            <a:off x="462579" y="975365"/>
            <a:ext cx="11499925" cy="486585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5">
            <a:extLst>
              <a:ext uri="{FF2B5EF4-FFF2-40B4-BE49-F238E27FC236}">
                <a16:creationId xmlns:a16="http://schemas.microsoft.com/office/drawing/2014/main" id="{125833E0-DD3D-DF4F-9316-F67B7A80E307}"/>
              </a:ext>
            </a:extLst>
          </p:cNvPr>
          <p:cNvSpPr>
            <a:spLocks noGrp="1"/>
          </p:cNvSpPr>
          <p:nvPr>
            <p:ph type="sldNum" sz="quarter" idx="4"/>
          </p:nvPr>
        </p:nvSpPr>
        <p:spPr>
          <a:xfrm>
            <a:off x="11530018" y="6316595"/>
            <a:ext cx="432486" cy="365125"/>
          </a:xfrm>
          <a:prstGeom prst="rect">
            <a:avLst/>
          </a:prstGeom>
        </p:spPr>
        <p:txBody>
          <a:bodyPr lIns="0" tIns="0" rIns="0" bIns="0" anchor="ctr"/>
          <a:lstStyle>
            <a:lvl1pPr algn="ctr">
              <a:defRPr sz="1100" b="1">
                <a:solidFill>
                  <a:schemeClr val="tx1"/>
                </a:solidFill>
              </a:defRPr>
            </a:lvl1pPr>
          </a:lstStyle>
          <a:p>
            <a:fld id="{933A556B-7C63-244D-9B7C-B0EA8042B330}" type="slidenum">
              <a:rPr lang="en-US" smtClean="0"/>
              <a:pPr/>
              <a:t>‹#›</a:t>
            </a:fld>
            <a:endParaRPr lang="en-US"/>
          </a:p>
        </p:txBody>
      </p:sp>
      <p:cxnSp>
        <p:nvCxnSpPr>
          <p:cNvPr id="5" name="Straight Connector 4">
            <a:extLst>
              <a:ext uri="{FF2B5EF4-FFF2-40B4-BE49-F238E27FC236}">
                <a16:creationId xmlns:a16="http://schemas.microsoft.com/office/drawing/2014/main" id="{CAB150B5-704F-CF21-3183-8DB97C07706C}"/>
              </a:ext>
            </a:extLst>
          </p:cNvPr>
          <p:cNvCxnSpPr>
            <a:cxnSpLocks/>
          </p:cNvCxnSpPr>
          <p:nvPr userDrawn="1"/>
        </p:nvCxnSpPr>
        <p:spPr>
          <a:xfrm>
            <a:off x="462579" y="825178"/>
            <a:ext cx="11499925" cy="0"/>
          </a:xfrm>
          <a:prstGeom prst="line">
            <a:avLst/>
          </a:prstGeom>
          <a:ln w="25400">
            <a:gradFill>
              <a:gsLst>
                <a:gs pos="0">
                  <a:schemeClr val="bg2"/>
                </a:gs>
                <a:gs pos="100000">
                  <a:schemeClr val="accent5"/>
                </a:gs>
              </a:gsLst>
              <a:lin ang="0" scaled="0"/>
            </a:gra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9958D2D7-4525-7982-81CE-BAFE8EFB999D}"/>
              </a:ext>
            </a:extLst>
          </p:cNvPr>
          <p:cNvCxnSpPr/>
          <p:nvPr userDrawn="1"/>
        </p:nvCxnSpPr>
        <p:spPr>
          <a:xfrm>
            <a:off x="462579" y="6111240"/>
            <a:ext cx="11499925" cy="0"/>
          </a:xfrm>
          <a:prstGeom prst="line">
            <a:avLst/>
          </a:prstGeom>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39C57D85-0FD3-43FA-07D3-B3DFBD281319}"/>
              </a:ext>
            </a:extLst>
          </p:cNvPr>
          <p:cNvSpPr txBox="1"/>
          <p:nvPr userDrawn="1"/>
        </p:nvSpPr>
        <p:spPr>
          <a:xfrm>
            <a:off x="369881" y="6499156"/>
            <a:ext cx="6734304" cy="276999"/>
          </a:xfrm>
          <a:prstGeom prst="rect">
            <a:avLst/>
          </a:prstGeom>
          <a:noFill/>
        </p:spPr>
        <p:txBody>
          <a:bodyPr wrap="square" rtlCol="0">
            <a:spAutoFit/>
          </a:bodyPr>
          <a:lstStyle/>
          <a:p>
            <a:r>
              <a:rPr lang="en-US" sz="1200">
                <a:solidFill>
                  <a:schemeClr val="tx1"/>
                </a:solidFill>
              </a:rPr>
              <a:t>EIC Accelerator Controls Global Software, Networking, &amp; Computing PDR, June 15-17, 2026</a:t>
            </a:r>
          </a:p>
        </p:txBody>
      </p:sp>
      <p:sp>
        <p:nvSpPr>
          <p:cNvPr id="7" name="TextBox 6">
            <a:extLst>
              <a:ext uri="{FF2B5EF4-FFF2-40B4-BE49-F238E27FC236}">
                <a16:creationId xmlns:a16="http://schemas.microsoft.com/office/drawing/2014/main" id="{3309B8FE-85C6-7655-53CB-FF820217D805}"/>
              </a:ext>
            </a:extLst>
          </p:cNvPr>
          <p:cNvSpPr txBox="1"/>
          <p:nvPr userDrawn="1"/>
        </p:nvSpPr>
        <p:spPr>
          <a:xfrm>
            <a:off x="8190524" y="6488097"/>
            <a:ext cx="1578708" cy="276999"/>
          </a:xfrm>
          <a:prstGeom prst="rect">
            <a:avLst/>
          </a:prstGeom>
          <a:noFill/>
        </p:spPr>
        <p:txBody>
          <a:bodyPr wrap="square" rtlCol="0">
            <a:spAutoFit/>
          </a:bodyPr>
          <a:lstStyle/>
          <a:p>
            <a:r>
              <a:rPr lang="en-US" sz="1200">
                <a:solidFill>
                  <a:schemeClr val="tx1"/>
                </a:solidFill>
              </a:rPr>
              <a:t>Kunal Shroff</a:t>
            </a:r>
          </a:p>
        </p:txBody>
      </p:sp>
    </p:spTree>
    <p:extLst>
      <p:ext uri="{BB962C8B-B14F-4D97-AF65-F5344CB8AC3E}">
        <p14:creationId xmlns:p14="http://schemas.microsoft.com/office/powerpoint/2010/main" val="82873291"/>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Lst>
  <p:hf hdr="0" dt="0"/>
  <p:txStyles>
    <p:titleStyle>
      <a:lvl1pPr algn="l" defTabSz="914400" rtl="0" eaLnBrk="1" latinLnBrk="0" hangingPunct="1">
        <a:lnSpc>
          <a:spcPct val="90000"/>
        </a:lnSpc>
        <a:spcBef>
          <a:spcPct val="0"/>
        </a:spcBef>
        <a:buNone/>
        <a:defRPr sz="4000" b="1" u="none"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orient="horz" pos="2160">
          <p15:clr>
            <a:srgbClr val="F26B43"/>
          </p15:clr>
        </p15:guide>
        <p15:guide id="8" pos="3840">
          <p15:clr>
            <a:srgbClr val="F26B43"/>
          </p15:clr>
        </p15:guide>
        <p15:guide id="9" pos="360">
          <p15:clr>
            <a:srgbClr val="F26B43"/>
          </p15:clr>
        </p15:guide>
        <p15:guide id="10" orient="horz" pos="3888">
          <p15:clr>
            <a:srgbClr val="F26B43"/>
          </p15:clr>
        </p15:guide>
        <p15:guide id="11" pos="7320">
          <p15:clr>
            <a:srgbClr val="F26B43"/>
          </p15:clr>
        </p15:guide>
        <p15:guide id="12" orient="horz" pos="412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56CBC-DA70-7741-BB3F-BCDBBE052F88}"/>
              </a:ext>
            </a:extLst>
          </p:cNvPr>
          <p:cNvSpPr>
            <a:spLocks noGrp="1"/>
          </p:cNvSpPr>
          <p:nvPr>
            <p:ph type="ctrTitle"/>
          </p:nvPr>
        </p:nvSpPr>
        <p:spPr>
          <a:xfrm>
            <a:off x="813175" y="1481540"/>
            <a:ext cx="10334625" cy="923424"/>
          </a:xfrm>
        </p:spPr>
        <p:txBody>
          <a:bodyPr vert="horz" lIns="91440" tIns="45720" rIns="91440" bIns="45720" rtlCol="0" anchor="t" anchorCtr="0">
            <a:noAutofit/>
          </a:bodyPr>
          <a:lstStyle/>
          <a:p>
            <a:r>
              <a:rPr lang="en-US" sz="5400">
                <a:solidFill>
                  <a:srgbClr val="FFFFFF"/>
                </a:solidFill>
                <a:latin typeface="Arial"/>
                <a:cs typeface="Arial"/>
              </a:rPr>
              <a:t>Controls System Architecture</a:t>
            </a:r>
            <a:endParaRPr lang="en-US" sz="5400"/>
          </a:p>
        </p:txBody>
      </p:sp>
      <p:sp>
        <p:nvSpPr>
          <p:cNvPr id="9" name="TextBox 8">
            <a:extLst>
              <a:ext uri="{FF2B5EF4-FFF2-40B4-BE49-F238E27FC236}">
                <a16:creationId xmlns:a16="http://schemas.microsoft.com/office/drawing/2014/main" id="{87872E67-F4DB-9E7A-FE6C-424522F97257}"/>
              </a:ext>
            </a:extLst>
          </p:cNvPr>
          <p:cNvSpPr txBox="1"/>
          <p:nvPr/>
        </p:nvSpPr>
        <p:spPr>
          <a:xfrm>
            <a:off x="813175" y="2806045"/>
            <a:ext cx="5769204" cy="830997"/>
          </a:xfrm>
          <a:prstGeom prst="rect">
            <a:avLst/>
          </a:prstGeom>
          <a:noFill/>
        </p:spPr>
        <p:txBody>
          <a:bodyPr wrap="square" lIns="91440" tIns="45720" rIns="91440" bIns="45720" rtlCol="0" anchor="t">
            <a:spAutoFit/>
          </a:bodyPr>
          <a:lstStyle/>
          <a:p>
            <a:r>
              <a:rPr lang="en-US" sz="2400" b="1">
                <a:solidFill>
                  <a:schemeClr val="bg1"/>
                </a:solidFill>
              </a:rPr>
              <a:t>Kunal Shroff</a:t>
            </a:r>
          </a:p>
          <a:p>
            <a:r>
              <a:rPr lang="en-US" sz="2400">
                <a:solidFill>
                  <a:schemeClr val="bg1"/>
                </a:solidFill>
              </a:rPr>
              <a:t>Software Technical Lead</a:t>
            </a:r>
            <a:endParaRPr lang="en-US" sz="2400">
              <a:solidFill>
                <a:schemeClr val="bg1"/>
              </a:solidFill>
              <a:cs typeface="Arial"/>
            </a:endParaRPr>
          </a:p>
        </p:txBody>
      </p:sp>
      <p:sp>
        <p:nvSpPr>
          <p:cNvPr id="3" name="Subtitle 2">
            <a:extLst>
              <a:ext uri="{FF2B5EF4-FFF2-40B4-BE49-F238E27FC236}">
                <a16:creationId xmlns:a16="http://schemas.microsoft.com/office/drawing/2014/main" id="{83802717-071F-2BED-90C3-1562DA3733F9}"/>
              </a:ext>
            </a:extLst>
          </p:cNvPr>
          <p:cNvSpPr txBox="1">
            <a:spLocks noGrp="1"/>
          </p:cNvSpPr>
          <p:nvPr>
            <p:ph type="subTitle" idx="1"/>
          </p:nvPr>
        </p:nvSpPr>
        <p:spPr>
          <a:xfrm>
            <a:off x="812800" y="4012797"/>
            <a:ext cx="10334625" cy="774571"/>
          </a:xfrm>
          <a:prstGeom prst="rect">
            <a:avLst/>
          </a:prstGeom>
          <a:noFill/>
        </p:spPr>
        <p:txBody>
          <a:bodyPr wrap="square" lIns="91440" tIns="45720" rIns="91440" bIns="45720" anchor="t">
            <a:spAutoFit/>
          </a:bodyPr>
          <a:lstStyle/>
          <a:p>
            <a:pPr>
              <a:defRPr/>
            </a:pPr>
            <a:r>
              <a:rPr lang="en-US" sz="2000">
                <a:solidFill>
                  <a:srgbClr val="FFFFFF"/>
                </a:solidFill>
                <a:latin typeface="Arial" panose="020B0604020202020204"/>
                <a:cs typeface="Arial"/>
              </a:rPr>
              <a:t>EIC Accelerator Controls Global Software, Networking &amp; Computing PDR</a:t>
            </a:r>
          </a:p>
          <a:p>
            <a:pPr>
              <a:defRPr/>
            </a:pPr>
            <a:r>
              <a:rPr lang="en-US" sz="2000">
                <a:solidFill>
                  <a:srgbClr val="FFFFFF"/>
                </a:solidFill>
                <a:latin typeface="Arial" panose="020B0604020202020204"/>
                <a:cs typeface="Arial"/>
              </a:rPr>
              <a:t>June 15-17, 2026</a:t>
            </a:r>
          </a:p>
        </p:txBody>
      </p:sp>
    </p:spTree>
    <p:extLst>
      <p:ext uri="{BB962C8B-B14F-4D97-AF65-F5344CB8AC3E}">
        <p14:creationId xmlns:p14="http://schemas.microsoft.com/office/powerpoint/2010/main" val="34640947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4AC82C4-F825-468B-AB97-CCA5EB55A234}"/>
              </a:ext>
            </a:extLst>
          </p:cNvPr>
          <p:cNvSpPr>
            <a:spLocks noGrp="1"/>
          </p:cNvSpPr>
          <p:nvPr>
            <p:ph type="title"/>
          </p:nvPr>
        </p:nvSpPr>
        <p:spPr/>
        <p:txBody>
          <a:bodyPr/>
          <a:lstStyle/>
          <a:p>
            <a:r>
              <a:rPr lang="en-US"/>
              <a:t>About Me – Kunal Shroff</a:t>
            </a:r>
          </a:p>
        </p:txBody>
      </p:sp>
      <p:sp>
        <p:nvSpPr>
          <p:cNvPr id="4" name="Content Placeholder 3">
            <a:extLst>
              <a:ext uri="{FF2B5EF4-FFF2-40B4-BE49-F238E27FC236}">
                <a16:creationId xmlns:a16="http://schemas.microsoft.com/office/drawing/2014/main" id="{EA00661D-1B14-4579-B83B-0BC7B959748A}"/>
              </a:ext>
            </a:extLst>
          </p:cNvPr>
          <p:cNvSpPr>
            <a:spLocks noGrp="1"/>
          </p:cNvSpPr>
          <p:nvPr>
            <p:ph idx="1"/>
          </p:nvPr>
        </p:nvSpPr>
        <p:spPr>
          <a:xfrm>
            <a:off x="462579" y="975365"/>
            <a:ext cx="11499925" cy="4865858"/>
          </a:xfrm>
        </p:spPr>
        <p:txBody>
          <a:bodyPr vert="horz" lIns="91440" tIns="45720" rIns="91440" bIns="45720" rtlCol="0" anchor="t">
            <a:normAutofit/>
          </a:bodyPr>
          <a:lstStyle/>
          <a:p>
            <a:pPr marL="0" indent="0">
              <a:buNone/>
            </a:pPr>
            <a:r>
              <a:rPr lang="en-US" sz="2200">
                <a:ea typeface="+mn-lt"/>
                <a:cs typeface="+mn-lt"/>
              </a:rPr>
              <a:t>I am the </a:t>
            </a:r>
            <a:r>
              <a:rPr lang="en-US" sz="2200" b="1">
                <a:ea typeface="+mn-lt"/>
                <a:cs typeface="+mn-lt"/>
              </a:rPr>
              <a:t>Controls Software Technical Lead for the Electron-Ion Collider (EIC)</a:t>
            </a:r>
            <a:r>
              <a:rPr lang="en-US" sz="2200">
                <a:ea typeface="+mn-lt"/>
                <a:cs typeface="+mn-lt"/>
              </a:rPr>
              <a:t> at Brookhaven National Laboratory, where I lead the architecture and deployment strategy for controls software and operational services.</a:t>
            </a:r>
            <a:endParaRPr lang="en-US">
              <a:cs typeface="Arial"/>
            </a:endParaRPr>
          </a:p>
          <a:p>
            <a:pPr marL="0" indent="0">
              <a:buNone/>
            </a:pPr>
            <a:r>
              <a:rPr lang="en-US" sz="2200">
                <a:ea typeface="+mn-lt"/>
                <a:cs typeface="+mn-lt"/>
              </a:rPr>
              <a:t>I have </a:t>
            </a:r>
            <a:r>
              <a:rPr lang="en-US" sz="2200" b="1">
                <a:ea typeface="+mn-lt"/>
                <a:cs typeface="+mn-lt"/>
              </a:rPr>
              <a:t>17 years of experience</a:t>
            </a:r>
            <a:r>
              <a:rPr lang="en-US" sz="2200">
                <a:ea typeface="+mn-lt"/>
                <a:cs typeface="+mn-lt"/>
              </a:rPr>
              <a:t> developing control systems software for large scientific facilities and serve as the technical lead of the </a:t>
            </a:r>
            <a:r>
              <a:rPr lang="en-US" sz="2200" b="1">
                <a:ea typeface="+mn-lt"/>
                <a:cs typeface="+mn-lt"/>
              </a:rPr>
              <a:t>EPICS Phoebus Collaboration</a:t>
            </a:r>
            <a:r>
              <a:rPr lang="en-US" sz="2200">
                <a:ea typeface="+mn-lt"/>
                <a:cs typeface="+mn-lt"/>
              </a:rPr>
              <a:t>, an international effort developing next-generation tools and services for accelerator control systems.</a:t>
            </a:r>
            <a:endParaRPr lang="en-US">
              <a:cs typeface="Arial" panose="020B0604020202020204"/>
            </a:endParaRPr>
          </a:p>
          <a:p>
            <a:r>
              <a:rPr lang="en-US"/>
              <a:t>Education</a:t>
            </a:r>
          </a:p>
          <a:p>
            <a:pPr lvl="1"/>
            <a:r>
              <a:rPr lang="en-US" sz="1800">
                <a:ea typeface="+mn-lt"/>
                <a:cs typeface="+mn-lt"/>
              </a:rPr>
              <a:t>M.S. Electrical &amp; Computer Engineering, Stony Brook University </a:t>
            </a:r>
            <a:endParaRPr lang="en-US" sz="1800">
              <a:cs typeface="Arial"/>
            </a:endParaRPr>
          </a:p>
          <a:p>
            <a:r>
              <a:rPr lang="en-US"/>
              <a:t>Technical Focus</a:t>
            </a:r>
          </a:p>
          <a:p>
            <a:pPr lvl="1"/>
            <a:r>
              <a:rPr lang="en-US" sz="1800">
                <a:ea typeface="+mn-lt"/>
                <a:cs typeface="+mn-lt"/>
              </a:rPr>
              <a:t>Controls Architecture </a:t>
            </a:r>
            <a:endParaRPr lang="en-US" sz="1800">
              <a:cs typeface="Arial"/>
            </a:endParaRPr>
          </a:p>
          <a:p>
            <a:pPr lvl="1"/>
            <a:r>
              <a:rPr lang="en-US" sz="1800">
                <a:ea typeface="+mn-lt"/>
                <a:cs typeface="+mn-lt"/>
              </a:rPr>
              <a:t>EPICS &amp; Phoebus </a:t>
            </a:r>
            <a:endParaRPr lang="en-US" sz="1800">
              <a:cs typeface="Arial"/>
            </a:endParaRPr>
          </a:p>
          <a:p>
            <a:pPr lvl="1"/>
            <a:r>
              <a:rPr lang="en-US" sz="1800">
                <a:ea typeface="+mn-lt"/>
                <a:cs typeface="+mn-lt"/>
              </a:rPr>
              <a:t>Distributed Systems </a:t>
            </a:r>
            <a:endParaRPr lang="en-US" sz="1800">
              <a:cs typeface="Arial"/>
            </a:endParaRPr>
          </a:p>
          <a:p>
            <a:pPr lvl="1"/>
            <a:r>
              <a:rPr lang="en-US" sz="1800">
                <a:ea typeface="+mn-lt"/>
                <a:cs typeface="+mn-lt"/>
              </a:rPr>
              <a:t>DevOps, CI/CD, &amp; Infrastructure Automation</a:t>
            </a:r>
            <a:endParaRPr lang="en-US" sz="1800">
              <a:cs typeface="Arial"/>
            </a:endParaRPr>
          </a:p>
          <a:p>
            <a:endParaRPr lang="en-US" sz="2200">
              <a:cs typeface="Arial"/>
            </a:endParaRPr>
          </a:p>
        </p:txBody>
      </p:sp>
      <p:sp>
        <p:nvSpPr>
          <p:cNvPr id="5" name="Slide Number Placeholder 4">
            <a:extLst>
              <a:ext uri="{FF2B5EF4-FFF2-40B4-BE49-F238E27FC236}">
                <a16:creationId xmlns:a16="http://schemas.microsoft.com/office/drawing/2014/main" id="{1B88834F-A6C7-4112-556A-1C18A68D79A0}"/>
              </a:ext>
            </a:extLst>
          </p:cNvPr>
          <p:cNvSpPr>
            <a:spLocks noGrp="1"/>
          </p:cNvSpPr>
          <p:nvPr>
            <p:ph type="sldNum" sz="quarter" idx="4"/>
          </p:nvPr>
        </p:nvSpPr>
        <p:spPr/>
        <p:txBody>
          <a:bodyPr/>
          <a:lstStyle/>
          <a:p>
            <a:fld id="{933A556B-7C63-244D-9B7C-B0EA8042B330}" type="slidenum">
              <a:rPr lang="en-US" smtClean="0"/>
              <a:pPr/>
              <a:t>2</a:t>
            </a:fld>
            <a:endParaRPr lang="en-US"/>
          </a:p>
        </p:txBody>
      </p:sp>
    </p:spTree>
    <p:extLst>
      <p:ext uri="{BB962C8B-B14F-4D97-AF65-F5344CB8AC3E}">
        <p14:creationId xmlns:p14="http://schemas.microsoft.com/office/powerpoint/2010/main" val="262373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906902D-327E-A150-853A-A765EAF5C7B7}"/>
              </a:ext>
            </a:extLst>
          </p:cNvPr>
          <p:cNvSpPr>
            <a:spLocks noGrp="1"/>
          </p:cNvSpPr>
          <p:nvPr>
            <p:ph type="title"/>
          </p:nvPr>
        </p:nvSpPr>
        <p:spPr/>
        <p:txBody>
          <a:bodyPr>
            <a:normAutofit/>
          </a:bodyPr>
          <a:lstStyle/>
          <a:p>
            <a:r>
              <a:rPr lang="en-US"/>
              <a:t>Charge Questions</a:t>
            </a:r>
            <a:endParaRPr lang="en-US" sz="1400">
              <a:solidFill>
                <a:srgbClr val="FF0000"/>
              </a:solidFill>
              <a:cs typeface="Arial"/>
            </a:endParaRPr>
          </a:p>
        </p:txBody>
      </p:sp>
      <p:sp>
        <p:nvSpPr>
          <p:cNvPr id="3" name="TextBox 2">
            <a:extLst>
              <a:ext uri="{FF2B5EF4-FFF2-40B4-BE49-F238E27FC236}">
                <a16:creationId xmlns:a16="http://schemas.microsoft.com/office/drawing/2014/main" id="{B1C8DA78-90E0-94A6-4609-8E725D9FCC05}"/>
              </a:ext>
            </a:extLst>
          </p:cNvPr>
          <p:cNvSpPr txBox="1"/>
          <p:nvPr/>
        </p:nvSpPr>
        <p:spPr>
          <a:xfrm>
            <a:off x="462579" y="1037138"/>
            <a:ext cx="11314157" cy="5019995"/>
          </a:xfrm>
          <a:prstGeom prst="rect">
            <a:avLst/>
          </a:prstGeom>
          <a:noFill/>
        </p:spPr>
        <p:txBody>
          <a:bodyPr wrap="square" rtlCol="0">
            <a:normAutofit/>
          </a:bodyPr>
          <a:lstStyle/>
          <a:p>
            <a:pPr marL="342900" indent="-342900">
              <a:buFont typeface="+mj-lt"/>
              <a:buAutoNum type="arabicPeriod"/>
            </a:pPr>
            <a:r>
              <a:rPr lang="en-US" sz="2400"/>
              <a:t>Are the system requirements sufficiently defined, understood, and documented for this phase of the design? </a:t>
            </a:r>
          </a:p>
          <a:p>
            <a:pPr marL="342900" indent="-342900">
              <a:buFont typeface="+mj-lt"/>
              <a:buAutoNum type="arabicPeriod"/>
            </a:pPr>
            <a:r>
              <a:rPr lang="en-US" sz="2400"/>
              <a:t>Do the designs meet the requirements?</a:t>
            </a:r>
          </a:p>
          <a:p>
            <a:pPr marL="342900" indent="-342900">
              <a:buFont typeface="+mj-lt"/>
              <a:buAutoNum type="arabicPeriod"/>
            </a:pPr>
            <a:r>
              <a:rPr lang="en-US" sz="2400"/>
              <a:t>Are the interfaces sufficiently defined, understood and documented for this phase of the design?</a:t>
            </a:r>
          </a:p>
          <a:p>
            <a:pPr marL="342900" indent="-342900">
              <a:buFont typeface="+mj-lt"/>
              <a:buAutoNum type="arabicPeriod"/>
            </a:pPr>
            <a:r>
              <a:rPr lang="en-US" sz="2400"/>
              <a:t>Are the design analysis, simulations, drawings and specifications, and work plans, sufficient for this phase of the design?</a:t>
            </a:r>
          </a:p>
          <a:p>
            <a:pPr marL="342900" indent="-342900">
              <a:buFont typeface="+mj-lt"/>
              <a:buAutoNum type="arabicPeriod"/>
            </a:pPr>
            <a:r>
              <a:rPr lang="en-US" sz="2400"/>
              <a:t>Have technical risks been identified and are mitigation plans adequate for this phase of the design?</a:t>
            </a:r>
          </a:p>
          <a:p>
            <a:pPr marL="342900" indent="-342900">
              <a:buFont typeface="+mj-lt"/>
              <a:buAutoNum type="arabicPeriod"/>
            </a:pPr>
            <a:r>
              <a:rPr lang="en-US" sz="2400"/>
              <a:t>Are plans to address ES&amp;H and Quality sufficient for this phase of the design?</a:t>
            </a:r>
          </a:p>
          <a:p>
            <a:pPr marL="342900" indent="-342900">
              <a:buFont typeface="+mj-lt"/>
              <a:buAutoNum type="arabicPeriod"/>
            </a:pPr>
            <a:r>
              <a:rPr lang="en-US" sz="2400"/>
              <a:t>Is the overall design maturity sufficient to proceed with the final design phase?</a:t>
            </a:r>
          </a:p>
        </p:txBody>
      </p:sp>
      <p:sp>
        <p:nvSpPr>
          <p:cNvPr id="4" name="Slide Number Placeholder 3">
            <a:extLst>
              <a:ext uri="{FF2B5EF4-FFF2-40B4-BE49-F238E27FC236}">
                <a16:creationId xmlns:a16="http://schemas.microsoft.com/office/drawing/2014/main" id="{4157E66E-FA72-B152-7F43-1DCA8892D265}"/>
              </a:ext>
            </a:extLst>
          </p:cNvPr>
          <p:cNvSpPr>
            <a:spLocks noGrp="1"/>
          </p:cNvSpPr>
          <p:nvPr>
            <p:ph type="sldNum" sz="quarter" idx="4"/>
          </p:nvPr>
        </p:nvSpPr>
        <p:spPr/>
        <p:txBody>
          <a:bodyPr/>
          <a:lstStyle/>
          <a:p>
            <a:pPr algn="ctr"/>
            <a:fld id="{933A556B-7C63-244D-9B7C-B0EA8042B330}" type="slidenum">
              <a:rPr lang="en-US" smtClean="0"/>
              <a:pPr algn="ctr"/>
              <a:t>3</a:t>
            </a:fld>
            <a:endParaRPr lang="en-GB"/>
          </a:p>
        </p:txBody>
      </p:sp>
    </p:spTree>
    <p:extLst>
      <p:ext uri="{BB962C8B-B14F-4D97-AF65-F5344CB8AC3E}">
        <p14:creationId xmlns:p14="http://schemas.microsoft.com/office/powerpoint/2010/main" val="2832583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D605573-B624-22EE-2B0D-F4C7C220B270}"/>
              </a:ext>
            </a:extLst>
          </p:cNvPr>
          <p:cNvSpPr>
            <a:spLocks noGrp="1"/>
          </p:cNvSpPr>
          <p:nvPr>
            <p:ph type="sldNum" sz="quarter" idx="4"/>
          </p:nvPr>
        </p:nvSpPr>
        <p:spPr/>
        <p:txBody>
          <a:bodyPr/>
          <a:lstStyle/>
          <a:p>
            <a:fld id="{933A556B-7C63-244D-9B7C-B0EA8042B330}" type="slidenum">
              <a:rPr lang="en-US" smtClean="0"/>
              <a:pPr/>
              <a:t>4</a:t>
            </a:fld>
            <a:endParaRPr lang="en-US"/>
          </a:p>
        </p:txBody>
      </p:sp>
      <p:sp>
        <p:nvSpPr>
          <p:cNvPr id="3" name="Title 2">
            <a:extLst>
              <a:ext uri="{FF2B5EF4-FFF2-40B4-BE49-F238E27FC236}">
                <a16:creationId xmlns:a16="http://schemas.microsoft.com/office/drawing/2014/main" id="{2C349B71-E5B6-0C4B-E95C-61E05E287778}"/>
              </a:ext>
            </a:extLst>
          </p:cNvPr>
          <p:cNvSpPr>
            <a:spLocks noGrp="1"/>
          </p:cNvSpPr>
          <p:nvPr>
            <p:ph type="title"/>
          </p:nvPr>
        </p:nvSpPr>
        <p:spPr/>
        <p:txBody>
          <a:bodyPr/>
          <a:lstStyle/>
          <a:p>
            <a:r>
              <a:rPr lang="en-US"/>
              <a:t>Outline</a:t>
            </a:r>
          </a:p>
        </p:txBody>
      </p:sp>
      <p:sp>
        <p:nvSpPr>
          <p:cNvPr id="5" name="Text Placeholder 5">
            <a:extLst>
              <a:ext uri="{FF2B5EF4-FFF2-40B4-BE49-F238E27FC236}">
                <a16:creationId xmlns:a16="http://schemas.microsoft.com/office/drawing/2014/main" id="{9CEB6F35-FF79-44CC-01CA-59107DCB4A2B}"/>
              </a:ext>
            </a:extLst>
          </p:cNvPr>
          <p:cNvSpPr>
            <a:spLocks noGrp="1"/>
          </p:cNvSpPr>
          <p:nvPr/>
        </p:nvSpPr>
        <p:spPr>
          <a:xfrm>
            <a:off x="524309" y="1071129"/>
            <a:ext cx="11444431" cy="5252751"/>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solidFill>
                  <a:srgbClr val="000000"/>
                </a:solidFill>
                <a:latin typeface="Arial"/>
                <a:cs typeface="Arial"/>
              </a:rPr>
              <a:t>Scope</a:t>
            </a:r>
            <a:endParaRPr lang="en-US">
              <a:cs typeface="Arial"/>
            </a:endParaRPr>
          </a:p>
          <a:p>
            <a:pPr>
              <a:lnSpc>
                <a:spcPct val="100000"/>
              </a:lnSpc>
            </a:pPr>
            <a:r>
              <a:rPr lang="en-US">
                <a:solidFill>
                  <a:srgbClr val="000000"/>
                </a:solidFill>
                <a:latin typeface="Arial"/>
                <a:cs typeface="Arial"/>
              </a:rPr>
              <a:t>Architecture</a:t>
            </a:r>
          </a:p>
          <a:p>
            <a:pPr>
              <a:lnSpc>
                <a:spcPct val="100000"/>
              </a:lnSpc>
            </a:pPr>
            <a:r>
              <a:rPr lang="en-US">
                <a:solidFill>
                  <a:srgbClr val="000000"/>
                </a:solidFill>
                <a:latin typeface="Arial"/>
                <a:cs typeface="Arial"/>
              </a:rPr>
              <a:t>EPICS</a:t>
            </a:r>
          </a:p>
          <a:p>
            <a:pPr>
              <a:lnSpc>
                <a:spcPct val="100000"/>
              </a:lnSpc>
            </a:pPr>
            <a:r>
              <a:rPr lang="en-US">
                <a:solidFill>
                  <a:srgbClr val="000000"/>
                </a:solidFill>
                <a:latin typeface="Arial"/>
                <a:cs typeface="Arial"/>
              </a:rPr>
              <a:t>ADO, dual-system coexistence, tradeoffs, and decision matrix</a:t>
            </a:r>
          </a:p>
          <a:p>
            <a:pPr>
              <a:lnSpc>
                <a:spcPct val="100000"/>
              </a:lnSpc>
            </a:pPr>
            <a:r>
              <a:rPr lang="en-US">
                <a:solidFill>
                  <a:srgbClr val="000000"/>
                </a:solidFill>
                <a:latin typeface="Arial"/>
                <a:cs typeface="Arial"/>
              </a:rPr>
              <a:t>Network architecture, subnet strategy, and buildout plan</a:t>
            </a:r>
          </a:p>
          <a:p>
            <a:pPr>
              <a:lnSpc>
                <a:spcPct val="100000"/>
              </a:lnSpc>
            </a:pPr>
            <a:r>
              <a:rPr lang="en-US">
                <a:solidFill>
                  <a:srgbClr val="000000"/>
                </a:solidFill>
                <a:latin typeface="Arial"/>
                <a:cs typeface="Arial"/>
              </a:rPr>
              <a:t>EPICS IOC continuity and pvAccess protocol value</a:t>
            </a:r>
          </a:p>
          <a:p>
            <a:pPr>
              <a:lnSpc>
                <a:spcPct val="100000"/>
              </a:lnSpc>
            </a:pPr>
            <a:r>
              <a:rPr lang="en-US">
                <a:solidFill>
                  <a:srgbClr val="000000"/>
                </a:solidFill>
                <a:latin typeface="Arial"/>
                <a:cs typeface="Arial"/>
              </a:rPr>
              <a:t>Middle-layer services</a:t>
            </a:r>
          </a:p>
          <a:p>
            <a:pPr>
              <a:lnSpc>
                <a:spcPct val="100000"/>
              </a:lnSpc>
            </a:pPr>
            <a:r>
              <a:rPr lang="en-US">
                <a:solidFill>
                  <a:srgbClr val="000000"/>
                </a:solidFill>
                <a:latin typeface="Arial"/>
                <a:cs typeface="Arial"/>
              </a:rPr>
              <a:t>Phoebus toolkit</a:t>
            </a:r>
          </a:p>
          <a:p>
            <a:pPr>
              <a:lnSpc>
                <a:spcPct val="100000"/>
              </a:lnSpc>
            </a:pPr>
            <a:r>
              <a:rPr lang="en-US">
                <a:solidFill>
                  <a:srgbClr val="000000"/>
                </a:solidFill>
                <a:latin typeface="Arial"/>
                <a:cs typeface="Arial"/>
              </a:rPr>
              <a:t>CI/CD governance, automation stack, QA/QC gates, and domain pipelines</a:t>
            </a:r>
            <a:endParaRPr lang="en-US">
              <a:cs typeface="Arial" panose="020B0604020202020204"/>
            </a:endParaRPr>
          </a:p>
          <a:p>
            <a:pPr>
              <a:lnSpc>
                <a:spcPct val="100000"/>
              </a:lnSpc>
            </a:pPr>
            <a:r>
              <a:rPr lang="en-US">
                <a:cs typeface="Arial" panose="020B0604020202020204"/>
              </a:rPr>
              <a:t>Path Forward</a:t>
            </a:r>
          </a:p>
          <a:p>
            <a:pPr>
              <a:lnSpc>
                <a:spcPct val="100000"/>
              </a:lnSpc>
            </a:pPr>
            <a:r>
              <a:rPr lang="en-US">
                <a:cs typeface="Arial" panose="020B0604020202020204"/>
              </a:rPr>
              <a:t>Summary</a:t>
            </a:r>
          </a:p>
        </p:txBody>
      </p:sp>
    </p:spTree>
    <p:extLst>
      <p:ext uri="{BB962C8B-B14F-4D97-AF65-F5344CB8AC3E}">
        <p14:creationId xmlns:p14="http://schemas.microsoft.com/office/powerpoint/2010/main" val="11168609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CBF41D-3C09-6B71-04F2-D1E5A6B71EB0}"/>
              </a:ext>
            </a:extLst>
          </p:cNvPr>
          <p:cNvSpPr>
            <a:spLocks noGrp="1"/>
          </p:cNvSpPr>
          <p:nvPr>
            <p:ph type="sldNum" sz="quarter" idx="4"/>
          </p:nvPr>
        </p:nvSpPr>
        <p:spPr/>
        <p:txBody>
          <a:bodyPr/>
          <a:lstStyle/>
          <a:p>
            <a:pPr algn="ctr"/>
            <a:fld id="{933A556B-7C63-244D-9B7C-B0EA8042B330}" type="slidenum">
              <a:rPr lang="en-US" smtClean="0"/>
              <a:pPr algn="ctr"/>
              <a:t>5</a:t>
            </a:fld>
            <a:endParaRPr lang="en-US"/>
          </a:p>
        </p:txBody>
      </p:sp>
      <p:sp>
        <p:nvSpPr>
          <p:cNvPr id="3" name="Title 2">
            <a:extLst>
              <a:ext uri="{FF2B5EF4-FFF2-40B4-BE49-F238E27FC236}">
                <a16:creationId xmlns:a16="http://schemas.microsoft.com/office/drawing/2014/main" id="{01741E02-B5AC-E541-422C-0D1CEE9F1425}"/>
              </a:ext>
            </a:extLst>
          </p:cNvPr>
          <p:cNvSpPr>
            <a:spLocks noGrp="1"/>
          </p:cNvSpPr>
          <p:nvPr>
            <p:ph type="title"/>
          </p:nvPr>
        </p:nvSpPr>
        <p:spPr/>
        <p:txBody>
          <a:bodyPr/>
          <a:lstStyle/>
          <a:p>
            <a:r>
              <a:rPr lang="en-US">
                <a:cs typeface="Arial"/>
              </a:rPr>
              <a:t>Scope</a:t>
            </a:r>
            <a:endParaRPr lang="en-US"/>
          </a:p>
        </p:txBody>
      </p:sp>
      <p:sp>
        <p:nvSpPr>
          <p:cNvPr id="4" name="Text Placeholder 3">
            <a:extLst>
              <a:ext uri="{FF2B5EF4-FFF2-40B4-BE49-F238E27FC236}">
                <a16:creationId xmlns:a16="http://schemas.microsoft.com/office/drawing/2014/main" id="{B74B3F64-2C85-2A7B-1455-20FF8A87E41A}"/>
              </a:ext>
            </a:extLst>
          </p:cNvPr>
          <p:cNvSpPr>
            <a:spLocks noGrp="1"/>
          </p:cNvSpPr>
          <p:nvPr>
            <p:ph type="body" sz="quarter" idx="10"/>
          </p:nvPr>
        </p:nvSpPr>
        <p:spPr/>
        <p:txBody>
          <a:bodyPr vert="horz" lIns="91440" tIns="45720" rIns="91440" bIns="45720" rtlCol="0" anchor="t">
            <a:normAutofit/>
          </a:bodyPr>
          <a:lstStyle/>
          <a:p>
            <a:r>
              <a:rPr lang="en-US">
                <a:cs typeface="Arial"/>
              </a:rPr>
              <a:t>Controls system architecture baseline (EPICS 7, PVA-first)</a:t>
            </a:r>
          </a:p>
          <a:p>
            <a:r>
              <a:rPr lang="en-US">
                <a:cs typeface="Arial"/>
              </a:rPr>
              <a:t>Coexistence strategy for EPICS and legacy ADO systems</a:t>
            </a:r>
            <a:endParaRPr lang="en-US"/>
          </a:p>
          <a:p>
            <a:r>
              <a:rPr lang="en-US">
                <a:cs typeface="Arial"/>
              </a:rPr>
              <a:t>Middle-layer services and operator tools</a:t>
            </a:r>
            <a:endParaRPr lang="en-US"/>
          </a:p>
          <a:p>
            <a:r>
              <a:rPr lang="en-US">
                <a:cs typeface="Arial"/>
              </a:rPr>
              <a:t>Network and infrastructure architecture</a:t>
            </a:r>
            <a:endParaRPr lang="en-US"/>
          </a:p>
          <a:p>
            <a:r>
              <a:rPr lang="en-US">
                <a:cs typeface="Arial"/>
              </a:rPr>
              <a:t>CI/CD and governance model</a:t>
            </a:r>
            <a:endParaRPr lang="en-US"/>
          </a:p>
          <a:p>
            <a:pPr marL="0" indent="0">
              <a:buNone/>
            </a:pPr>
            <a:endParaRPr lang="en-US">
              <a:cs typeface="Arial"/>
            </a:endParaRPr>
          </a:p>
        </p:txBody>
      </p:sp>
      <p:sp>
        <p:nvSpPr>
          <p:cNvPr id="5" name="object 3">
            <a:extLst>
              <a:ext uri="{FF2B5EF4-FFF2-40B4-BE49-F238E27FC236}">
                <a16:creationId xmlns:a16="http://schemas.microsoft.com/office/drawing/2014/main" id="{D767712B-A01A-06E9-72F1-360811897013}"/>
              </a:ext>
            </a:extLst>
          </p:cNvPr>
          <p:cNvSpPr/>
          <p:nvPr/>
        </p:nvSpPr>
        <p:spPr>
          <a:xfrm>
            <a:off x="10662316" y="571938"/>
            <a:ext cx="1300728" cy="318021"/>
          </a:xfrm>
          <a:custGeom>
            <a:avLst/>
            <a:gdLst/>
            <a:ahLst/>
            <a:cxnLst/>
            <a:rect l="l" t="t" r="r" b="b"/>
            <a:pathLst>
              <a:path w="1466850" h="361950">
                <a:moveTo>
                  <a:pt x="1406525" y="0"/>
                </a:moveTo>
                <a:lnTo>
                  <a:pt x="60325" y="0"/>
                </a:lnTo>
                <a:lnTo>
                  <a:pt x="36861" y="4746"/>
                </a:lnTo>
                <a:lnTo>
                  <a:pt x="17684" y="17684"/>
                </a:lnTo>
                <a:lnTo>
                  <a:pt x="4746" y="36861"/>
                </a:lnTo>
                <a:lnTo>
                  <a:pt x="0" y="60325"/>
                </a:lnTo>
                <a:lnTo>
                  <a:pt x="0" y="301625"/>
                </a:lnTo>
                <a:lnTo>
                  <a:pt x="4746" y="325088"/>
                </a:lnTo>
                <a:lnTo>
                  <a:pt x="17684" y="344265"/>
                </a:lnTo>
                <a:lnTo>
                  <a:pt x="36861" y="357203"/>
                </a:lnTo>
                <a:lnTo>
                  <a:pt x="60325" y="361950"/>
                </a:lnTo>
                <a:lnTo>
                  <a:pt x="1406525" y="361950"/>
                </a:lnTo>
                <a:lnTo>
                  <a:pt x="1429988" y="357203"/>
                </a:lnTo>
                <a:lnTo>
                  <a:pt x="1449165" y="344265"/>
                </a:lnTo>
                <a:lnTo>
                  <a:pt x="1462103" y="325088"/>
                </a:lnTo>
                <a:lnTo>
                  <a:pt x="1466850" y="301625"/>
                </a:lnTo>
                <a:lnTo>
                  <a:pt x="1466850" y="60325"/>
                </a:lnTo>
                <a:lnTo>
                  <a:pt x="1462103" y="36861"/>
                </a:lnTo>
                <a:lnTo>
                  <a:pt x="1449165" y="17684"/>
                </a:lnTo>
                <a:lnTo>
                  <a:pt x="1429988" y="4746"/>
                </a:lnTo>
                <a:lnTo>
                  <a:pt x="1406525" y="0"/>
                </a:lnTo>
                <a:close/>
              </a:path>
            </a:pathLst>
          </a:custGeom>
          <a:solidFill>
            <a:srgbClr val="0070C0"/>
          </a:solid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800" spc="-10">
                <a:solidFill>
                  <a:srgbClr val="FFFFFF"/>
                </a:solidFill>
                <a:latin typeface="Arial"/>
                <a:cs typeface="Arial"/>
              </a:rPr>
              <a:t>Charge</a:t>
            </a:r>
            <a:r>
              <a:rPr lang="en-US" sz="1800" spc="-80">
                <a:solidFill>
                  <a:srgbClr val="FFFFFF"/>
                </a:solidFill>
                <a:latin typeface="Arial"/>
                <a:cs typeface="Arial"/>
              </a:rPr>
              <a:t> </a:t>
            </a:r>
            <a:r>
              <a:rPr lang="en-US" sz="1800">
                <a:solidFill>
                  <a:srgbClr val="FFFFFF"/>
                </a:solidFill>
                <a:latin typeface="Arial"/>
                <a:cs typeface="Arial"/>
              </a:rPr>
              <a:t>#</a:t>
            </a:r>
            <a:r>
              <a:rPr lang="en-US">
                <a:solidFill>
                  <a:srgbClr val="FFFFFF"/>
                </a:solidFill>
                <a:latin typeface="Arial"/>
                <a:cs typeface="Arial"/>
              </a:rPr>
              <a:t>1-7</a:t>
            </a:r>
            <a:endParaRPr lang="en-US" strike="sngStrike">
              <a:solidFill>
                <a:srgbClr val="FFFFFF"/>
              </a:solidFill>
              <a:cs typeface="Arial"/>
            </a:endParaRPr>
          </a:p>
        </p:txBody>
      </p:sp>
    </p:spTree>
    <p:extLst>
      <p:ext uri="{BB962C8B-B14F-4D97-AF65-F5344CB8AC3E}">
        <p14:creationId xmlns:p14="http://schemas.microsoft.com/office/powerpoint/2010/main" val="39275831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CA4FBEC-335D-175C-DB31-3DD7A1682857}"/>
              </a:ext>
            </a:extLst>
          </p:cNvPr>
          <p:cNvSpPr>
            <a:spLocks noGrp="1"/>
          </p:cNvSpPr>
          <p:nvPr>
            <p:ph type="sldNum" sz="quarter" idx="4"/>
          </p:nvPr>
        </p:nvSpPr>
        <p:spPr/>
        <p:txBody>
          <a:bodyPr/>
          <a:lstStyle/>
          <a:p>
            <a:pPr algn="ctr"/>
            <a:fld id="{933A556B-7C63-244D-9B7C-B0EA8042B330}" type="slidenum">
              <a:rPr lang="en-US" smtClean="0"/>
              <a:pPr algn="ctr"/>
              <a:t>6</a:t>
            </a:fld>
            <a:endParaRPr lang="en-US"/>
          </a:p>
        </p:txBody>
      </p:sp>
      <p:sp>
        <p:nvSpPr>
          <p:cNvPr id="3" name="Title 2">
            <a:extLst>
              <a:ext uri="{FF2B5EF4-FFF2-40B4-BE49-F238E27FC236}">
                <a16:creationId xmlns:a16="http://schemas.microsoft.com/office/drawing/2014/main" id="{C4A2E6EE-82C1-5E0C-A1E3-DA0873EF5984}"/>
              </a:ext>
            </a:extLst>
          </p:cNvPr>
          <p:cNvSpPr>
            <a:spLocks noGrp="1"/>
          </p:cNvSpPr>
          <p:nvPr>
            <p:ph type="title"/>
          </p:nvPr>
        </p:nvSpPr>
        <p:spPr/>
        <p:txBody>
          <a:bodyPr/>
          <a:lstStyle/>
          <a:p>
            <a:r>
              <a:rPr lang="en-US">
                <a:cs typeface="Arial"/>
              </a:rPr>
              <a:t>Requirements</a:t>
            </a:r>
          </a:p>
        </p:txBody>
      </p:sp>
      <p:sp>
        <p:nvSpPr>
          <p:cNvPr id="4" name="Text Placeholder 3">
            <a:extLst>
              <a:ext uri="{FF2B5EF4-FFF2-40B4-BE49-F238E27FC236}">
                <a16:creationId xmlns:a16="http://schemas.microsoft.com/office/drawing/2014/main" id="{BF0086F3-C538-DBEA-77E6-03BC5084093C}"/>
              </a:ext>
            </a:extLst>
          </p:cNvPr>
          <p:cNvSpPr>
            <a:spLocks noGrp="1"/>
          </p:cNvSpPr>
          <p:nvPr>
            <p:ph type="body" sz="quarter" idx="10"/>
          </p:nvPr>
        </p:nvSpPr>
        <p:spPr>
          <a:xfrm>
            <a:off x="7742075" y="981075"/>
            <a:ext cx="4219737" cy="5065713"/>
          </a:xfrm>
        </p:spPr>
        <p:txBody>
          <a:bodyPr vert="horz" lIns="91440" tIns="45720" rIns="91440" bIns="45720" rtlCol="0" anchor="t">
            <a:normAutofit/>
          </a:bodyPr>
          <a:lstStyle/>
          <a:p>
            <a:r>
              <a:rPr lang="en-US"/>
              <a:t>Initial versions of the Performance Requirements Documents (PRDs) </a:t>
            </a:r>
            <a:endParaRPr lang="en-US">
              <a:cs typeface="Arial"/>
            </a:endParaRPr>
          </a:p>
          <a:p>
            <a:pPr lvl="1"/>
            <a:r>
              <a:rPr lang="en-US"/>
              <a:t>High Level Applications </a:t>
            </a:r>
            <a:br>
              <a:rPr lang="en-US"/>
            </a:br>
            <a:r>
              <a:rPr lang="en-US">
                <a:highlight>
                  <a:srgbClr val="FFFF00"/>
                </a:highlight>
              </a:rPr>
              <a:t>[EIC-SEG-RSI-158]</a:t>
            </a:r>
            <a:endParaRPr lang="en-US">
              <a:cs typeface="Arial"/>
            </a:endParaRPr>
          </a:p>
          <a:p>
            <a:pPr lvl="1"/>
            <a:r>
              <a:rPr lang="en-US"/>
              <a:t>Networking &amp; Computing </a:t>
            </a:r>
            <a:r>
              <a:rPr lang="en-US">
                <a:highlight>
                  <a:srgbClr val="FFFF00"/>
                </a:highlight>
              </a:rPr>
              <a:t>[EIC-SEG-RSI-124]</a:t>
            </a:r>
          </a:p>
        </p:txBody>
      </p:sp>
      <p:sp>
        <p:nvSpPr>
          <p:cNvPr id="5" name="object 3">
            <a:extLst>
              <a:ext uri="{FF2B5EF4-FFF2-40B4-BE49-F238E27FC236}">
                <a16:creationId xmlns:a16="http://schemas.microsoft.com/office/drawing/2014/main" id="{4F600938-2441-5E82-DE2F-CC5E2AB856D8}"/>
              </a:ext>
            </a:extLst>
          </p:cNvPr>
          <p:cNvSpPr/>
          <p:nvPr/>
        </p:nvSpPr>
        <p:spPr>
          <a:xfrm>
            <a:off x="10493968" y="571938"/>
            <a:ext cx="1460216" cy="326881"/>
          </a:xfrm>
          <a:custGeom>
            <a:avLst/>
            <a:gdLst/>
            <a:ahLst/>
            <a:cxnLst/>
            <a:rect l="l" t="t" r="r" b="b"/>
            <a:pathLst>
              <a:path w="1466850" h="361950">
                <a:moveTo>
                  <a:pt x="1406525" y="0"/>
                </a:moveTo>
                <a:lnTo>
                  <a:pt x="60325" y="0"/>
                </a:lnTo>
                <a:lnTo>
                  <a:pt x="36861" y="4746"/>
                </a:lnTo>
                <a:lnTo>
                  <a:pt x="17684" y="17684"/>
                </a:lnTo>
                <a:lnTo>
                  <a:pt x="4746" y="36861"/>
                </a:lnTo>
                <a:lnTo>
                  <a:pt x="0" y="60325"/>
                </a:lnTo>
                <a:lnTo>
                  <a:pt x="0" y="301625"/>
                </a:lnTo>
                <a:lnTo>
                  <a:pt x="4746" y="325088"/>
                </a:lnTo>
                <a:lnTo>
                  <a:pt x="17684" y="344265"/>
                </a:lnTo>
                <a:lnTo>
                  <a:pt x="36861" y="357203"/>
                </a:lnTo>
                <a:lnTo>
                  <a:pt x="60325" y="361950"/>
                </a:lnTo>
                <a:lnTo>
                  <a:pt x="1406525" y="361950"/>
                </a:lnTo>
                <a:lnTo>
                  <a:pt x="1429988" y="357203"/>
                </a:lnTo>
                <a:lnTo>
                  <a:pt x="1449165" y="344265"/>
                </a:lnTo>
                <a:lnTo>
                  <a:pt x="1462103" y="325088"/>
                </a:lnTo>
                <a:lnTo>
                  <a:pt x="1466850" y="301625"/>
                </a:lnTo>
                <a:lnTo>
                  <a:pt x="1466850" y="60325"/>
                </a:lnTo>
                <a:lnTo>
                  <a:pt x="1462103" y="36861"/>
                </a:lnTo>
                <a:lnTo>
                  <a:pt x="1449165" y="17684"/>
                </a:lnTo>
                <a:lnTo>
                  <a:pt x="1429988" y="4746"/>
                </a:lnTo>
                <a:lnTo>
                  <a:pt x="1406525" y="0"/>
                </a:lnTo>
                <a:close/>
              </a:path>
            </a:pathLst>
          </a:custGeom>
          <a:solidFill>
            <a:srgbClr val="0070C0"/>
          </a:solid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800" spc="-10">
                <a:solidFill>
                  <a:srgbClr val="FFFFFF"/>
                </a:solidFill>
                <a:latin typeface="Arial"/>
                <a:cs typeface="Arial"/>
              </a:rPr>
              <a:t>Charge</a:t>
            </a:r>
            <a:r>
              <a:rPr lang="en-US" spc="-80">
                <a:solidFill>
                  <a:srgbClr val="FFFFFF"/>
                </a:solidFill>
                <a:latin typeface="Arial"/>
                <a:cs typeface="Arial"/>
              </a:rPr>
              <a:t> #1,3</a:t>
            </a:r>
            <a:endParaRPr lang="en-US" strike="sngStrike">
              <a:solidFill>
                <a:srgbClr val="FFFFFF"/>
              </a:solidFill>
              <a:cs typeface="Arial"/>
            </a:endParaRPr>
          </a:p>
        </p:txBody>
      </p:sp>
      <p:pic>
        <p:nvPicPr>
          <p:cNvPr id="6" name="Content Placeholder 9">
            <a:extLst>
              <a:ext uri="{FF2B5EF4-FFF2-40B4-BE49-F238E27FC236}">
                <a16:creationId xmlns:a16="http://schemas.microsoft.com/office/drawing/2014/main" id="{62AA3E13-B9C2-8738-C39A-41A49F5A5A0A}"/>
              </a:ext>
            </a:extLst>
          </p:cNvPr>
          <p:cNvPicPr>
            <a:picLocks noChangeAspect="1"/>
          </p:cNvPicPr>
          <p:nvPr/>
        </p:nvPicPr>
        <p:blipFill>
          <a:blip r:embed="rId2"/>
          <a:stretch>
            <a:fillRect/>
          </a:stretch>
        </p:blipFill>
        <p:spPr>
          <a:xfrm>
            <a:off x="466258" y="888149"/>
            <a:ext cx="3688369" cy="4839072"/>
          </a:xfrm>
          <a:prstGeom prst="rect">
            <a:avLst/>
          </a:prstGeom>
        </p:spPr>
      </p:pic>
      <p:pic>
        <p:nvPicPr>
          <p:cNvPr id="7" name="Picture 6">
            <a:extLst>
              <a:ext uri="{FF2B5EF4-FFF2-40B4-BE49-F238E27FC236}">
                <a16:creationId xmlns:a16="http://schemas.microsoft.com/office/drawing/2014/main" id="{80DF395F-1C59-5CDC-7AD2-81EBFA423BBA}"/>
              </a:ext>
            </a:extLst>
          </p:cNvPr>
          <p:cNvPicPr>
            <a:picLocks noChangeAspect="1"/>
          </p:cNvPicPr>
          <p:nvPr/>
        </p:nvPicPr>
        <p:blipFill>
          <a:blip r:embed="rId3"/>
          <a:stretch>
            <a:fillRect/>
          </a:stretch>
        </p:blipFill>
        <p:spPr>
          <a:xfrm>
            <a:off x="3214800" y="983292"/>
            <a:ext cx="4525071" cy="5426229"/>
          </a:xfrm>
          <a:prstGeom prst="rect">
            <a:avLst/>
          </a:prstGeom>
        </p:spPr>
      </p:pic>
    </p:spTree>
    <p:extLst>
      <p:ext uri="{BB962C8B-B14F-4D97-AF65-F5344CB8AC3E}">
        <p14:creationId xmlns:p14="http://schemas.microsoft.com/office/powerpoint/2010/main" val="36177512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50F959B-F612-869B-73A1-1BF5D9BD2E28}"/>
              </a:ext>
            </a:extLst>
          </p:cNvPr>
          <p:cNvPicPr>
            <a:picLocks noChangeAspect="1"/>
          </p:cNvPicPr>
          <p:nvPr/>
        </p:nvPicPr>
        <p:blipFill>
          <a:blip r:embed="rId2"/>
          <a:stretch>
            <a:fillRect/>
          </a:stretch>
        </p:blipFill>
        <p:spPr>
          <a:xfrm>
            <a:off x="3935751" y="642348"/>
            <a:ext cx="8029738" cy="5743340"/>
          </a:xfrm>
          <a:prstGeom prst="rect">
            <a:avLst/>
          </a:prstGeom>
        </p:spPr>
      </p:pic>
      <p:sp>
        <p:nvSpPr>
          <p:cNvPr id="2" name="Slide Number Placeholder 1">
            <a:extLst>
              <a:ext uri="{FF2B5EF4-FFF2-40B4-BE49-F238E27FC236}">
                <a16:creationId xmlns:a16="http://schemas.microsoft.com/office/drawing/2014/main" id="{D75DAE8C-3986-788E-2F2B-CA71407105A3}"/>
              </a:ext>
            </a:extLst>
          </p:cNvPr>
          <p:cNvSpPr>
            <a:spLocks noGrp="1"/>
          </p:cNvSpPr>
          <p:nvPr>
            <p:ph type="sldNum" sz="quarter" idx="4"/>
          </p:nvPr>
        </p:nvSpPr>
        <p:spPr/>
        <p:txBody>
          <a:bodyPr/>
          <a:lstStyle/>
          <a:p>
            <a:pPr algn="ctr"/>
            <a:fld id="{933A556B-7C63-244D-9B7C-B0EA8042B330}" type="slidenum">
              <a:rPr lang="en-US" smtClean="0"/>
              <a:pPr algn="ctr"/>
              <a:t>7</a:t>
            </a:fld>
            <a:endParaRPr lang="en-US"/>
          </a:p>
        </p:txBody>
      </p:sp>
      <p:sp>
        <p:nvSpPr>
          <p:cNvPr id="3" name="Title 2">
            <a:extLst>
              <a:ext uri="{FF2B5EF4-FFF2-40B4-BE49-F238E27FC236}">
                <a16:creationId xmlns:a16="http://schemas.microsoft.com/office/drawing/2014/main" id="{F776B914-66F5-8F6C-B73E-790DB62C82C4}"/>
              </a:ext>
            </a:extLst>
          </p:cNvPr>
          <p:cNvSpPr>
            <a:spLocks noGrp="1"/>
          </p:cNvSpPr>
          <p:nvPr>
            <p:ph type="title"/>
          </p:nvPr>
        </p:nvSpPr>
        <p:spPr/>
        <p:txBody>
          <a:bodyPr/>
          <a:lstStyle/>
          <a:p>
            <a:r>
              <a:rPr lang="en-US">
                <a:cs typeface="Arial"/>
              </a:rPr>
              <a:t>Control System Architecture</a:t>
            </a:r>
            <a:endParaRPr lang="en-US"/>
          </a:p>
        </p:txBody>
      </p:sp>
      <p:sp>
        <p:nvSpPr>
          <p:cNvPr id="4" name="Text Placeholder 3">
            <a:extLst>
              <a:ext uri="{FF2B5EF4-FFF2-40B4-BE49-F238E27FC236}">
                <a16:creationId xmlns:a16="http://schemas.microsoft.com/office/drawing/2014/main" id="{71E2873B-A68A-58F4-6375-8D5A91638B0C}"/>
              </a:ext>
            </a:extLst>
          </p:cNvPr>
          <p:cNvSpPr>
            <a:spLocks noGrp="1"/>
          </p:cNvSpPr>
          <p:nvPr>
            <p:ph type="body" sz="quarter" idx="10"/>
          </p:nvPr>
        </p:nvSpPr>
        <p:spPr>
          <a:xfrm>
            <a:off x="461963" y="981075"/>
            <a:ext cx="3873253" cy="5414173"/>
          </a:xfrm>
        </p:spPr>
        <p:txBody>
          <a:bodyPr vert="horz" lIns="91440" tIns="45720" rIns="91440" bIns="45720" rtlCol="0" anchor="t">
            <a:noAutofit/>
          </a:bodyPr>
          <a:lstStyle/>
          <a:p>
            <a:pPr>
              <a:lnSpc>
                <a:spcPct val="110000"/>
              </a:lnSpc>
            </a:pPr>
            <a:r>
              <a:rPr lang="en-US" sz="1900">
                <a:solidFill>
                  <a:srgbClr val="000000"/>
                </a:solidFill>
                <a:latin typeface="Arial"/>
                <a:cs typeface="Arial"/>
              </a:rPr>
              <a:t>Operator and application layer (Phoebus tools, web tools, HLAs)</a:t>
            </a:r>
            <a:br>
              <a:rPr lang="en-US" sz="1900">
                <a:latin typeface="Arial"/>
                <a:cs typeface="Arial"/>
              </a:rPr>
            </a:br>
            <a:r>
              <a:rPr lang="en-US" sz="1900">
                <a:highlight>
                  <a:srgbClr val="FFFF00"/>
                </a:highlight>
                <a:ea typeface="+mn-lt"/>
                <a:cs typeface="+mn-lt"/>
              </a:rPr>
              <a:t>[EIC-ROD-069]</a:t>
            </a:r>
            <a:r>
              <a:rPr lang="en-US" sz="1900">
                <a:ea typeface="+mn-lt"/>
                <a:cs typeface="+mn-lt"/>
              </a:rPr>
              <a:t> </a:t>
            </a:r>
            <a:r>
              <a:rPr lang="en-US" sz="1900">
                <a:highlight>
                  <a:srgbClr val="00FFFF"/>
                </a:highlight>
                <a:ea typeface="+mn-lt"/>
                <a:cs typeface="+mn-lt"/>
              </a:rPr>
              <a:t>[Talk-12-Shroff]</a:t>
            </a:r>
            <a:endParaRPr lang="en-US" sz="1900">
              <a:highlight>
                <a:srgbClr val="00FFFF"/>
              </a:highlight>
              <a:latin typeface="Arial"/>
              <a:cs typeface="Arial"/>
            </a:endParaRPr>
          </a:p>
          <a:p>
            <a:pPr>
              <a:lnSpc>
                <a:spcPct val="110000"/>
              </a:lnSpc>
            </a:pPr>
            <a:endParaRPr lang="en-US" sz="1900">
              <a:solidFill>
                <a:srgbClr val="000000"/>
              </a:solidFill>
              <a:latin typeface="Arial"/>
              <a:cs typeface="Arial"/>
            </a:endParaRPr>
          </a:p>
          <a:p>
            <a:pPr>
              <a:lnSpc>
                <a:spcPct val="110000"/>
              </a:lnSpc>
            </a:pPr>
            <a:r>
              <a:rPr lang="en-US" sz="1900">
                <a:solidFill>
                  <a:srgbClr val="000000"/>
                </a:solidFill>
                <a:latin typeface="Arial"/>
                <a:cs typeface="Arial"/>
              </a:rPr>
              <a:t>Middle-layer services (Archiver, Alarm, Olog, ChannelFinder, Save/Restore, Gateway)</a:t>
            </a:r>
            <a:br>
              <a:rPr lang="en-US" sz="1900">
                <a:latin typeface="Arial"/>
                <a:cs typeface="Arial"/>
              </a:rPr>
            </a:br>
            <a:r>
              <a:rPr lang="en-US" sz="1900">
                <a:solidFill>
                  <a:srgbClr val="000000"/>
                </a:solidFill>
                <a:highlight>
                  <a:srgbClr val="00FFFF"/>
                </a:highlight>
                <a:ea typeface="+mn-lt"/>
                <a:cs typeface="+mn-lt"/>
              </a:rPr>
              <a:t>[Talk-11-Nemesure]</a:t>
            </a:r>
            <a:br>
              <a:rPr lang="en-US" sz="1900">
                <a:highlight>
                  <a:srgbClr val="00FFFF"/>
                </a:highlight>
                <a:latin typeface="Arial"/>
                <a:cs typeface="Arial"/>
              </a:rPr>
            </a:br>
            <a:br>
              <a:rPr lang="en-US" sz="1900">
                <a:latin typeface="Arial"/>
                <a:cs typeface="Arial"/>
              </a:rPr>
            </a:br>
            <a:endParaRPr lang="en-US" sz="1900">
              <a:solidFill>
                <a:srgbClr val="000000"/>
              </a:solidFill>
              <a:latin typeface="Arial"/>
              <a:cs typeface="Arial"/>
            </a:endParaRPr>
          </a:p>
          <a:p>
            <a:pPr>
              <a:lnSpc>
                <a:spcPct val="110000"/>
              </a:lnSpc>
            </a:pPr>
            <a:r>
              <a:rPr lang="en-US" sz="1900">
                <a:solidFill>
                  <a:srgbClr val="000000"/>
                </a:solidFill>
                <a:latin typeface="Arial"/>
                <a:cs typeface="Arial"/>
              </a:rPr>
              <a:t>Control system layer (EPICS 7 with PVA, ADO compatibility)</a:t>
            </a:r>
            <a:br>
              <a:rPr lang="en-US" sz="1900">
                <a:latin typeface="Arial"/>
                <a:cs typeface="Arial"/>
              </a:rPr>
            </a:br>
            <a:r>
              <a:rPr lang="en-US" sz="1900">
                <a:highlight>
                  <a:srgbClr val="FFFF00"/>
                </a:highlight>
                <a:cs typeface="Arial"/>
              </a:rPr>
              <a:t>[EIC-ROD-056]</a:t>
            </a:r>
          </a:p>
        </p:txBody>
      </p:sp>
      <p:sp>
        <p:nvSpPr>
          <p:cNvPr id="5" name="object 3">
            <a:extLst>
              <a:ext uri="{FF2B5EF4-FFF2-40B4-BE49-F238E27FC236}">
                <a16:creationId xmlns:a16="http://schemas.microsoft.com/office/drawing/2014/main" id="{316BAF88-3AFD-A2B1-2BC4-A09C71699DAC}"/>
              </a:ext>
            </a:extLst>
          </p:cNvPr>
          <p:cNvSpPr/>
          <p:nvPr/>
        </p:nvSpPr>
        <p:spPr>
          <a:xfrm>
            <a:off x="10462745" y="571938"/>
            <a:ext cx="1500299" cy="318021"/>
          </a:xfrm>
          <a:custGeom>
            <a:avLst/>
            <a:gdLst/>
            <a:ahLst/>
            <a:cxnLst/>
            <a:rect l="l" t="t" r="r" b="b"/>
            <a:pathLst>
              <a:path w="1466850" h="361950">
                <a:moveTo>
                  <a:pt x="1406525" y="0"/>
                </a:moveTo>
                <a:lnTo>
                  <a:pt x="60325" y="0"/>
                </a:lnTo>
                <a:lnTo>
                  <a:pt x="36861" y="4746"/>
                </a:lnTo>
                <a:lnTo>
                  <a:pt x="17684" y="17684"/>
                </a:lnTo>
                <a:lnTo>
                  <a:pt x="4746" y="36861"/>
                </a:lnTo>
                <a:lnTo>
                  <a:pt x="0" y="60325"/>
                </a:lnTo>
                <a:lnTo>
                  <a:pt x="0" y="301625"/>
                </a:lnTo>
                <a:lnTo>
                  <a:pt x="4746" y="325088"/>
                </a:lnTo>
                <a:lnTo>
                  <a:pt x="17684" y="344265"/>
                </a:lnTo>
                <a:lnTo>
                  <a:pt x="36861" y="357203"/>
                </a:lnTo>
                <a:lnTo>
                  <a:pt x="60325" y="361950"/>
                </a:lnTo>
                <a:lnTo>
                  <a:pt x="1406525" y="361950"/>
                </a:lnTo>
                <a:lnTo>
                  <a:pt x="1429988" y="357203"/>
                </a:lnTo>
                <a:lnTo>
                  <a:pt x="1449165" y="344265"/>
                </a:lnTo>
                <a:lnTo>
                  <a:pt x="1462103" y="325088"/>
                </a:lnTo>
                <a:lnTo>
                  <a:pt x="1466850" y="301625"/>
                </a:lnTo>
                <a:lnTo>
                  <a:pt x="1466850" y="60325"/>
                </a:lnTo>
                <a:lnTo>
                  <a:pt x="1462103" y="36861"/>
                </a:lnTo>
                <a:lnTo>
                  <a:pt x="1449165" y="17684"/>
                </a:lnTo>
                <a:lnTo>
                  <a:pt x="1429988" y="4746"/>
                </a:lnTo>
                <a:lnTo>
                  <a:pt x="1406525" y="0"/>
                </a:lnTo>
                <a:close/>
              </a:path>
            </a:pathLst>
          </a:custGeom>
          <a:solidFill>
            <a:srgbClr val="0070C0"/>
          </a:solid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800" spc="-10">
                <a:solidFill>
                  <a:srgbClr val="FFFFFF"/>
                </a:solidFill>
                <a:latin typeface="Arial"/>
                <a:cs typeface="Arial"/>
              </a:rPr>
              <a:t>Charge</a:t>
            </a:r>
            <a:r>
              <a:rPr lang="en-US" spc="-80">
                <a:solidFill>
                  <a:srgbClr val="FFFFFF"/>
                </a:solidFill>
                <a:latin typeface="Arial"/>
                <a:cs typeface="Arial"/>
              </a:rPr>
              <a:t> #1-5</a:t>
            </a:r>
            <a:endParaRPr lang="en-US">
              <a:solidFill>
                <a:srgbClr val="FFFFFF"/>
              </a:solidFill>
              <a:cs typeface="Arial"/>
            </a:endParaRPr>
          </a:p>
        </p:txBody>
      </p:sp>
    </p:spTree>
    <p:extLst>
      <p:ext uri="{BB962C8B-B14F-4D97-AF65-F5344CB8AC3E}">
        <p14:creationId xmlns:p14="http://schemas.microsoft.com/office/powerpoint/2010/main" val="1468549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D50FA-E282-E262-2587-0886907F76C1}"/>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A65BC6B7-6AFE-55AB-CF74-76DBAAE9A4BD}"/>
              </a:ext>
            </a:extLst>
          </p:cNvPr>
          <p:cNvPicPr>
            <a:picLocks noChangeAspect="1"/>
          </p:cNvPicPr>
          <p:nvPr/>
        </p:nvPicPr>
        <p:blipFill>
          <a:blip r:embed="rId2"/>
          <a:stretch>
            <a:fillRect/>
          </a:stretch>
        </p:blipFill>
        <p:spPr>
          <a:xfrm>
            <a:off x="3935751" y="642348"/>
            <a:ext cx="8029738" cy="5743340"/>
          </a:xfrm>
          <a:prstGeom prst="rect">
            <a:avLst/>
          </a:prstGeom>
        </p:spPr>
      </p:pic>
      <p:sp>
        <p:nvSpPr>
          <p:cNvPr id="6" name="Rectangle 5">
            <a:extLst>
              <a:ext uri="{FF2B5EF4-FFF2-40B4-BE49-F238E27FC236}">
                <a16:creationId xmlns:a16="http://schemas.microsoft.com/office/drawing/2014/main" id="{13138861-143F-4EBB-A8BC-B8FB9E2FA8E2}"/>
              </a:ext>
            </a:extLst>
          </p:cNvPr>
          <p:cNvSpPr/>
          <p:nvPr/>
        </p:nvSpPr>
        <p:spPr>
          <a:xfrm>
            <a:off x="460075" y="891396"/>
            <a:ext cx="11501887" cy="3968151"/>
          </a:xfrm>
          <a:prstGeom prst="rect">
            <a:avLst/>
          </a:prstGeom>
          <a:solidFill>
            <a:srgbClr val="FFFFFF">
              <a:alpha val="7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Slide Number Placeholder 1">
            <a:extLst>
              <a:ext uri="{FF2B5EF4-FFF2-40B4-BE49-F238E27FC236}">
                <a16:creationId xmlns:a16="http://schemas.microsoft.com/office/drawing/2014/main" id="{C9C1D311-0EFC-976A-AB42-85C89B26518B}"/>
              </a:ext>
            </a:extLst>
          </p:cNvPr>
          <p:cNvSpPr>
            <a:spLocks noGrp="1"/>
          </p:cNvSpPr>
          <p:nvPr>
            <p:ph type="sldNum" sz="quarter" idx="4"/>
          </p:nvPr>
        </p:nvSpPr>
        <p:spPr/>
        <p:txBody>
          <a:bodyPr/>
          <a:lstStyle/>
          <a:p>
            <a:pPr algn="ctr"/>
            <a:fld id="{933A556B-7C63-244D-9B7C-B0EA8042B330}" type="slidenum">
              <a:rPr lang="en-US" smtClean="0"/>
              <a:pPr algn="ctr"/>
              <a:t>8</a:t>
            </a:fld>
            <a:endParaRPr lang="en-US"/>
          </a:p>
        </p:txBody>
      </p:sp>
      <p:sp>
        <p:nvSpPr>
          <p:cNvPr id="3" name="Title 2">
            <a:extLst>
              <a:ext uri="{FF2B5EF4-FFF2-40B4-BE49-F238E27FC236}">
                <a16:creationId xmlns:a16="http://schemas.microsoft.com/office/drawing/2014/main" id="{938E4A02-8229-42F3-4978-05BBF0477BB9}"/>
              </a:ext>
            </a:extLst>
          </p:cNvPr>
          <p:cNvSpPr>
            <a:spLocks noGrp="1"/>
          </p:cNvSpPr>
          <p:nvPr>
            <p:ph type="title"/>
          </p:nvPr>
        </p:nvSpPr>
        <p:spPr/>
        <p:txBody>
          <a:bodyPr/>
          <a:lstStyle/>
          <a:p>
            <a:r>
              <a:rPr lang="en-US">
                <a:cs typeface="Arial"/>
              </a:rPr>
              <a:t>Control System Architecture</a:t>
            </a:r>
            <a:endParaRPr lang="en-US"/>
          </a:p>
        </p:txBody>
      </p:sp>
      <p:sp>
        <p:nvSpPr>
          <p:cNvPr id="4" name="Text Placeholder 3">
            <a:extLst>
              <a:ext uri="{FF2B5EF4-FFF2-40B4-BE49-F238E27FC236}">
                <a16:creationId xmlns:a16="http://schemas.microsoft.com/office/drawing/2014/main" id="{107B32E7-361E-753C-7DCB-777973DB91C1}"/>
              </a:ext>
            </a:extLst>
          </p:cNvPr>
          <p:cNvSpPr>
            <a:spLocks noGrp="1"/>
          </p:cNvSpPr>
          <p:nvPr>
            <p:ph type="body" sz="quarter" idx="10"/>
          </p:nvPr>
        </p:nvSpPr>
        <p:spPr>
          <a:xfrm>
            <a:off x="461963" y="981075"/>
            <a:ext cx="3556578" cy="5065713"/>
          </a:xfrm>
        </p:spPr>
        <p:txBody>
          <a:bodyPr vert="horz" lIns="91440" tIns="45720" rIns="91440" bIns="45720" rtlCol="0" anchor="t">
            <a:normAutofit fontScale="92500"/>
          </a:bodyPr>
          <a:lstStyle/>
          <a:p>
            <a:pPr>
              <a:lnSpc>
                <a:spcPct val="110000"/>
              </a:lnSpc>
            </a:pPr>
            <a:r>
              <a:rPr lang="en-US">
                <a:solidFill>
                  <a:srgbClr val="000000"/>
                </a:solidFill>
                <a:latin typeface="Arial"/>
                <a:cs typeface="Arial"/>
              </a:rPr>
              <a:t>Operator and application layer (Phoebus tools, web tools, HLAs)</a:t>
            </a:r>
            <a:endParaRPr lang="en-US">
              <a:latin typeface="Arial"/>
              <a:cs typeface="Arial"/>
            </a:endParaRPr>
          </a:p>
          <a:p>
            <a:pPr>
              <a:lnSpc>
                <a:spcPct val="110000"/>
              </a:lnSpc>
            </a:pPr>
            <a:endParaRPr lang="en-US">
              <a:solidFill>
                <a:srgbClr val="000000"/>
              </a:solidFill>
              <a:latin typeface="Arial"/>
              <a:cs typeface="Arial"/>
            </a:endParaRPr>
          </a:p>
          <a:p>
            <a:pPr>
              <a:lnSpc>
                <a:spcPct val="110000"/>
              </a:lnSpc>
            </a:pPr>
            <a:r>
              <a:rPr lang="en-US">
                <a:solidFill>
                  <a:srgbClr val="000000"/>
                </a:solidFill>
                <a:latin typeface="Arial"/>
                <a:cs typeface="Arial"/>
              </a:rPr>
              <a:t>Middle-layer services (Archiver, Alarm, Olog, ChannelFinder, Save/Restore, Gateway)</a:t>
            </a:r>
          </a:p>
          <a:p>
            <a:pPr>
              <a:lnSpc>
                <a:spcPct val="110000"/>
              </a:lnSpc>
            </a:pPr>
            <a:endParaRPr lang="en-US">
              <a:solidFill>
                <a:srgbClr val="000000"/>
              </a:solidFill>
              <a:latin typeface="Arial"/>
              <a:cs typeface="Arial"/>
            </a:endParaRPr>
          </a:p>
          <a:p>
            <a:pPr>
              <a:lnSpc>
                <a:spcPct val="110000"/>
              </a:lnSpc>
            </a:pPr>
            <a:r>
              <a:rPr lang="en-US">
                <a:solidFill>
                  <a:srgbClr val="000000"/>
                </a:solidFill>
                <a:latin typeface="Arial"/>
                <a:cs typeface="Arial"/>
              </a:rPr>
              <a:t>Control system layer (EPICS 7 with PVA-first, CA compatibility)</a:t>
            </a:r>
          </a:p>
          <a:p>
            <a:pPr>
              <a:lnSpc>
                <a:spcPct val="110000"/>
              </a:lnSpc>
            </a:pPr>
            <a:endParaRPr lang="en-US">
              <a:cs typeface="Arial"/>
            </a:endParaRPr>
          </a:p>
        </p:txBody>
      </p:sp>
      <p:sp>
        <p:nvSpPr>
          <p:cNvPr id="5" name="object 3">
            <a:extLst>
              <a:ext uri="{FF2B5EF4-FFF2-40B4-BE49-F238E27FC236}">
                <a16:creationId xmlns:a16="http://schemas.microsoft.com/office/drawing/2014/main" id="{C65F6CC3-E4F8-2E8F-325D-C215EF7E85C7}"/>
              </a:ext>
            </a:extLst>
          </p:cNvPr>
          <p:cNvSpPr/>
          <p:nvPr/>
        </p:nvSpPr>
        <p:spPr>
          <a:xfrm>
            <a:off x="10462745" y="571938"/>
            <a:ext cx="1500299" cy="318021"/>
          </a:xfrm>
          <a:custGeom>
            <a:avLst/>
            <a:gdLst/>
            <a:ahLst/>
            <a:cxnLst/>
            <a:rect l="l" t="t" r="r" b="b"/>
            <a:pathLst>
              <a:path w="1466850" h="361950">
                <a:moveTo>
                  <a:pt x="1406525" y="0"/>
                </a:moveTo>
                <a:lnTo>
                  <a:pt x="60325" y="0"/>
                </a:lnTo>
                <a:lnTo>
                  <a:pt x="36861" y="4746"/>
                </a:lnTo>
                <a:lnTo>
                  <a:pt x="17684" y="17684"/>
                </a:lnTo>
                <a:lnTo>
                  <a:pt x="4746" y="36861"/>
                </a:lnTo>
                <a:lnTo>
                  <a:pt x="0" y="60325"/>
                </a:lnTo>
                <a:lnTo>
                  <a:pt x="0" y="301625"/>
                </a:lnTo>
                <a:lnTo>
                  <a:pt x="4746" y="325088"/>
                </a:lnTo>
                <a:lnTo>
                  <a:pt x="17684" y="344265"/>
                </a:lnTo>
                <a:lnTo>
                  <a:pt x="36861" y="357203"/>
                </a:lnTo>
                <a:lnTo>
                  <a:pt x="60325" y="361950"/>
                </a:lnTo>
                <a:lnTo>
                  <a:pt x="1406525" y="361950"/>
                </a:lnTo>
                <a:lnTo>
                  <a:pt x="1429988" y="357203"/>
                </a:lnTo>
                <a:lnTo>
                  <a:pt x="1449165" y="344265"/>
                </a:lnTo>
                <a:lnTo>
                  <a:pt x="1462103" y="325088"/>
                </a:lnTo>
                <a:lnTo>
                  <a:pt x="1466850" y="301625"/>
                </a:lnTo>
                <a:lnTo>
                  <a:pt x="1466850" y="60325"/>
                </a:lnTo>
                <a:lnTo>
                  <a:pt x="1462103" y="36861"/>
                </a:lnTo>
                <a:lnTo>
                  <a:pt x="1449165" y="17684"/>
                </a:lnTo>
                <a:lnTo>
                  <a:pt x="1429988" y="4746"/>
                </a:lnTo>
                <a:lnTo>
                  <a:pt x="1406525" y="0"/>
                </a:lnTo>
                <a:close/>
              </a:path>
            </a:pathLst>
          </a:custGeom>
          <a:solidFill>
            <a:srgbClr val="0070C0"/>
          </a:solid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800" spc="-10">
                <a:solidFill>
                  <a:srgbClr val="FFFFFF"/>
                </a:solidFill>
                <a:latin typeface="Arial"/>
                <a:cs typeface="Arial"/>
              </a:rPr>
              <a:t>Charge</a:t>
            </a:r>
            <a:r>
              <a:rPr lang="en-US" spc="-80">
                <a:solidFill>
                  <a:srgbClr val="FFFFFF"/>
                </a:solidFill>
                <a:latin typeface="Arial"/>
                <a:cs typeface="Arial"/>
              </a:rPr>
              <a:t> #1-5</a:t>
            </a:r>
            <a:endParaRPr lang="en-US">
              <a:solidFill>
                <a:srgbClr val="FFFFFF"/>
              </a:solidFill>
              <a:cs typeface="Arial"/>
            </a:endParaRPr>
          </a:p>
        </p:txBody>
      </p:sp>
    </p:spTree>
    <p:extLst>
      <p:ext uri="{BB962C8B-B14F-4D97-AF65-F5344CB8AC3E}">
        <p14:creationId xmlns:p14="http://schemas.microsoft.com/office/powerpoint/2010/main" val="14207068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B62403A-91A7-3729-843B-EF54DB35D43A}"/>
              </a:ext>
            </a:extLst>
          </p:cNvPr>
          <p:cNvSpPr>
            <a:spLocks noGrp="1"/>
          </p:cNvSpPr>
          <p:nvPr>
            <p:ph type="sldNum" sz="quarter" idx="4"/>
          </p:nvPr>
        </p:nvSpPr>
        <p:spPr/>
        <p:txBody>
          <a:bodyPr/>
          <a:lstStyle/>
          <a:p>
            <a:pPr algn="ctr"/>
            <a:fld id="{933A556B-7C63-244D-9B7C-B0EA8042B330}" type="slidenum">
              <a:rPr lang="en-US" smtClean="0"/>
              <a:pPr algn="ctr"/>
              <a:t>9</a:t>
            </a:fld>
            <a:endParaRPr lang="en-US"/>
          </a:p>
        </p:txBody>
      </p:sp>
      <p:sp>
        <p:nvSpPr>
          <p:cNvPr id="3" name="Title 2">
            <a:extLst>
              <a:ext uri="{FF2B5EF4-FFF2-40B4-BE49-F238E27FC236}">
                <a16:creationId xmlns:a16="http://schemas.microsoft.com/office/drawing/2014/main" id="{45CA683E-1A65-340A-D284-71AEDDD25627}"/>
              </a:ext>
            </a:extLst>
          </p:cNvPr>
          <p:cNvSpPr>
            <a:spLocks noGrp="1"/>
          </p:cNvSpPr>
          <p:nvPr>
            <p:ph type="title"/>
          </p:nvPr>
        </p:nvSpPr>
        <p:spPr/>
        <p:txBody>
          <a:bodyPr/>
          <a:lstStyle/>
          <a:p>
            <a:r>
              <a:rPr lang="en-US">
                <a:solidFill>
                  <a:srgbClr val="000000"/>
                </a:solidFill>
                <a:latin typeface="Arial"/>
                <a:cs typeface="Arial"/>
              </a:rPr>
              <a:t>EPICS Control System</a:t>
            </a:r>
            <a:endParaRPr lang="en-US"/>
          </a:p>
        </p:txBody>
      </p:sp>
      <p:sp>
        <p:nvSpPr>
          <p:cNvPr id="4" name="Text Placeholder 3">
            <a:extLst>
              <a:ext uri="{FF2B5EF4-FFF2-40B4-BE49-F238E27FC236}">
                <a16:creationId xmlns:a16="http://schemas.microsoft.com/office/drawing/2014/main" id="{9F4146BC-CBAB-D777-EF03-03798279567C}"/>
              </a:ext>
            </a:extLst>
          </p:cNvPr>
          <p:cNvSpPr>
            <a:spLocks noGrp="1"/>
          </p:cNvSpPr>
          <p:nvPr>
            <p:ph type="body" sz="quarter" idx="10"/>
          </p:nvPr>
        </p:nvSpPr>
        <p:spPr/>
        <p:txBody>
          <a:bodyPr vert="horz" lIns="91440" tIns="45720" rIns="91440" bIns="45720" rtlCol="0" anchor="t">
            <a:normAutofit/>
          </a:bodyPr>
          <a:lstStyle/>
          <a:p>
            <a:pPr marL="0" indent="0">
              <a:lnSpc>
                <a:spcPct val="100000"/>
              </a:lnSpc>
              <a:buNone/>
            </a:pPr>
            <a:r>
              <a:rPr lang="en-US">
                <a:solidFill>
                  <a:srgbClr val="000000"/>
                </a:solidFill>
                <a:latin typeface="Arial"/>
                <a:cs typeface="Arial"/>
              </a:rPr>
              <a:t>What EPICS is:</a:t>
            </a:r>
            <a:br>
              <a:rPr lang="en-US">
                <a:latin typeface="Arial"/>
                <a:cs typeface="Arial"/>
              </a:rPr>
            </a:br>
            <a:br>
              <a:rPr lang="en-US">
                <a:latin typeface="Arial"/>
                <a:cs typeface="Arial"/>
              </a:rPr>
            </a:br>
            <a:r>
              <a:rPr lang="en-US">
                <a:solidFill>
                  <a:srgbClr val="000000"/>
                </a:solidFill>
                <a:latin typeface="Arial"/>
                <a:cs typeface="Arial"/>
              </a:rPr>
              <a:t>Open-source control system toolkit used across accelerator and large experimental facilities</a:t>
            </a:r>
            <a:endParaRPr lang="en-US"/>
          </a:p>
          <a:p>
            <a:pPr lvl="1">
              <a:lnSpc>
                <a:spcPct val="100000"/>
              </a:lnSpc>
              <a:spcBef>
                <a:spcPts val="1000"/>
              </a:spcBef>
            </a:pPr>
            <a:r>
              <a:rPr lang="en-US">
                <a:solidFill>
                  <a:srgbClr val="000000"/>
                </a:solidFill>
                <a:latin typeface="Arial"/>
                <a:cs typeface="Arial"/>
              </a:rPr>
              <a:t>Distributed architecture: independent IOCs which embed controls logic and provide an interface to hardware</a:t>
            </a:r>
          </a:p>
          <a:p>
            <a:pPr lvl="1">
              <a:lnSpc>
                <a:spcPct val="100000"/>
              </a:lnSpc>
              <a:spcBef>
                <a:spcPts val="1000"/>
              </a:spcBef>
            </a:pPr>
            <a:r>
              <a:rPr lang="en-US">
                <a:solidFill>
                  <a:srgbClr val="000000"/>
                </a:solidFill>
                <a:latin typeface="Arial"/>
                <a:cs typeface="Arial"/>
              </a:rPr>
              <a:t>Core communication model: client/server plus publish-subscribe behavior for scalable monitoring and control</a:t>
            </a:r>
            <a:endParaRPr lang="en-US"/>
          </a:p>
          <a:p>
            <a:pPr lvl="1">
              <a:lnSpc>
                <a:spcPct val="100000"/>
              </a:lnSpc>
            </a:pPr>
            <a:r>
              <a:rPr lang="en-US">
                <a:solidFill>
                  <a:srgbClr val="000000"/>
                </a:solidFill>
                <a:latin typeface="Arial"/>
                <a:cs typeface="Arial"/>
              </a:rPr>
              <a:t>Scalability: modular deployment, incremental expansion</a:t>
            </a:r>
          </a:p>
          <a:p>
            <a:pPr lvl="1">
              <a:lnSpc>
                <a:spcPct val="100000"/>
              </a:lnSpc>
            </a:pPr>
            <a:r>
              <a:rPr lang="en-US">
                <a:solidFill>
                  <a:srgbClr val="000000"/>
                </a:solidFill>
                <a:latin typeface="Arial"/>
                <a:cs typeface="Arial"/>
              </a:rPr>
              <a:t>Technology ecosystem: large EPICS ecosystem of community-maintained modules, device support, drivers, and operations tools</a:t>
            </a:r>
          </a:p>
          <a:p>
            <a:pPr lvl="1">
              <a:lnSpc>
                <a:spcPct val="100000"/>
              </a:lnSpc>
            </a:pPr>
            <a:r>
              <a:rPr lang="en-US">
                <a:solidFill>
                  <a:srgbClr val="000000"/>
                </a:solidFill>
                <a:latin typeface="Arial"/>
                <a:cs typeface="Arial"/>
              </a:rPr>
              <a:t>Longevity: active multi-lab collaboration over decades</a:t>
            </a:r>
          </a:p>
          <a:p>
            <a:pPr lvl="1">
              <a:lnSpc>
                <a:spcPct val="100000"/>
              </a:lnSpc>
            </a:pPr>
            <a:endParaRPr lang="en-US">
              <a:solidFill>
                <a:srgbClr val="000000"/>
              </a:solidFill>
              <a:latin typeface="Arial"/>
              <a:cs typeface="Arial"/>
            </a:endParaRPr>
          </a:p>
        </p:txBody>
      </p:sp>
      <p:sp>
        <p:nvSpPr>
          <p:cNvPr id="5" name="object 3">
            <a:extLst>
              <a:ext uri="{FF2B5EF4-FFF2-40B4-BE49-F238E27FC236}">
                <a16:creationId xmlns:a16="http://schemas.microsoft.com/office/drawing/2014/main" id="{7105650A-521E-9A5E-8E4B-CFD6E003723A}"/>
              </a:ext>
            </a:extLst>
          </p:cNvPr>
          <p:cNvSpPr/>
          <p:nvPr/>
        </p:nvSpPr>
        <p:spPr>
          <a:xfrm>
            <a:off x="10662316" y="571938"/>
            <a:ext cx="1300728" cy="318021"/>
          </a:xfrm>
          <a:custGeom>
            <a:avLst/>
            <a:gdLst/>
            <a:ahLst/>
            <a:cxnLst/>
            <a:rect l="l" t="t" r="r" b="b"/>
            <a:pathLst>
              <a:path w="1466850" h="361950">
                <a:moveTo>
                  <a:pt x="1406525" y="0"/>
                </a:moveTo>
                <a:lnTo>
                  <a:pt x="60325" y="0"/>
                </a:lnTo>
                <a:lnTo>
                  <a:pt x="36861" y="4746"/>
                </a:lnTo>
                <a:lnTo>
                  <a:pt x="17684" y="17684"/>
                </a:lnTo>
                <a:lnTo>
                  <a:pt x="4746" y="36861"/>
                </a:lnTo>
                <a:lnTo>
                  <a:pt x="0" y="60325"/>
                </a:lnTo>
                <a:lnTo>
                  <a:pt x="0" y="301625"/>
                </a:lnTo>
                <a:lnTo>
                  <a:pt x="4746" y="325088"/>
                </a:lnTo>
                <a:lnTo>
                  <a:pt x="17684" y="344265"/>
                </a:lnTo>
                <a:lnTo>
                  <a:pt x="36861" y="357203"/>
                </a:lnTo>
                <a:lnTo>
                  <a:pt x="60325" y="361950"/>
                </a:lnTo>
                <a:lnTo>
                  <a:pt x="1406525" y="361950"/>
                </a:lnTo>
                <a:lnTo>
                  <a:pt x="1429988" y="357203"/>
                </a:lnTo>
                <a:lnTo>
                  <a:pt x="1449165" y="344265"/>
                </a:lnTo>
                <a:lnTo>
                  <a:pt x="1462103" y="325088"/>
                </a:lnTo>
                <a:lnTo>
                  <a:pt x="1466850" y="301625"/>
                </a:lnTo>
                <a:lnTo>
                  <a:pt x="1466850" y="60325"/>
                </a:lnTo>
                <a:lnTo>
                  <a:pt x="1462103" y="36861"/>
                </a:lnTo>
                <a:lnTo>
                  <a:pt x="1449165" y="17684"/>
                </a:lnTo>
                <a:lnTo>
                  <a:pt x="1429988" y="4746"/>
                </a:lnTo>
                <a:lnTo>
                  <a:pt x="1406525" y="0"/>
                </a:lnTo>
                <a:close/>
              </a:path>
            </a:pathLst>
          </a:custGeom>
          <a:solidFill>
            <a:srgbClr val="0070C0"/>
          </a:solid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800" spc="-10">
                <a:solidFill>
                  <a:srgbClr val="FFFFFF"/>
                </a:solidFill>
                <a:latin typeface="Arial"/>
                <a:cs typeface="Arial"/>
              </a:rPr>
              <a:t>Charge</a:t>
            </a:r>
            <a:r>
              <a:rPr lang="en-US" sz="1800" spc="-80">
                <a:solidFill>
                  <a:srgbClr val="FFFFFF"/>
                </a:solidFill>
                <a:latin typeface="Arial"/>
                <a:cs typeface="Arial"/>
              </a:rPr>
              <a:t> </a:t>
            </a:r>
            <a:r>
              <a:rPr lang="en-US" sz="1800">
                <a:solidFill>
                  <a:srgbClr val="FFFFFF"/>
                </a:solidFill>
                <a:latin typeface="Arial"/>
                <a:cs typeface="Arial"/>
              </a:rPr>
              <a:t>#</a:t>
            </a:r>
            <a:r>
              <a:rPr lang="en-US">
                <a:solidFill>
                  <a:srgbClr val="FFFFFF"/>
                </a:solidFill>
                <a:latin typeface="Arial"/>
                <a:cs typeface="Arial"/>
              </a:rPr>
              <a:t>1,2</a:t>
            </a:r>
            <a:endParaRPr lang="en-US" strike="sngStrike">
              <a:solidFill>
                <a:srgbClr val="FFFFFF"/>
              </a:solidFill>
              <a:cs typeface="Arial"/>
            </a:endParaRPr>
          </a:p>
        </p:txBody>
      </p:sp>
    </p:spTree>
    <p:extLst>
      <p:ext uri="{BB962C8B-B14F-4D97-AF65-F5344CB8AC3E}">
        <p14:creationId xmlns:p14="http://schemas.microsoft.com/office/powerpoint/2010/main" val="3615575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6F4AA1D-1F04-431A-3975-95B94BFC7135}"/>
              </a:ext>
            </a:extLst>
          </p:cNvPr>
          <p:cNvSpPr>
            <a:spLocks noGrp="1"/>
          </p:cNvSpPr>
          <p:nvPr>
            <p:ph type="sldNum" sz="quarter" idx="4"/>
          </p:nvPr>
        </p:nvSpPr>
        <p:spPr/>
        <p:txBody>
          <a:bodyPr/>
          <a:lstStyle/>
          <a:p>
            <a:pPr algn="ctr"/>
            <a:fld id="{933A556B-7C63-244D-9B7C-B0EA8042B330}" type="slidenum">
              <a:rPr lang="en-US" smtClean="0"/>
              <a:pPr algn="ctr"/>
              <a:t>10</a:t>
            </a:fld>
            <a:endParaRPr lang="en-US"/>
          </a:p>
        </p:txBody>
      </p:sp>
      <p:sp>
        <p:nvSpPr>
          <p:cNvPr id="3" name="Title 2">
            <a:extLst>
              <a:ext uri="{FF2B5EF4-FFF2-40B4-BE49-F238E27FC236}">
                <a16:creationId xmlns:a16="http://schemas.microsoft.com/office/drawing/2014/main" id="{0FA568EF-C594-06B0-6549-30D332AF7413}"/>
              </a:ext>
            </a:extLst>
          </p:cNvPr>
          <p:cNvSpPr>
            <a:spLocks noGrp="1"/>
          </p:cNvSpPr>
          <p:nvPr>
            <p:ph type="title"/>
          </p:nvPr>
        </p:nvSpPr>
        <p:spPr/>
        <p:txBody>
          <a:bodyPr/>
          <a:lstStyle/>
          <a:p>
            <a:r>
              <a:rPr lang="en-US">
                <a:solidFill>
                  <a:srgbClr val="000000"/>
                </a:solidFill>
                <a:latin typeface="Arial"/>
                <a:cs typeface="Arial"/>
              </a:rPr>
              <a:t>EPICS for EIC</a:t>
            </a:r>
            <a:endParaRPr lang="en-US"/>
          </a:p>
        </p:txBody>
      </p:sp>
      <p:sp>
        <p:nvSpPr>
          <p:cNvPr id="4" name="Text Placeholder 3">
            <a:extLst>
              <a:ext uri="{FF2B5EF4-FFF2-40B4-BE49-F238E27FC236}">
                <a16:creationId xmlns:a16="http://schemas.microsoft.com/office/drawing/2014/main" id="{CAC9535F-18AC-B8D3-9E63-D90F66E6462A}"/>
              </a:ext>
            </a:extLst>
          </p:cNvPr>
          <p:cNvSpPr>
            <a:spLocks noGrp="1"/>
          </p:cNvSpPr>
          <p:nvPr>
            <p:ph type="body" sz="quarter" idx="10"/>
          </p:nvPr>
        </p:nvSpPr>
        <p:spPr/>
        <p:txBody>
          <a:bodyPr vert="horz" lIns="91440" tIns="45720" rIns="91440" bIns="45720" rtlCol="0" anchor="t">
            <a:normAutofit/>
          </a:bodyPr>
          <a:lstStyle/>
          <a:p>
            <a:pPr>
              <a:lnSpc>
                <a:spcPct val="100000"/>
              </a:lnSpc>
            </a:pPr>
            <a:r>
              <a:rPr lang="en-US">
                <a:solidFill>
                  <a:srgbClr val="000000"/>
                </a:solidFill>
                <a:latin typeface="Arial"/>
                <a:cs typeface="Arial"/>
              </a:rPr>
              <a:t>Functional support:</a:t>
            </a:r>
          </a:p>
          <a:p>
            <a:pPr lvl="1">
              <a:lnSpc>
                <a:spcPct val="100000"/>
              </a:lnSpc>
            </a:pPr>
            <a:r>
              <a:rPr lang="en-US">
                <a:solidFill>
                  <a:srgbClr val="000000"/>
                </a:solidFill>
                <a:latin typeface="Arial"/>
                <a:cs typeface="Arial"/>
              </a:rPr>
              <a:t>Distributed IOC model supports heterogeneous subsystems and interfaces</a:t>
            </a:r>
          </a:p>
          <a:p>
            <a:pPr lvl="1">
              <a:lnSpc>
                <a:spcPct val="100000"/>
              </a:lnSpc>
            </a:pPr>
            <a:r>
              <a:rPr lang="en-US">
                <a:ea typeface="+mn-lt"/>
                <a:cs typeface="+mn-lt"/>
              </a:rPr>
              <a:t>PVA protocol path supports structured data exchange and service integration for new EIC systems</a:t>
            </a:r>
            <a:endParaRPr lang="en-US">
              <a:cs typeface="Arial"/>
            </a:endParaRPr>
          </a:p>
          <a:p>
            <a:pPr lvl="1">
              <a:lnSpc>
                <a:spcPct val="100000"/>
              </a:lnSpc>
            </a:pPr>
            <a:r>
              <a:rPr lang="en-US">
                <a:ea typeface="+mn-lt"/>
                <a:cs typeface="+mn-lt"/>
              </a:rPr>
              <a:t>Normative Types (`NTScalar`, `NTArray`, `NTNDArray`, `NTTable`) plus modern libraries (PVXS C++, core-pva Java, p4p Python) enable generic clients and service-oriented integration</a:t>
            </a:r>
            <a:endParaRPr lang="en-US">
              <a:cs typeface="Arial"/>
            </a:endParaRPr>
          </a:p>
          <a:p>
            <a:pPr>
              <a:lnSpc>
                <a:spcPct val="100000"/>
              </a:lnSpc>
            </a:pPr>
            <a:r>
              <a:rPr lang="en-US">
                <a:ea typeface="+mn-lt"/>
                <a:cs typeface="+mn-lt"/>
              </a:rPr>
              <a:t>Reliability and operations support:</a:t>
            </a:r>
          </a:p>
          <a:p>
            <a:pPr lvl="1">
              <a:lnSpc>
                <a:spcPct val="100000"/>
              </a:lnSpc>
            </a:pPr>
            <a:r>
              <a:rPr lang="en-US">
                <a:ea typeface="+mn-lt"/>
                <a:cs typeface="+mn-lt"/>
              </a:rPr>
              <a:t>Distributed IOC and service architecture reduces single-point concentration risk when deployed with redundancy</a:t>
            </a:r>
          </a:p>
          <a:p>
            <a:pPr lvl="1">
              <a:lnSpc>
                <a:spcPct val="100000"/>
              </a:lnSpc>
            </a:pPr>
            <a:r>
              <a:rPr lang="en-US">
                <a:ea typeface="+mn-lt"/>
                <a:cs typeface="+mn-lt"/>
              </a:rPr>
              <a:t>Delta subscription updates reduce unnecessary network traffic for rich structures, improving operational efficiency under sustained load</a:t>
            </a:r>
            <a:endParaRPr lang="en-US">
              <a:cs typeface="Arial"/>
            </a:endParaRPr>
          </a:p>
          <a:p>
            <a:pPr lvl="1">
              <a:lnSpc>
                <a:spcPct val="100000"/>
              </a:lnSpc>
            </a:pPr>
            <a:r>
              <a:rPr lang="en-US">
                <a:ea typeface="+mn-lt"/>
                <a:cs typeface="+mn-lt"/>
              </a:rPr>
              <a:t>Mature operations tooling ecosystem (`areaDetector`, archiver, alarms, save/restore, metadata tooling) supports production workflows and maintainability</a:t>
            </a:r>
            <a:endParaRPr lang="en-US">
              <a:cs typeface="Arial"/>
            </a:endParaRPr>
          </a:p>
          <a:p>
            <a:pPr>
              <a:lnSpc>
                <a:spcPct val="100000"/>
              </a:lnSpc>
            </a:pPr>
            <a:endParaRPr lang="en-US">
              <a:cs typeface="Arial"/>
            </a:endParaRPr>
          </a:p>
        </p:txBody>
      </p:sp>
      <p:sp>
        <p:nvSpPr>
          <p:cNvPr id="5" name="object 3">
            <a:extLst>
              <a:ext uri="{FF2B5EF4-FFF2-40B4-BE49-F238E27FC236}">
                <a16:creationId xmlns:a16="http://schemas.microsoft.com/office/drawing/2014/main" id="{90705EAF-30E5-5B12-E52E-57E4B64ACC39}"/>
              </a:ext>
            </a:extLst>
          </p:cNvPr>
          <p:cNvSpPr/>
          <p:nvPr/>
        </p:nvSpPr>
        <p:spPr>
          <a:xfrm>
            <a:off x="10346015" y="571938"/>
            <a:ext cx="1617029" cy="318021"/>
          </a:xfrm>
          <a:custGeom>
            <a:avLst/>
            <a:gdLst/>
            <a:ahLst/>
            <a:cxnLst/>
            <a:rect l="l" t="t" r="r" b="b"/>
            <a:pathLst>
              <a:path w="1466850" h="361950">
                <a:moveTo>
                  <a:pt x="1406525" y="0"/>
                </a:moveTo>
                <a:lnTo>
                  <a:pt x="60325" y="0"/>
                </a:lnTo>
                <a:lnTo>
                  <a:pt x="36861" y="4746"/>
                </a:lnTo>
                <a:lnTo>
                  <a:pt x="17684" y="17684"/>
                </a:lnTo>
                <a:lnTo>
                  <a:pt x="4746" y="36861"/>
                </a:lnTo>
                <a:lnTo>
                  <a:pt x="0" y="60325"/>
                </a:lnTo>
                <a:lnTo>
                  <a:pt x="0" y="301625"/>
                </a:lnTo>
                <a:lnTo>
                  <a:pt x="4746" y="325088"/>
                </a:lnTo>
                <a:lnTo>
                  <a:pt x="17684" y="344265"/>
                </a:lnTo>
                <a:lnTo>
                  <a:pt x="36861" y="357203"/>
                </a:lnTo>
                <a:lnTo>
                  <a:pt x="60325" y="361950"/>
                </a:lnTo>
                <a:lnTo>
                  <a:pt x="1406525" y="361950"/>
                </a:lnTo>
                <a:lnTo>
                  <a:pt x="1429988" y="357203"/>
                </a:lnTo>
                <a:lnTo>
                  <a:pt x="1449165" y="344265"/>
                </a:lnTo>
                <a:lnTo>
                  <a:pt x="1462103" y="325088"/>
                </a:lnTo>
                <a:lnTo>
                  <a:pt x="1466850" y="301625"/>
                </a:lnTo>
                <a:lnTo>
                  <a:pt x="1466850" y="60325"/>
                </a:lnTo>
                <a:lnTo>
                  <a:pt x="1462103" y="36861"/>
                </a:lnTo>
                <a:lnTo>
                  <a:pt x="1449165" y="17684"/>
                </a:lnTo>
                <a:lnTo>
                  <a:pt x="1429988" y="4746"/>
                </a:lnTo>
                <a:lnTo>
                  <a:pt x="1406525" y="0"/>
                </a:lnTo>
                <a:close/>
              </a:path>
            </a:pathLst>
          </a:custGeom>
          <a:solidFill>
            <a:srgbClr val="0070C0"/>
          </a:solid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800" spc="-10">
                <a:solidFill>
                  <a:srgbClr val="FFFFFF"/>
                </a:solidFill>
                <a:latin typeface="Arial"/>
                <a:cs typeface="Arial"/>
              </a:rPr>
              <a:t>Charge</a:t>
            </a:r>
            <a:r>
              <a:rPr lang="en-US" sz="1800" spc="-80">
                <a:solidFill>
                  <a:srgbClr val="FFFFFF"/>
                </a:solidFill>
                <a:latin typeface="Arial"/>
                <a:cs typeface="Arial"/>
              </a:rPr>
              <a:t> </a:t>
            </a:r>
            <a:r>
              <a:rPr lang="en-US" sz="1800">
                <a:solidFill>
                  <a:srgbClr val="FFFFFF"/>
                </a:solidFill>
                <a:latin typeface="Arial"/>
                <a:cs typeface="Arial"/>
              </a:rPr>
              <a:t>#</a:t>
            </a:r>
            <a:r>
              <a:rPr lang="en-US">
                <a:solidFill>
                  <a:srgbClr val="FFFFFF"/>
                </a:solidFill>
                <a:latin typeface="Arial"/>
                <a:cs typeface="Arial"/>
              </a:rPr>
              <a:t>1-4</a:t>
            </a:r>
            <a:endParaRPr lang="en-US" strike="sngStrike">
              <a:solidFill>
                <a:srgbClr val="FFFFFF"/>
              </a:solidFill>
              <a:cs typeface="Arial"/>
            </a:endParaRPr>
          </a:p>
        </p:txBody>
      </p:sp>
    </p:spTree>
    <p:extLst>
      <p:ext uri="{BB962C8B-B14F-4D97-AF65-F5344CB8AC3E}">
        <p14:creationId xmlns:p14="http://schemas.microsoft.com/office/powerpoint/2010/main" val="19588171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873072-EA17-DEAA-1A11-6A5FC8C19ABD}"/>
              </a:ext>
            </a:extLst>
          </p:cNvPr>
          <p:cNvSpPr>
            <a:spLocks noGrp="1"/>
          </p:cNvSpPr>
          <p:nvPr>
            <p:ph type="sldNum" sz="quarter" idx="4"/>
          </p:nvPr>
        </p:nvSpPr>
        <p:spPr/>
        <p:txBody>
          <a:bodyPr/>
          <a:lstStyle/>
          <a:p>
            <a:pPr algn="ctr"/>
            <a:fld id="{933A556B-7C63-244D-9B7C-B0EA8042B330}" type="slidenum">
              <a:rPr lang="en-US" smtClean="0"/>
              <a:pPr algn="ctr"/>
              <a:t>11</a:t>
            </a:fld>
            <a:endParaRPr lang="en-US"/>
          </a:p>
        </p:txBody>
      </p:sp>
      <p:sp>
        <p:nvSpPr>
          <p:cNvPr id="3" name="Title 2">
            <a:extLst>
              <a:ext uri="{FF2B5EF4-FFF2-40B4-BE49-F238E27FC236}">
                <a16:creationId xmlns:a16="http://schemas.microsoft.com/office/drawing/2014/main" id="{DF80FC8A-2595-2559-76FB-9A45CCAE2008}"/>
              </a:ext>
            </a:extLst>
          </p:cNvPr>
          <p:cNvSpPr>
            <a:spLocks noGrp="1"/>
          </p:cNvSpPr>
          <p:nvPr>
            <p:ph type="title"/>
          </p:nvPr>
        </p:nvSpPr>
        <p:spPr/>
        <p:txBody>
          <a:bodyPr/>
          <a:lstStyle/>
          <a:p>
            <a:r>
              <a:rPr lang="en-GB">
                <a:solidFill>
                  <a:srgbClr val="000000"/>
                </a:solidFill>
                <a:latin typeface="Arial"/>
                <a:cs typeface="Arial"/>
              </a:rPr>
              <a:t>EPICS for EIC</a:t>
            </a:r>
            <a:endParaRPr lang="en-US"/>
          </a:p>
        </p:txBody>
      </p:sp>
      <p:sp>
        <p:nvSpPr>
          <p:cNvPr id="4" name="Text Placeholder 3">
            <a:extLst>
              <a:ext uri="{FF2B5EF4-FFF2-40B4-BE49-F238E27FC236}">
                <a16:creationId xmlns:a16="http://schemas.microsoft.com/office/drawing/2014/main" id="{71B997E6-33D8-45C5-0E64-C5D6E1D1AF62}"/>
              </a:ext>
            </a:extLst>
          </p:cNvPr>
          <p:cNvSpPr>
            <a:spLocks noGrp="1"/>
          </p:cNvSpPr>
          <p:nvPr>
            <p:ph type="body" sz="quarter" idx="10"/>
          </p:nvPr>
        </p:nvSpPr>
        <p:spPr/>
        <p:txBody>
          <a:bodyPr vert="horz" lIns="91440" tIns="45720" rIns="91440" bIns="45720" rtlCol="0" anchor="t">
            <a:normAutofit/>
          </a:bodyPr>
          <a:lstStyle/>
          <a:p>
            <a:pPr>
              <a:lnSpc>
                <a:spcPct val="100000"/>
              </a:lnSpc>
            </a:pPr>
            <a:r>
              <a:rPr lang="en-GB">
                <a:ea typeface="+mn-lt"/>
                <a:cs typeface="+mn-lt"/>
              </a:rPr>
              <a:t>Performance and scale support:</a:t>
            </a:r>
            <a:endParaRPr lang="en-GB">
              <a:cs typeface="Arial"/>
            </a:endParaRPr>
          </a:p>
          <a:p>
            <a:pPr lvl="1">
              <a:lnSpc>
                <a:spcPct val="100000"/>
              </a:lnSpc>
            </a:pPr>
            <a:r>
              <a:rPr lang="en-GB">
                <a:ea typeface="+mn-lt"/>
                <a:cs typeface="+mn-lt"/>
              </a:rPr>
              <a:t>EPICS IOC record processing supports standard periodic scan up to 10 Hz in default periodic mode</a:t>
            </a:r>
            <a:endParaRPr lang="en-GB">
              <a:cs typeface="Arial"/>
            </a:endParaRPr>
          </a:p>
          <a:p>
            <a:pPr lvl="1">
              <a:lnSpc>
                <a:spcPct val="100000"/>
              </a:lnSpc>
            </a:pPr>
            <a:r>
              <a:rPr lang="en-GB">
                <a:ea typeface="+mn-lt"/>
                <a:cs typeface="+mn-lt"/>
              </a:rPr>
              <a:t>Architecture supports staged growth through horizontal scaling of IOCs, services, and client workloads</a:t>
            </a:r>
            <a:endParaRPr lang="en-GB">
              <a:cs typeface="Arial" panose="020B0604020202020204"/>
            </a:endParaRPr>
          </a:p>
          <a:p>
            <a:pPr>
              <a:lnSpc>
                <a:spcPct val="100000"/>
              </a:lnSpc>
            </a:pPr>
            <a:r>
              <a:rPr lang="en-GB">
                <a:ea typeface="+mn-lt"/>
                <a:cs typeface="+mn-lt"/>
              </a:rPr>
              <a:t>International collaboration support:</a:t>
            </a:r>
          </a:p>
          <a:p>
            <a:pPr lvl="1">
              <a:lnSpc>
                <a:spcPct val="100000"/>
              </a:lnSpc>
            </a:pPr>
            <a:r>
              <a:rPr lang="en-GB">
                <a:ea typeface="+mn-lt"/>
                <a:cs typeface="+mn-lt"/>
              </a:rPr>
              <a:t>EPICS maintains a large global ecosystem of modules, device support, drivers, and tools across Base, IOC modules, and extensions</a:t>
            </a:r>
            <a:endParaRPr lang="en-GB">
              <a:cs typeface="Arial"/>
            </a:endParaRPr>
          </a:p>
          <a:p>
            <a:pPr lvl="1">
              <a:lnSpc>
                <a:spcPct val="100000"/>
              </a:lnSpc>
            </a:pPr>
            <a:r>
              <a:rPr lang="en-GB">
                <a:ea typeface="+mn-lt"/>
                <a:cs typeface="+mn-lt"/>
              </a:rPr>
              <a:t>Community maintenance and distributed expertise across major labs reduce single-site dependency risk</a:t>
            </a:r>
            <a:endParaRPr lang="en-GB">
              <a:cs typeface="Arial" panose="020B0604020202020204"/>
            </a:endParaRPr>
          </a:p>
          <a:p>
            <a:pPr lvl="1">
              <a:lnSpc>
                <a:spcPct val="100000"/>
              </a:lnSpc>
            </a:pPr>
            <a:r>
              <a:rPr lang="en-GB">
                <a:ea typeface="+mn-lt"/>
                <a:cs typeface="+mn-lt"/>
              </a:rPr>
              <a:t>Deployment patterns from EPICS 7 facilities (including ESS, NSLS-II, ITER, APS-U, PIP-II) are directly reusable for EIC</a:t>
            </a:r>
            <a:endParaRPr lang="en-GB">
              <a:cs typeface="Arial" panose="020B0604020202020204"/>
            </a:endParaRPr>
          </a:p>
        </p:txBody>
      </p:sp>
      <p:sp>
        <p:nvSpPr>
          <p:cNvPr id="6" name="object 3">
            <a:extLst>
              <a:ext uri="{FF2B5EF4-FFF2-40B4-BE49-F238E27FC236}">
                <a16:creationId xmlns:a16="http://schemas.microsoft.com/office/drawing/2014/main" id="{AD3EDAC7-FF3B-AB41-95E7-CEC2A812E07D}"/>
              </a:ext>
            </a:extLst>
          </p:cNvPr>
          <p:cNvSpPr/>
          <p:nvPr/>
        </p:nvSpPr>
        <p:spPr>
          <a:xfrm>
            <a:off x="10346015" y="571938"/>
            <a:ext cx="1617029" cy="318021"/>
          </a:xfrm>
          <a:custGeom>
            <a:avLst/>
            <a:gdLst/>
            <a:ahLst/>
            <a:cxnLst/>
            <a:rect l="l" t="t" r="r" b="b"/>
            <a:pathLst>
              <a:path w="1466850" h="361950">
                <a:moveTo>
                  <a:pt x="1406525" y="0"/>
                </a:moveTo>
                <a:lnTo>
                  <a:pt x="60325" y="0"/>
                </a:lnTo>
                <a:lnTo>
                  <a:pt x="36861" y="4746"/>
                </a:lnTo>
                <a:lnTo>
                  <a:pt x="17684" y="17684"/>
                </a:lnTo>
                <a:lnTo>
                  <a:pt x="4746" y="36861"/>
                </a:lnTo>
                <a:lnTo>
                  <a:pt x="0" y="60325"/>
                </a:lnTo>
                <a:lnTo>
                  <a:pt x="0" y="301625"/>
                </a:lnTo>
                <a:lnTo>
                  <a:pt x="4746" y="325088"/>
                </a:lnTo>
                <a:lnTo>
                  <a:pt x="17684" y="344265"/>
                </a:lnTo>
                <a:lnTo>
                  <a:pt x="36861" y="357203"/>
                </a:lnTo>
                <a:lnTo>
                  <a:pt x="60325" y="361950"/>
                </a:lnTo>
                <a:lnTo>
                  <a:pt x="1406525" y="361950"/>
                </a:lnTo>
                <a:lnTo>
                  <a:pt x="1429988" y="357203"/>
                </a:lnTo>
                <a:lnTo>
                  <a:pt x="1449165" y="344265"/>
                </a:lnTo>
                <a:lnTo>
                  <a:pt x="1462103" y="325088"/>
                </a:lnTo>
                <a:lnTo>
                  <a:pt x="1466850" y="301625"/>
                </a:lnTo>
                <a:lnTo>
                  <a:pt x="1466850" y="60325"/>
                </a:lnTo>
                <a:lnTo>
                  <a:pt x="1462103" y="36861"/>
                </a:lnTo>
                <a:lnTo>
                  <a:pt x="1449165" y="17684"/>
                </a:lnTo>
                <a:lnTo>
                  <a:pt x="1429988" y="4746"/>
                </a:lnTo>
                <a:lnTo>
                  <a:pt x="1406525" y="0"/>
                </a:lnTo>
                <a:close/>
              </a:path>
            </a:pathLst>
          </a:custGeom>
          <a:solidFill>
            <a:srgbClr val="0070C0"/>
          </a:solid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800" spc="-10">
                <a:solidFill>
                  <a:srgbClr val="FFFFFF"/>
                </a:solidFill>
                <a:latin typeface="Arial"/>
                <a:cs typeface="Arial"/>
              </a:rPr>
              <a:t>Charge</a:t>
            </a:r>
            <a:r>
              <a:rPr lang="en-US" sz="1800" spc="-80">
                <a:solidFill>
                  <a:srgbClr val="FFFFFF"/>
                </a:solidFill>
                <a:latin typeface="Arial"/>
                <a:cs typeface="Arial"/>
              </a:rPr>
              <a:t> </a:t>
            </a:r>
            <a:r>
              <a:rPr lang="en-US" sz="1800">
                <a:solidFill>
                  <a:srgbClr val="FFFFFF"/>
                </a:solidFill>
                <a:latin typeface="Arial"/>
                <a:cs typeface="Arial"/>
              </a:rPr>
              <a:t>#</a:t>
            </a:r>
            <a:r>
              <a:rPr lang="en-US">
                <a:solidFill>
                  <a:srgbClr val="FFFFFF"/>
                </a:solidFill>
                <a:latin typeface="Arial"/>
                <a:cs typeface="Arial"/>
              </a:rPr>
              <a:t>1-4</a:t>
            </a:r>
            <a:endParaRPr lang="en-US" strike="sngStrike">
              <a:solidFill>
                <a:srgbClr val="FFFFFF"/>
              </a:solidFill>
              <a:cs typeface="Arial"/>
            </a:endParaRPr>
          </a:p>
        </p:txBody>
      </p:sp>
    </p:spTree>
    <p:extLst>
      <p:ext uri="{BB962C8B-B14F-4D97-AF65-F5344CB8AC3E}">
        <p14:creationId xmlns:p14="http://schemas.microsoft.com/office/powerpoint/2010/main" val="15803399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76D71B7-8259-A3DE-C88D-45782DD58C3A}"/>
              </a:ext>
            </a:extLst>
          </p:cNvPr>
          <p:cNvSpPr>
            <a:spLocks noGrp="1"/>
          </p:cNvSpPr>
          <p:nvPr>
            <p:ph type="title"/>
          </p:nvPr>
        </p:nvSpPr>
        <p:spPr/>
        <p:txBody>
          <a:bodyPr/>
          <a:lstStyle/>
          <a:p>
            <a:r>
              <a:rPr lang="en-US">
                <a:solidFill>
                  <a:srgbClr val="000000"/>
                </a:solidFill>
                <a:latin typeface="Arial"/>
                <a:cs typeface="Arial"/>
              </a:rPr>
              <a:t>pvAccess Protocol for EIC</a:t>
            </a:r>
            <a:endParaRPr lang="en-US"/>
          </a:p>
        </p:txBody>
      </p:sp>
      <p:sp>
        <p:nvSpPr>
          <p:cNvPr id="4" name="Text Placeholder 3">
            <a:extLst>
              <a:ext uri="{FF2B5EF4-FFF2-40B4-BE49-F238E27FC236}">
                <a16:creationId xmlns:a16="http://schemas.microsoft.com/office/drawing/2014/main" id="{3A24006B-B4CD-9E64-3DE9-D7C2DE76B7A7}"/>
              </a:ext>
            </a:extLst>
          </p:cNvPr>
          <p:cNvSpPr>
            <a:spLocks noGrp="1"/>
          </p:cNvSpPr>
          <p:nvPr>
            <p:ph sz="half" idx="1"/>
          </p:nvPr>
        </p:nvSpPr>
        <p:spPr>
          <a:xfrm>
            <a:off x="462579" y="975360"/>
            <a:ext cx="6343177" cy="4891110"/>
          </a:xfrm>
        </p:spPr>
        <p:txBody>
          <a:bodyPr vert="horz" lIns="91440" tIns="45720" rIns="91440" bIns="45720" rtlCol="0" anchor="t">
            <a:normAutofit fontScale="92500" lnSpcReduction="20000"/>
          </a:bodyPr>
          <a:lstStyle/>
          <a:p>
            <a:pPr marL="0" indent="0">
              <a:lnSpc>
                <a:spcPct val="110000"/>
              </a:lnSpc>
              <a:buNone/>
            </a:pPr>
            <a:r>
              <a:rPr lang="en-US">
                <a:solidFill>
                  <a:srgbClr val="000000"/>
                </a:solidFill>
                <a:latin typeface="Arial"/>
                <a:cs typeface="Arial"/>
              </a:rPr>
              <a:t>pvAccess is EPICS's next-generation control protocol.</a:t>
            </a:r>
          </a:p>
          <a:p>
            <a:pPr>
              <a:lnSpc>
                <a:spcPct val="110000"/>
              </a:lnSpc>
            </a:pPr>
            <a:r>
              <a:rPr lang="en-US">
                <a:solidFill>
                  <a:srgbClr val="000000"/>
                </a:solidFill>
                <a:latin typeface="Arial"/>
                <a:ea typeface="Calibri"/>
                <a:cs typeface="Arial"/>
              </a:rPr>
              <a:t>What pvAccess provides:</a:t>
            </a:r>
            <a:endParaRPr lang="en-US">
              <a:solidFill>
                <a:srgbClr val="000000"/>
              </a:solidFill>
              <a:latin typeface="Arial"/>
              <a:ea typeface="+mn-lt"/>
              <a:cs typeface="Arial"/>
            </a:endParaRPr>
          </a:p>
          <a:p>
            <a:pPr lvl="1">
              <a:lnSpc>
                <a:spcPct val="110000"/>
              </a:lnSpc>
            </a:pPr>
            <a:r>
              <a:rPr lang="en-US">
                <a:solidFill>
                  <a:srgbClr val="000000"/>
                </a:solidFill>
                <a:latin typeface="Arial"/>
                <a:ea typeface="Calibri"/>
                <a:cs typeface="+mn-lt"/>
              </a:rPr>
              <a:t>Transports structured data types (scalars, arrays, tables, images) with metadata</a:t>
            </a:r>
          </a:p>
          <a:p>
            <a:pPr lvl="1">
              <a:lnSpc>
                <a:spcPct val="110000"/>
              </a:lnSpc>
            </a:pPr>
            <a:r>
              <a:rPr lang="en-US">
                <a:solidFill>
                  <a:srgbClr val="000000"/>
                </a:solidFill>
                <a:latin typeface="Arial"/>
                <a:ea typeface="Calibri"/>
                <a:cs typeface="+mn-lt"/>
              </a:rPr>
              <a:t>Efficient subscriptions transfer only changed fields, reducing network load</a:t>
            </a:r>
          </a:p>
          <a:p>
            <a:pPr lvl="1">
              <a:lnSpc>
                <a:spcPct val="110000"/>
              </a:lnSpc>
            </a:pPr>
            <a:r>
              <a:rPr lang="en-US">
                <a:solidFill>
                  <a:srgbClr val="000000"/>
                </a:solidFill>
                <a:latin typeface="Arial"/>
                <a:ea typeface="Calibri"/>
                <a:cs typeface="+mn-lt"/>
              </a:rPr>
              <a:t>Supports RPC-style interactions for service-oriented control workflows</a:t>
            </a:r>
            <a:endParaRPr lang="en-US">
              <a:cs typeface="Arial" panose="020B0604020202020204"/>
            </a:endParaRPr>
          </a:p>
          <a:p>
            <a:pPr lvl="1">
              <a:lnSpc>
                <a:spcPct val="110000"/>
              </a:lnSpc>
            </a:pPr>
            <a:r>
              <a:rPr lang="en-US">
                <a:ea typeface="+mn-lt"/>
                <a:cs typeface="+mn-lt"/>
              </a:rPr>
              <a:t>Supports high-bandwidth data acquisition, imaging, and large structured payloads such as `NTNDArray`</a:t>
            </a:r>
          </a:p>
          <a:p>
            <a:pPr lvl="1">
              <a:lnSpc>
                <a:spcPct val="110000"/>
              </a:lnSpc>
            </a:pPr>
            <a:r>
              <a:rPr lang="en-US">
                <a:ea typeface="+mn-lt"/>
                <a:cs typeface="+mn-lt"/>
              </a:rPr>
              <a:t>Supported via multiple client libraries (`PVXS`, `core-pva`, `P4P`), IPv6 support, and planned TLS-secured connections</a:t>
            </a:r>
            <a:br>
              <a:rPr lang="en-US">
                <a:latin typeface="Arial"/>
                <a:cs typeface="Arial"/>
              </a:rPr>
            </a:br>
            <a:endParaRPr lang="en-US">
              <a:solidFill>
                <a:srgbClr val="000000"/>
              </a:solidFill>
              <a:latin typeface="Arial"/>
              <a:cs typeface="Arial"/>
            </a:endParaRPr>
          </a:p>
          <a:p>
            <a:pPr marL="0" indent="0">
              <a:lnSpc>
                <a:spcPct val="110000"/>
              </a:lnSpc>
              <a:buNone/>
            </a:pPr>
            <a:endParaRPr lang="en-US">
              <a:cs typeface="Arial"/>
            </a:endParaRPr>
          </a:p>
        </p:txBody>
      </p:sp>
      <p:pic>
        <p:nvPicPr>
          <p:cNvPr id="7" name="Content Placeholder 6">
            <a:extLst>
              <a:ext uri="{FF2B5EF4-FFF2-40B4-BE49-F238E27FC236}">
                <a16:creationId xmlns:a16="http://schemas.microsoft.com/office/drawing/2014/main" id="{9D27FD4A-62EA-CA3B-2977-DF6B1B7AD3D6}"/>
              </a:ext>
            </a:extLst>
          </p:cNvPr>
          <p:cNvPicPr>
            <a:picLocks noGrp="1" noChangeAspect="1"/>
          </p:cNvPicPr>
          <p:nvPr>
            <p:ph sz="half" idx="2"/>
          </p:nvPr>
        </p:nvPicPr>
        <p:blipFill>
          <a:blip r:embed="rId3"/>
          <a:stretch>
            <a:fillRect/>
          </a:stretch>
        </p:blipFill>
        <p:spPr>
          <a:xfrm>
            <a:off x="6979517" y="1038030"/>
            <a:ext cx="4621530" cy="2385306"/>
          </a:xfrm>
          <a:prstGeom prst="rect">
            <a:avLst/>
          </a:prstGeom>
        </p:spPr>
      </p:pic>
      <p:sp>
        <p:nvSpPr>
          <p:cNvPr id="2" name="Slide Number Placeholder 1">
            <a:extLst>
              <a:ext uri="{FF2B5EF4-FFF2-40B4-BE49-F238E27FC236}">
                <a16:creationId xmlns:a16="http://schemas.microsoft.com/office/drawing/2014/main" id="{3311E0A8-A4E6-CB39-31C9-AB7CEEC4E56E}"/>
              </a:ext>
            </a:extLst>
          </p:cNvPr>
          <p:cNvSpPr>
            <a:spLocks noGrp="1"/>
          </p:cNvSpPr>
          <p:nvPr>
            <p:ph type="sldNum" sz="quarter" idx="4"/>
          </p:nvPr>
        </p:nvSpPr>
        <p:spPr/>
        <p:txBody>
          <a:bodyPr/>
          <a:lstStyle/>
          <a:p>
            <a:pPr algn="ctr"/>
            <a:fld id="{933A556B-7C63-244D-9B7C-B0EA8042B330}" type="slidenum">
              <a:rPr lang="en-US" smtClean="0"/>
              <a:pPr algn="ctr"/>
              <a:t>12</a:t>
            </a:fld>
            <a:endParaRPr lang="en-US"/>
          </a:p>
        </p:txBody>
      </p:sp>
      <p:sp>
        <p:nvSpPr>
          <p:cNvPr id="5" name="object 3">
            <a:extLst>
              <a:ext uri="{FF2B5EF4-FFF2-40B4-BE49-F238E27FC236}">
                <a16:creationId xmlns:a16="http://schemas.microsoft.com/office/drawing/2014/main" id="{AEDA3598-6A1C-8668-F835-A2907382F2DD}"/>
              </a:ext>
            </a:extLst>
          </p:cNvPr>
          <p:cNvSpPr/>
          <p:nvPr/>
        </p:nvSpPr>
        <p:spPr>
          <a:xfrm>
            <a:off x="10461033" y="571938"/>
            <a:ext cx="1494823" cy="318021"/>
          </a:xfrm>
          <a:custGeom>
            <a:avLst/>
            <a:gdLst/>
            <a:ahLst/>
            <a:cxnLst/>
            <a:rect l="l" t="t" r="r" b="b"/>
            <a:pathLst>
              <a:path w="1466850" h="361950">
                <a:moveTo>
                  <a:pt x="1406525" y="0"/>
                </a:moveTo>
                <a:lnTo>
                  <a:pt x="60325" y="0"/>
                </a:lnTo>
                <a:lnTo>
                  <a:pt x="36861" y="4746"/>
                </a:lnTo>
                <a:lnTo>
                  <a:pt x="17684" y="17684"/>
                </a:lnTo>
                <a:lnTo>
                  <a:pt x="4746" y="36861"/>
                </a:lnTo>
                <a:lnTo>
                  <a:pt x="0" y="60325"/>
                </a:lnTo>
                <a:lnTo>
                  <a:pt x="0" y="301625"/>
                </a:lnTo>
                <a:lnTo>
                  <a:pt x="4746" y="325088"/>
                </a:lnTo>
                <a:lnTo>
                  <a:pt x="17684" y="344265"/>
                </a:lnTo>
                <a:lnTo>
                  <a:pt x="36861" y="357203"/>
                </a:lnTo>
                <a:lnTo>
                  <a:pt x="60325" y="361950"/>
                </a:lnTo>
                <a:lnTo>
                  <a:pt x="1406525" y="361950"/>
                </a:lnTo>
                <a:lnTo>
                  <a:pt x="1429988" y="357203"/>
                </a:lnTo>
                <a:lnTo>
                  <a:pt x="1449165" y="344265"/>
                </a:lnTo>
                <a:lnTo>
                  <a:pt x="1462103" y="325088"/>
                </a:lnTo>
                <a:lnTo>
                  <a:pt x="1466850" y="301625"/>
                </a:lnTo>
                <a:lnTo>
                  <a:pt x="1466850" y="60325"/>
                </a:lnTo>
                <a:lnTo>
                  <a:pt x="1462103" y="36861"/>
                </a:lnTo>
                <a:lnTo>
                  <a:pt x="1449165" y="17684"/>
                </a:lnTo>
                <a:lnTo>
                  <a:pt x="1429988" y="4746"/>
                </a:lnTo>
                <a:lnTo>
                  <a:pt x="1406525" y="0"/>
                </a:lnTo>
                <a:close/>
              </a:path>
            </a:pathLst>
          </a:custGeom>
          <a:solidFill>
            <a:srgbClr val="0070C0"/>
          </a:solid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800" spc="-10">
                <a:solidFill>
                  <a:srgbClr val="FFFFFF"/>
                </a:solidFill>
                <a:latin typeface="Arial"/>
                <a:cs typeface="Arial"/>
              </a:rPr>
              <a:t>Charge</a:t>
            </a:r>
            <a:r>
              <a:rPr lang="en-US" sz="1800" spc="-80">
                <a:solidFill>
                  <a:srgbClr val="FFFFFF"/>
                </a:solidFill>
                <a:latin typeface="Arial"/>
                <a:cs typeface="Arial"/>
              </a:rPr>
              <a:t> </a:t>
            </a:r>
            <a:r>
              <a:rPr lang="en-US" sz="1800">
                <a:solidFill>
                  <a:srgbClr val="FFFFFF"/>
                </a:solidFill>
                <a:latin typeface="Arial"/>
                <a:cs typeface="Arial"/>
              </a:rPr>
              <a:t>#</a:t>
            </a:r>
            <a:r>
              <a:rPr lang="en-US">
                <a:solidFill>
                  <a:srgbClr val="FFFFFF"/>
                </a:solidFill>
                <a:latin typeface="Arial"/>
                <a:cs typeface="Arial"/>
              </a:rPr>
              <a:t>1-4</a:t>
            </a:r>
            <a:endParaRPr lang="en-US" strike="sngStrike">
              <a:solidFill>
                <a:srgbClr val="FFFFFF"/>
              </a:solidFill>
              <a:cs typeface="Arial"/>
            </a:endParaRPr>
          </a:p>
        </p:txBody>
      </p:sp>
      <p:pic>
        <p:nvPicPr>
          <p:cNvPr id="8" name="Picture 7">
            <a:extLst>
              <a:ext uri="{FF2B5EF4-FFF2-40B4-BE49-F238E27FC236}">
                <a16:creationId xmlns:a16="http://schemas.microsoft.com/office/drawing/2014/main" id="{8BD73D87-18FE-86B4-66D7-D98AC17376D0}"/>
              </a:ext>
            </a:extLst>
          </p:cNvPr>
          <p:cNvPicPr>
            <a:picLocks noChangeAspect="1"/>
          </p:cNvPicPr>
          <p:nvPr/>
        </p:nvPicPr>
        <p:blipFill>
          <a:blip r:embed="rId4"/>
          <a:stretch>
            <a:fillRect/>
          </a:stretch>
        </p:blipFill>
        <p:spPr>
          <a:xfrm>
            <a:off x="6936443" y="3512127"/>
            <a:ext cx="5019675" cy="2743200"/>
          </a:xfrm>
          <a:prstGeom prst="rect">
            <a:avLst/>
          </a:prstGeom>
        </p:spPr>
      </p:pic>
    </p:spTree>
    <p:extLst>
      <p:ext uri="{BB962C8B-B14F-4D97-AF65-F5344CB8AC3E}">
        <p14:creationId xmlns:p14="http://schemas.microsoft.com/office/powerpoint/2010/main" val="38838039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D213D-EB9B-8F0E-7A0D-0940FEBBF5C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863D8D8-8CB7-7C14-1485-83B271457854}"/>
              </a:ext>
            </a:extLst>
          </p:cNvPr>
          <p:cNvSpPr>
            <a:spLocks noGrp="1"/>
          </p:cNvSpPr>
          <p:nvPr>
            <p:ph type="sldNum" sz="quarter" idx="4"/>
          </p:nvPr>
        </p:nvSpPr>
        <p:spPr/>
        <p:txBody>
          <a:bodyPr/>
          <a:lstStyle/>
          <a:p>
            <a:pPr algn="ctr"/>
            <a:fld id="{933A556B-7C63-244D-9B7C-B0EA8042B330}" type="slidenum">
              <a:rPr lang="en-US" smtClean="0"/>
              <a:pPr algn="ctr"/>
              <a:t>13</a:t>
            </a:fld>
            <a:endParaRPr lang="en-US"/>
          </a:p>
        </p:txBody>
      </p:sp>
      <p:sp>
        <p:nvSpPr>
          <p:cNvPr id="3" name="Title 2">
            <a:extLst>
              <a:ext uri="{FF2B5EF4-FFF2-40B4-BE49-F238E27FC236}">
                <a16:creationId xmlns:a16="http://schemas.microsoft.com/office/drawing/2014/main" id="{27F49703-5FF2-D55B-0745-E6C7690965E8}"/>
              </a:ext>
            </a:extLst>
          </p:cNvPr>
          <p:cNvSpPr>
            <a:spLocks noGrp="1"/>
          </p:cNvSpPr>
          <p:nvPr>
            <p:ph type="title"/>
          </p:nvPr>
        </p:nvSpPr>
        <p:spPr/>
        <p:txBody>
          <a:bodyPr>
            <a:normAutofit/>
          </a:bodyPr>
          <a:lstStyle/>
          <a:p>
            <a:r>
              <a:rPr lang="en-US">
                <a:solidFill>
                  <a:srgbClr val="000000"/>
                </a:solidFill>
                <a:ea typeface="+mn-lt"/>
                <a:cs typeface="+mn-lt"/>
              </a:rPr>
              <a:t>ADO Control System</a:t>
            </a:r>
            <a:endParaRPr lang="en-GB" b="0">
              <a:solidFill>
                <a:srgbClr val="000000"/>
              </a:solidFill>
              <a:ea typeface="+mn-lt"/>
              <a:cs typeface="+mn-lt"/>
            </a:endParaRPr>
          </a:p>
        </p:txBody>
      </p:sp>
      <p:sp>
        <p:nvSpPr>
          <p:cNvPr id="4" name="Text Placeholder 3">
            <a:extLst>
              <a:ext uri="{FF2B5EF4-FFF2-40B4-BE49-F238E27FC236}">
                <a16:creationId xmlns:a16="http://schemas.microsoft.com/office/drawing/2014/main" id="{E7F631F7-0925-474C-1ED2-394F579F9930}"/>
              </a:ext>
            </a:extLst>
          </p:cNvPr>
          <p:cNvSpPr>
            <a:spLocks noGrp="1"/>
          </p:cNvSpPr>
          <p:nvPr>
            <p:ph type="body" sz="quarter" idx="10"/>
          </p:nvPr>
        </p:nvSpPr>
        <p:spPr>
          <a:xfrm>
            <a:off x="461963" y="981075"/>
            <a:ext cx="11499850" cy="5231052"/>
          </a:xfrm>
        </p:spPr>
        <p:txBody>
          <a:bodyPr vert="horz" lIns="91440" tIns="45720" rIns="91440" bIns="45720" rtlCol="0" anchor="t">
            <a:normAutofit/>
          </a:bodyPr>
          <a:lstStyle/>
          <a:p>
            <a:pPr marL="342900" indent="-342900">
              <a:lnSpc>
                <a:spcPct val="100000"/>
              </a:lnSpc>
            </a:pPr>
            <a:r>
              <a:rPr lang="en-US" sz="2300">
                <a:ea typeface="+mn-lt"/>
                <a:cs typeface="+mn-lt"/>
              </a:rPr>
              <a:t>What ADO is:</a:t>
            </a:r>
            <a:br>
              <a:rPr lang="en-US" sz="2300">
                <a:ea typeface="+mn-lt"/>
                <a:cs typeface="+mn-lt"/>
              </a:rPr>
            </a:br>
            <a:r>
              <a:rPr lang="en-US" sz="2300">
                <a:ea typeface="+mn-lt"/>
                <a:cs typeface="+mn-lt"/>
              </a:rPr>
              <a:t>RHIC controls were built in the early 1990s as a network-based distributed, client-server architecture</a:t>
            </a:r>
            <a:endParaRPr lang="en-US">
              <a:ea typeface="+mn-lt"/>
              <a:cs typeface="+mn-lt"/>
            </a:endParaRPr>
          </a:p>
          <a:p>
            <a:pPr marL="800100" lvl="1" indent="-342900">
              <a:lnSpc>
                <a:spcPct val="100000"/>
              </a:lnSpc>
            </a:pPr>
            <a:r>
              <a:rPr lang="en-US" sz="1900">
                <a:solidFill>
                  <a:srgbClr val="000000"/>
                </a:solidFill>
                <a:latin typeface="Arial" panose="020B0604020202020204"/>
                <a:cs typeface="Arial"/>
              </a:rPr>
              <a:t>High-level services cover operator interfaces, sequencing, alarms, archiving, and logbook workflows; low-level control runs through VME/ADO on VxWorks</a:t>
            </a:r>
            <a:endParaRPr lang="en-US">
              <a:solidFill>
                <a:srgbClr val="000000"/>
              </a:solidFill>
              <a:latin typeface="Arial" panose="020B0604020202020204"/>
              <a:cs typeface="Arial"/>
            </a:endParaRPr>
          </a:p>
          <a:p>
            <a:pPr marL="800100" lvl="1" indent="-342900">
              <a:lnSpc>
                <a:spcPct val="100000"/>
              </a:lnSpc>
            </a:pPr>
            <a:r>
              <a:rPr lang="en-US" sz="1900">
                <a:solidFill>
                  <a:srgbClr val="000000"/>
                </a:solidFill>
                <a:latin typeface="Arial"/>
                <a:cs typeface="Arial"/>
              </a:rPr>
              <a:t>This architecture has supported RHIC for about 25 years with staged upgrades (including FPGA-based LLRF), demonstrating operational maturity</a:t>
            </a:r>
            <a:endParaRPr lang="en-US">
              <a:cs typeface="Arial" panose="020B0604020202020204"/>
            </a:endParaRPr>
          </a:p>
          <a:p>
            <a:pPr>
              <a:lnSpc>
                <a:spcPct val="100000"/>
              </a:lnSpc>
            </a:pPr>
            <a:r>
              <a:rPr lang="en-US" sz="2300">
                <a:solidFill>
                  <a:srgbClr val="000000"/>
                </a:solidFill>
                <a:latin typeface="Arial"/>
                <a:cs typeface="Arial"/>
              </a:rPr>
              <a:t>Current status (still in use):</a:t>
            </a:r>
          </a:p>
          <a:p>
            <a:pPr lvl="1">
              <a:lnSpc>
                <a:spcPct val="100000"/>
              </a:lnSpc>
            </a:pPr>
            <a:r>
              <a:rPr lang="en-US" sz="1900">
                <a:solidFill>
                  <a:srgbClr val="000000"/>
                </a:solidFill>
                <a:latin typeface="Arial"/>
                <a:cs typeface="Arial"/>
              </a:rPr>
              <a:t>ADO-based hadron injection controls, including BLIP-related operations, remain active during EIC construction</a:t>
            </a:r>
          </a:p>
          <a:p>
            <a:pPr lvl="1">
              <a:lnSpc>
                <a:spcPct val="100000"/>
              </a:lnSpc>
            </a:pPr>
            <a:r>
              <a:rPr lang="en-US" sz="1900">
                <a:solidFill>
                  <a:srgbClr val="000000"/>
                </a:solidFill>
                <a:latin typeface="Arial"/>
                <a:cs typeface="Arial"/>
              </a:rPr>
              <a:t>Existing device integrations and operating experience remain valuable for near-term reliability and commissioning continuity</a:t>
            </a:r>
          </a:p>
          <a:p>
            <a:pPr>
              <a:lnSpc>
                <a:spcPct val="100000"/>
              </a:lnSpc>
            </a:pPr>
            <a:endParaRPr lang="en-GB">
              <a:cs typeface="Arial"/>
            </a:endParaRPr>
          </a:p>
        </p:txBody>
      </p:sp>
      <p:sp>
        <p:nvSpPr>
          <p:cNvPr id="6" name="object 3">
            <a:extLst>
              <a:ext uri="{FF2B5EF4-FFF2-40B4-BE49-F238E27FC236}">
                <a16:creationId xmlns:a16="http://schemas.microsoft.com/office/drawing/2014/main" id="{9383E24A-AF3A-0826-6950-FA3291081659}"/>
              </a:ext>
            </a:extLst>
          </p:cNvPr>
          <p:cNvSpPr/>
          <p:nvPr/>
        </p:nvSpPr>
        <p:spPr>
          <a:xfrm>
            <a:off x="10346015" y="571938"/>
            <a:ext cx="1617029" cy="318021"/>
          </a:xfrm>
          <a:custGeom>
            <a:avLst/>
            <a:gdLst/>
            <a:ahLst/>
            <a:cxnLst/>
            <a:rect l="l" t="t" r="r" b="b"/>
            <a:pathLst>
              <a:path w="1466850" h="361950">
                <a:moveTo>
                  <a:pt x="1406525" y="0"/>
                </a:moveTo>
                <a:lnTo>
                  <a:pt x="60325" y="0"/>
                </a:lnTo>
                <a:lnTo>
                  <a:pt x="36861" y="4746"/>
                </a:lnTo>
                <a:lnTo>
                  <a:pt x="17684" y="17684"/>
                </a:lnTo>
                <a:lnTo>
                  <a:pt x="4746" y="36861"/>
                </a:lnTo>
                <a:lnTo>
                  <a:pt x="0" y="60325"/>
                </a:lnTo>
                <a:lnTo>
                  <a:pt x="0" y="301625"/>
                </a:lnTo>
                <a:lnTo>
                  <a:pt x="4746" y="325088"/>
                </a:lnTo>
                <a:lnTo>
                  <a:pt x="17684" y="344265"/>
                </a:lnTo>
                <a:lnTo>
                  <a:pt x="36861" y="357203"/>
                </a:lnTo>
                <a:lnTo>
                  <a:pt x="60325" y="361950"/>
                </a:lnTo>
                <a:lnTo>
                  <a:pt x="1406525" y="361950"/>
                </a:lnTo>
                <a:lnTo>
                  <a:pt x="1429988" y="357203"/>
                </a:lnTo>
                <a:lnTo>
                  <a:pt x="1449165" y="344265"/>
                </a:lnTo>
                <a:lnTo>
                  <a:pt x="1462103" y="325088"/>
                </a:lnTo>
                <a:lnTo>
                  <a:pt x="1466850" y="301625"/>
                </a:lnTo>
                <a:lnTo>
                  <a:pt x="1466850" y="60325"/>
                </a:lnTo>
                <a:lnTo>
                  <a:pt x="1462103" y="36861"/>
                </a:lnTo>
                <a:lnTo>
                  <a:pt x="1449165" y="17684"/>
                </a:lnTo>
                <a:lnTo>
                  <a:pt x="1429988" y="4746"/>
                </a:lnTo>
                <a:lnTo>
                  <a:pt x="1406525" y="0"/>
                </a:lnTo>
                <a:close/>
              </a:path>
            </a:pathLst>
          </a:custGeom>
          <a:solidFill>
            <a:srgbClr val="0070C0"/>
          </a:solid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800" spc="-10">
                <a:solidFill>
                  <a:srgbClr val="FFFFFF"/>
                </a:solidFill>
                <a:latin typeface="Arial"/>
                <a:cs typeface="Arial"/>
              </a:rPr>
              <a:t>Charge</a:t>
            </a:r>
            <a:r>
              <a:rPr lang="en-US" sz="1800" spc="-80">
                <a:solidFill>
                  <a:srgbClr val="FFFFFF"/>
                </a:solidFill>
                <a:latin typeface="Arial"/>
                <a:cs typeface="Arial"/>
              </a:rPr>
              <a:t> </a:t>
            </a:r>
            <a:r>
              <a:rPr lang="en-US" sz="1800">
                <a:solidFill>
                  <a:srgbClr val="FFFFFF"/>
                </a:solidFill>
                <a:latin typeface="Arial"/>
                <a:cs typeface="Arial"/>
              </a:rPr>
              <a:t>#</a:t>
            </a:r>
            <a:r>
              <a:rPr lang="en-US">
                <a:solidFill>
                  <a:srgbClr val="FFFFFF"/>
                </a:solidFill>
                <a:latin typeface="Arial"/>
                <a:cs typeface="Arial"/>
              </a:rPr>
              <a:t>3,4,5</a:t>
            </a:r>
            <a:endParaRPr lang="en-US" strike="sngStrike">
              <a:solidFill>
                <a:srgbClr val="FFFFFF"/>
              </a:solidFill>
              <a:cs typeface="Arial"/>
            </a:endParaRPr>
          </a:p>
        </p:txBody>
      </p:sp>
    </p:spTree>
    <p:extLst>
      <p:ext uri="{BB962C8B-B14F-4D97-AF65-F5344CB8AC3E}">
        <p14:creationId xmlns:p14="http://schemas.microsoft.com/office/powerpoint/2010/main" val="28543640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2EE0BCE-6914-A5FF-B794-796E22411277}"/>
              </a:ext>
            </a:extLst>
          </p:cNvPr>
          <p:cNvSpPr>
            <a:spLocks noGrp="1"/>
          </p:cNvSpPr>
          <p:nvPr>
            <p:ph type="sldNum" sz="quarter" idx="4"/>
          </p:nvPr>
        </p:nvSpPr>
        <p:spPr/>
        <p:txBody>
          <a:bodyPr/>
          <a:lstStyle/>
          <a:p>
            <a:pPr algn="ctr"/>
            <a:fld id="{933A556B-7C63-244D-9B7C-B0EA8042B330}" type="slidenum">
              <a:rPr lang="en-US" smtClean="0"/>
              <a:pPr algn="ctr"/>
              <a:t>14</a:t>
            </a:fld>
            <a:endParaRPr lang="en-US"/>
          </a:p>
        </p:txBody>
      </p:sp>
      <p:sp>
        <p:nvSpPr>
          <p:cNvPr id="3" name="Title 2">
            <a:extLst>
              <a:ext uri="{FF2B5EF4-FFF2-40B4-BE49-F238E27FC236}">
                <a16:creationId xmlns:a16="http://schemas.microsoft.com/office/drawing/2014/main" id="{BB041C2E-041D-1E7C-94E8-8074F6942F8C}"/>
              </a:ext>
            </a:extLst>
          </p:cNvPr>
          <p:cNvSpPr>
            <a:spLocks noGrp="1"/>
          </p:cNvSpPr>
          <p:nvPr>
            <p:ph type="title"/>
          </p:nvPr>
        </p:nvSpPr>
        <p:spPr>
          <a:xfrm>
            <a:off x="462579" y="64698"/>
            <a:ext cx="11499925" cy="825178"/>
          </a:xfrm>
        </p:spPr>
        <p:txBody>
          <a:bodyPr>
            <a:normAutofit/>
          </a:bodyPr>
          <a:lstStyle/>
          <a:p>
            <a:r>
              <a:rPr lang="en-US">
                <a:solidFill>
                  <a:srgbClr val="000000"/>
                </a:solidFill>
                <a:latin typeface="Arial"/>
                <a:cs typeface="Arial"/>
              </a:rPr>
              <a:t>Dual System Architecture Diagram</a:t>
            </a:r>
            <a:endParaRPr lang="en-US" b="0">
              <a:cs typeface="Arial"/>
            </a:endParaRPr>
          </a:p>
        </p:txBody>
      </p:sp>
      <p:sp>
        <p:nvSpPr>
          <p:cNvPr id="4" name="Text Placeholder 3">
            <a:extLst>
              <a:ext uri="{FF2B5EF4-FFF2-40B4-BE49-F238E27FC236}">
                <a16:creationId xmlns:a16="http://schemas.microsoft.com/office/drawing/2014/main" id="{02E6BBB2-4BE3-322B-5A69-2913F27CBFC4}"/>
              </a:ext>
            </a:extLst>
          </p:cNvPr>
          <p:cNvSpPr>
            <a:spLocks noGrp="1"/>
          </p:cNvSpPr>
          <p:nvPr>
            <p:ph type="body" sz="quarter" idx="10"/>
          </p:nvPr>
        </p:nvSpPr>
        <p:spPr>
          <a:xfrm>
            <a:off x="461963" y="981075"/>
            <a:ext cx="3541983" cy="5065713"/>
          </a:xfrm>
        </p:spPr>
        <p:txBody>
          <a:bodyPr vert="horz" lIns="91440" tIns="45720" rIns="91440" bIns="45720" rtlCol="0" anchor="t">
            <a:normAutofit fontScale="70000" lnSpcReduction="20000"/>
          </a:bodyPr>
          <a:lstStyle/>
          <a:p>
            <a:pPr marL="0" indent="0">
              <a:lnSpc>
                <a:spcPct val="120000"/>
              </a:lnSpc>
              <a:buNone/>
            </a:pPr>
            <a:r>
              <a:rPr lang="en-US" sz="3000">
                <a:highlight>
                  <a:srgbClr val="00FFFF"/>
                </a:highlight>
                <a:cs typeface="Arial" panose="020B0604020202020204"/>
              </a:rPr>
              <a:t>[Talk-8/10-Kabir]</a:t>
            </a:r>
            <a:br>
              <a:rPr lang="en-US" sz="3000">
                <a:highlight>
                  <a:srgbClr val="00FFFF"/>
                </a:highlight>
                <a:cs typeface="Arial" panose="020B0604020202020204"/>
              </a:rPr>
            </a:br>
            <a:br>
              <a:rPr lang="en-US" sz="3000">
                <a:cs typeface="Arial" panose="020B0604020202020204"/>
              </a:rPr>
            </a:br>
            <a:r>
              <a:rPr lang="en-US" sz="3000">
                <a:cs typeface="Arial" panose="020B0604020202020204"/>
              </a:rPr>
              <a:t>EIC plan and dual-system need:</a:t>
            </a:r>
            <a:endParaRPr lang="en-US">
              <a:cs typeface="Arial" panose="020B0604020202020204"/>
            </a:endParaRPr>
          </a:p>
          <a:p>
            <a:pPr marL="514350" indent="-342900">
              <a:lnSpc>
                <a:spcPct val="120000"/>
              </a:lnSpc>
              <a:buFont typeface="Arial"/>
              <a:buChar char="•"/>
            </a:pPr>
            <a:r>
              <a:rPr lang="en-US" sz="2000">
                <a:cs typeface="Arial" panose="020B0604020202020204"/>
              </a:rPr>
              <a:t>EIC performance goals (about two orders of magnitude luminosity increase vs RHIC) require modernized controls platforms</a:t>
            </a:r>
          </a:p>
          <a:p>
            <a:pPr marL="514350" indent="-342900">
              <a:lnSpc>
                <a:spcPct val="120000"/>
              </a:lnSpc>
              <a:buFont typeface="Arial"/>
              <a:buChar char="•"/>
            </a:pPr>
            <a:r>
              <a:rPr lang="en-US" sz="2000">
                <a:cs typeface="Arial" panose="020B0604020202020204"/>
              </a:rPr>
              <a:t>Software strategy prioritizes long-term maintainability for a 30+ year lifecycle and broader talent/community support</a:t>
            </a:r>
            <a:endParaRPr lang="en-US"/>
          </a:p>
          <a:p>
            <a:pPr marL="514350" indent="-342900">
              <a:lnSpc>
                <a:spcPct val="120000"/>
              </a:lnSpc>
              <a:buFont typeface="Arial"/>
              <a:buChar char="•"/>
            </a:pPr>
            <a:r>
              <a:rPr lang="en-US" sz="2000">
                <a:cs typeface="Arial" panose="020B0604020202020204"/>
              </a:rPr>
              <a:t>Therefore, the near-term architecture is intentionally dual-system: legacy ADO paths continue where needed while new systems are delivered on EPICS/PVA and migrated in phases</a:t>
            </a:r>
          </a:p>
        </p:txBody>
      </p:sp>
      <p:sp>
        <p:nvSpPr>
          <p:cNvPr id="5" name="object 3">
            <a:extLst>
              <a:ext uri="{FF2B5EF4-FFF2-40B4-BE49-F238E27FC236}">
                <a16:creationId xmlns:a16="http://schemas.microsoft.com/office/drawing/2014/main" id="{85A669C9-8AAC-68DC-DC3C-79B3522D20EF}"/>
              </a:ext>
            </a:extLst>
          </p:cNvPr>
          <p:cNvSpPr/>
          <p:nvPr/>
        </p:nvSpPr>
        <p:spPr>
          <a:xfrm>
            <a:off x="10310071" y="571938"/>
            <a:ext cx="1652973" cy="318021"/>
          </a:xfrm>
          <a:custGeom>
            <a:avLst/>
            <a:gdLst/>
            <a:ahLst/>
            <a:cxnLst/>
            <a:rect l="l" t="t" r="r" b="b"/>
            <a:pathLst>
              <a:path w="1466850" h="361950">
                <a:moveTo>
                  <a:pt x="1406525" y="0"/>
                </a:moveTo>
                <a:lnTo>
                  <a:pt x="60325" y="0"/>
                </a:lnTo>
                <a:lnTo>
                  <a:pt x="36861" y="4746"/>
                </a:lnTo>
                <a:lnTo>
                  <a:pt x="17684" y="17684"/>
                </a:lnTo>
                <a:lnTo>
                  <a:pt x="4746" y="36861"/>
                </a:lnTo>
                <a:lnTo>
                  <a:pt x="0" y="60325"/>
                </a:lnTo>
                <a:lnTo>
                  <a:pt x="0" y="301625"/>
                </a:lnTo>
                <a:lnTo>
                  <a:pt x="4746" y="325088"/>
                </a:lnTo>
                <a:lnTo>
                  <a:pt x="17684" y="344265"/>
                </a:lnTo>
                <a:lnTo>
                  <a:pt x="36861" y="357203"/>
                </a:lnTo>
                <a:lnTo>
                  <a:pt x="60325" y="361950"/>
                </a:lnTo>
                <a:lnTo>
                  <a:pt x="1406525" y="361950"/>
                </a:lnTo>
                <a:lnTo>
                  <a:pt x="1429988" y="357203"/>
                </a:lnTo>
                <a:lnTo>
                  <a:pt x="1449165" y="344265"/>
                </a:lnTo>
                <a:lnTo>
                  <a:pt x="1462103" y="325088"/>
                </a:lnTo>
                <a:lnTo>
                  <a:pt x="1466850" y="301625"/>
                </a:lnTo>
                <a:lnTo>
                  <a:pt x="1466850" y="60325"/>
                </a:lnTo>
                <a:lnTo>
                  <a:pt x="1462103" y="36861"/>
                </a:lnTo>
                <a:lnTo>
                  <a:pt x="1449165" y="17684"/>
                </a:lnTo>
                <a:lnTo>
                  <a:pt x="1429988" y="4746"/>
                </a:lnTo>
                <a:lnTo>
                  <a:pt x="1406525" y="0"/>
                </a:lnTo>
                <a:close/>
              </a:path>
            </a:pathLst>
          </a:custGeom>
          <a:solidFill>
            <a:srgbClr val="0070C0"/>
          </a:solid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solidFill>
                  <a:srgbClr val="FFFFFF"/>
                </a:solidFill>
                <a:latin typeface="Arial"/>
                <a:cs typeface="Arial"/>
              </a:rPr>
              <a:t>Charge #3,4,5</a:t>
            </a:r>
          </a:p>
          <a:p>
            <a:pPr algn="ctr"/>
            <a:endParaRPr lang="en-US" sz="1900">
              <a:solidFill>
                <a:srgbClr val="FFFFFF"/>
              </a:solidFill>
              <a:cs typeface="Arial"/>
            </a:endParaRPr>
          </a:p>
          <a:p>
            <a:pPr algn="ctr"/>
            <a:endParaRPr lang="en-US">
              <a:solidFill>
                <a:srgbClr val="FFFFFF"/>
              </a:solidFill>
              <a:cs typeface="Arial"/>
            </a:endParaRPr>
          </a:p>
          <a:p>
            <a:pPr algn="ctr"/>
            <a:endParaRPr lang="en-US">
              <a:solidFill>
                <a:srgbClr val="FFFFFF"/>
              </a:solidFill>
              <a:cs typeface="Arial"/>
            </a:endParaRPr>
          </a:p>
        </p:txBody>
      </p:sp>
      <p:pic>
        <p:nvPicPr>
          <p:cNvPr id="6" name="Picture 5">
            <a:extLst>
              <a:ext uri="{FF2B5EF4-FFF2-40B4-BE49-F238E27FC236}">
                <a16:creationId xmlns:a16="http://schemas.microsoft.com/office/drawing/2014/main" id="{9ECCEF06-09E6-3A24-8E3B-9116EA290663}"/>
              </a:ext>
            </a:extLst>
          </p:cNvPr>
          <p:cNvPicPr>
            <a:picLocks noChangeAspect="1"/>
          </p:cNvPicPr>
          <p:nvPr/>
        </p:nvPicPr>
        <p:blipFill>
          <a:blip r:embed="rId3"/>
          <a:stretch>
            <a:fillRect/>
          </a:stretch>
        </p:blipFill>
        <p:spPr>
          <a:xfrm>
            <a:off x="4295169" y="977660"/>
            <a:ext cx="7792664" cy="5125529"/>
          </a:xfrm>
          <a:prstGeom prst="rect">
            <a:avLst/>
          </a:prstGeom>
        </p:spPr>
      </p:pic>
    </p:spTree>
    <p:extLst>
      <p:ext uri="{BB962C8B-B14F-4D97-AF65-F5344CB8AC3E}">
        <p14:creationId xmlns:p14="http://schemas.microsoft.com/office/powerpoint/2010/main" val="23253657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CA9A6-D3BA-1F20-18E7-D44137EB5D5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E7930DA-48E9-9980-8B9F-053C75D4DB1B}"/>
              </a:ext>
            </a:extLst>
          </p:cNvPr>
          <p:cNvSpPr>
            <a:spLocks noGrp="1"/>
          </p:cNvSpPr>
          <p:nvPr>
            <p:ph type="sldNum" sz="quarter" idx="4"/>
          </p:nvPr>
        </p:nvSpPr>
        <p:spPr/>
        <p:txBody>
          <a:bodyPr/>
          <a:lstStyle/>
          <a:p>
            <a:pPr algn="ctr"/>
            <a:fld id="{933A556B-7C63-244D-9B7C-B0EA8042B330}" type="slidenum">
              <a:rPr lang="en-US" smtClean="0"/>
              <a:pPr algn="ctr"/>
              <a:t>15</a:t>
            </a:fld>
            <a:endParaRPr lang="en-US"/>
          </a:p>
        </p:txBody>
      </p:sp>
      <p:sp>
        <p:nvSpPr>
          <p:cNvPr id="3" name="Title 2">
            <a:extLst>
              <a:ext uri="{FF2B5EF4-FFF2-40B4-BE49-F238E27FC236}">
                <a16:creationId xmlns:a16="http://schemas.microsoft.com/office/drawing/2014/main" id="{CBB285B1-7311-5FF8-A46B-1D9C60BD61D6}"/>
              </a:ext>
            </a:extLst>
          </p:cNvPr>
          <p:cNvSpPr>
            <a:spLocks noGrp="1"/>
          </p:cNvSpPr>
          <p:nvPr>
            <p:ph type="title"/>
          </p:nvPr>
        </p:nvSpPr>
        <p:spPr>
          <a:xfrm>
            <a:off x="462579" y="64698"/>
            <a:ext cx="11499925" cy="825178"/>
          </a:xfrm>
        </p:spPr>
        <p:txBody>
          <a:bodyPr>
            <a:normAutofit/>
          </a:bodyPr>
          <a:lstStyle/>
          <a:p>
            <a:r>
              <a:rPr lang="en-US">
                <a:solidFill>
                  <a:srgbClr val="000000"/>
                </a:solidFill>
                <a:latin typeface="Arial"/>
                <a:cs typeface="Arial"/>
              </a:rPr>
              <a:t>Dual System Architecture Diagram</a:t>
            </a:r>
            <a:endParaRPr lang="en-US" b="0">
              <a:cs typeface="Arial"/>
            </a:endParaRPr>
          </a:p>
        </p:txBody>
      </p:sp>
      <p:sp>
        <p:nvSpPr>
          <p:cNvPr id="4" name="Text Placeholder 3">
            <a:extLst>
              <a:ext uri="{FF2B5EF4-FFF2-40B4-BE49-F238E27FC236}">
                <a16:creationId xmlns:a16="http://schemas.microsoft.com/office/drawing/2014/main" id="{59CE531D-69F9-E1DB-44F5-E8FD836EB24E}"/>
              </a:ext>
            </a:extLst>
          </p:cNvPr>
          <p:cNvSpPr>
            <a:spLocks noGrp="1"/>
          </p:cNvSpPr>
          <p:nvPr>
            <p:ph type="body" sz="quarter" idx="10"/>
          </p:nvPr>
        </p:nvSpPr>
        <p:spPr>
          <a:xfrm>
            <a:off x="461963" y="981075"/>
            <a:ext cx="3541983" cy="5065713"/>
          </a:xfrm>
        </p:spPr>
        <p:txBody>
          <a:bodyPr vert="horz" lIns="91440" tIns="45720" rIns="91440" bIns="45720" rtlCol="0" anchor="t">
            <a:normAutofit fontScale="77500" lnSpcReduction="20000"/>
          </a:bodyPr>
          <a:lstStyle/>
          <a:p>
            <a:pPr marL="0" indent="0">
              <a:lnSpc>
                <a:spcPct val="120000"/>
              </a:lnSpc>
              <a:buNone/>
            </a:pPr>
            <a:r>
              <a:rPr lang="en-US" sz="3000" b="1" i="1">
                <a:solidFill>
                  <a:srgbClr val="000000"/>
                </a:solidFill>
                <a:ea typeface="+mn-lt"/>
                <a:cs typeface="+mn-lt"/>
              </a:rPr>
              <a:t>Strategy 1: AdoPvaSrv </a:t>
            </a:r>
            <a:endParaRPr lang="en-US" b="1" i="1">
              <a:cs typeface="Arial"/>
            </a:endParaRPr>
          </a:p>
          <a:p>
            <a:pPr marL="0" indent="0">
              <a:lnSpc>
                <a:spcPct val="120000"/>
              </a:lnSpc>
              <a:buNone/>
            </a:pPr>
            <a:r>
              <a:rPr lang="en-US" sz="3000">
                <a:solidFill>
                  <a:srgbClr val="000000"/>
                </a:solidFill>
                <a:ea typeface="+mn-lt"/>
                <a:cs typeface="+mn-lt"/>
              </a:rPr>
              <a:t>AdoPvaSrv runs on each ADO Manager allowing it to speak pvAccess </a:t>
            </a:r>
            <a:endParaRPr lang="en-US"/>
          </a:p>
          <a:p>
            <a:pPr marL="457200" indent="-457200">
              <a:lnSpc>
                <a:spcPct val="120000"/>
              </a:lnSpc>
            </a:pPr>
            <a:r>
              <a:rPr lang="en-US" sz="2600">
                <a:solidFill>
                  <a:srgbClr val="000000"/>
                </a:solidFill>
                <a:ea typeface="+mn-lt"/>
                <a:cs typeface="+mn-lt"/>
              </a:rPr>
              <a:t>Fully distributed with no central broker or gateway infrastructure required </a:t>
            </a:r>
            <a:endParaRPr lang="en-US"/>
          </a:p>
          <a:p>
            <a:pPr marL="457200" indent="-457200">
              <a:lnSpc>
                <a:spcPct val="120000"/>
              </a:lnSpc>
            </a:pPr>
            <a:r>
              <a:rPr lang="en-US" sz="2600">
                <a:solidFill>
                  <a:srgbClr val="000000"/>
                </a:solidFill>
                <a:ea typeface="+mn-lt"/>
                <a:cs typeface="+mn-lt"/>
              </a:rPr>
              <a:t>Horizontally scalable</a:t>
            </a:r>
            <a:endParaRPr lang="en-US"/>
          </a:p>
          <a:p>
            <a:pPr marL="457200" indent="-457200">
              <a:lnSpc>
                <a:spcPct val="120000"/>
              </a:lnSpc>
            </a:pPr>
            <a:r>
              <a:rPr lang="en-US" sz="2600">
                <a:solidFill>
                  <a:srgbClr val="000000"/>
                </a:solidFill>
                <a:ea typeface="+mn-lt"/>
                <a:cs typeface="+mn-lt"/>
              </a:rPr>
              <a:t>Can be rolled out iteratively</a:t>
            </a:r>
            <a:endParaRPr lang="en-US"/>
          </a:p>
          <a:p>
            <a:pPr lvl="1" indent="-285750">
              <a:lnSpc>
                <a:spcPct val="120000"/>
              </a:lnSpc>
            </a:pPr>
            <a:endParaRPr lang="en-US" sz="2600">
              <a:cs typeface="Arial"/>
            </a:endParaRPr>
          </a:p>
          <a:p>
            <a:pPr marL="0" indent="0">
              <a:lnSpc>
                <a:spcPct val="120000"/>
              </a:lnSpc>
              <a:buNone/>
            </a:pPr>
            <a:endParaRPr lang="en-US" sz="3000">
              <a:cs typeface="Arial"/>
            </a:endParaRPr>
          </a:p>
        </p:txBody>
      </p:sp>
      <p:sp>
        <p:nvSpPr>
          <p:cNvPr id="5" name="object 3">
            <a:extLst>
              <a:ext uri="{FF2B5EF4-FFF2-40B4-BE49-F238E27FC236}">
                <a16:creationId xmlns:a16="http://schemas.microsoft.com/office/drawing/2014/main" id="{BFBA01C8-2D5B-B7C7-CA9C-EC8916E3FACF}"/>
              </a:ext>
            </a:extLst>
          </p:cNvPr>
          <p:cNvSpPr/>
          <p:nvPr/>
        </p:nvSpPr>
        <p:spPr>
          <a:xfrm>
            <a:off x="10310071" y="571938"/>
            <a:ext cx="1652973" cy="318021"/>
          </a:xfrm>
          <a:custGeom>
            <a:avLst/>
            <a:gdLst/>
            <a:ahLst/>
            <a:cxnLst/>
            <a:rect l="l" t="t" r="r" b="b"/>
            <a:pathLst>
              <a:path w="1466850" h="361950">
                <a:moveTo>
                  <a:pt x="1406525" y="0"/>
                </a:moveTo>
                <a:lnTo>
                  <a:pt x="60325" y="0"/>
                </a:lnTo>
                <a:lnTo>
                  <a:pt x="36861" y="4746"/>
                </a:lnTo>
                <a:lnTo>
                  <a:pt x="17684" y="17684"/>
                </a:lnTo>
                <a:lnTo>
                  <a:pt x="4746" y="36861"/>
                </a:lnTo>
                <a:lnTo>
                  <a:pt x="0" y="60325"/>
                </a:lnTo>
                <a:lnTo>
                  <a:pt x="0" y="301625"/>
                </a:lnTo>
                <a:lnTo>
                  <a:pt x="4746" y="325088"/>
                </a:lnTo>
                <a:lnTo>
                  <a:pt x="17684" y="344265"/>
                </a:lnTo>
                <a:lnTo>
                  <a:pt x="36861" y="357203"/>
                </a:lnTo>
                <a:lnTo>
                  <a:pt x="60325" y="361950"/>
                </a:lnTo>
                <a:lnTo>
                  <a:pt x="1406525" y="361950"/>
                </a:lnTo>
                <a:lnTo>
                  <a:pt x="1429988" y="357203"/>
                </a:lnTo>
                <a:lnTo>
                  <a:pt x="1449165" y="344265"/>
                </a:lnTo>
                <a:lnTo>
                  <a:pt x="1462103" y="325088"/>
                </a:lnTo>
                <a:lnTo>
                  <a:pt x="1466850" y="301625"/>
                </a:lnTo>
                <a:lnTo>
                  <a:pt x="1466850" y="60325"/>
                </a:lnTo>
                <a:lnTo>
                  <a:pt x="1462103" y="36861"/>
                </a:lnTo>
                <a:lnTo>
                  <a:pt x="1449165" y="17684"/>
                </a:lnTo>
                <a:lnTo>
                  <a:pt x="1429988" y="4746"/>
                </a:lnTo>
                <a:lnTo>
                  <a:pt x="1406525" y="0"/>
                </a:lnTo>
                <a:close/>
              </a:path>
            </a:pathLst>
          </a:custGeom>
          <a:solidFill>
            <a:srgbClr val="0070C0"/>
          </a:solid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900">
                <a:solidFill>
                  <a:srgbClr val="FFFFFF"/>
                </a:solidFill>
                <a:latin typeface="Arial"/>
                <a:cs typeface="Arial"/>
              </a:rPr>
              <a:t>Charge #3,4,5</a:t>
            </a:r>
            <a:endParaRPr lang="en-US" sz="1900">
              <a:solidFill>
                <a:srgbClr val="000000"/>
              </a:solidFill>
              <a:latin typeface="Arial"/>
              <a:cs typeface="Arial"/>
            </a:endParaRPr>
          </a:p>
          <a:p>
            <a:pPr algn="ctr"/>
            <a:endParaRPr lang="en-US">
              <a:solidFill>
                <a:srgbClr val="FFFFFF"/>
              </a:solidFill>
              <a:cs typeface="Arial"/>
            </a:endParaRPr>
          </a:p>
        </p:txBody>
      </p:sp>
      <p:pic>
        <p:nvPicPr>
          <p:cNvPr id="6" name="Picture 5">
            <a:extLst>
              <a:ext uri="{FF2B5EF4-FFF2-40B4-BE49-F238E27FC236}">
                <a16:creationId xmlns:a16="http://schemas.microsoft.com/office/drawing/2014/main" id="{175C66AA-3271-2E63-7157-D7A3B8E8A2C0}"/>
              </a:ext>
            </a:extLst>
          </p:cNvPr>
          <p:cNvPicPr>
            <a:picLocks noChangeAspect="1"/>
          </p:cNvPicPr>
          <p:nvPr/>
        </p:nvPicPr>
        <p:blipFill>
          <a:blip r:embed="rId3"/>
          <a:stretch>
            <a:fillRect/>
          </a:stretch>
        </p:blipFill>
        <p:spPr>
          <a:xfrm>
            <a:off x="4295169" y="977660"/>
            <a:ext cx="7792664" cy="5125529"/>
          </a:xfrm>
          <a:prstGeom prst="rect">
            <a:avLst/>
          </a:prstGeom>
        </p:spPr>
      </p:pic>
      <p:sp>
        <p:nvSpPr>
          <p:cNvPr id="7" name="Rectangle 6">
            <a:extLst>
              <a:ext uri="{FF2B5EF4-FFF2-40B4-BE49-F238E27FC236}">
                <a16:creationId xmlns:a16="http://schemas.microsoft.com/office/drawing/2014/main" id="{D4620449-BBCE-4E6F-F0A9-43D76315E190}"/>
              </a:ext>
            </a:extLst>
          </p:cNvPr>
          <p:cNvSpPr/>
          <p:nvPr/>
        </p:nvSpPr>
        <p:spPr>
          <a:xfrm>
            <a:off x="6644355" y="4671699"/>
            <a:ext cx="2364336" cy="1552487"/>
          </a:xfrm>
          <a:prstGeom prst="rect">
            <a:avLst/>
          </a:prstGeom>
          <a:noFill/>
          <a:ln w="28575">
            <a:solidFill>
              <a:schemeClr val="accent5"/>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092761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DB728-C1E9-6BBE-43E8-04504C98310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672296B-0E2A-F5FA-42EE-2AEAA0780B17}"/>
              </a:ext>
            </a:extLst>
          </p:cNvPr>
          <p:cNvSpPr>
            <a:spLocks noGrp="1"/>
          </p:cNvSpPr>
          <p:nvPr>
            <p:ph type="sldNum" sz="quarter" idx="4"/>
          </p:nvPr>
        </p:nvSpPr>
        <p:spPr/>
        <p:txBody>
          <a:bodyPr/>
          <a:lstStyle/>
          <a:p>
            <a:pPr algn="ctr"/>
            <a:fld id="{933A556B-7C63-244D-9B7C-B0EA8042B330}" type="slidenum">
              <a:rPr lang="en-US" smtClean="0"/>
              <a:pPr algn="ctr"/>
              <a:t>16</a:t>
            </a:fld>
            <a:endParaRPr lang="en-US"/>
          </a:p>
        </p:txBody>
      </p:sp>
      <p:sp>
        <p:nvSpPr>
          <p:cNvPr id="3" name="Title 2">
            <a:extLst>
              <a:ext uri="{FF2B5EF4-FFF2-40B4-BE49-F238E27FC236}">
                <a16:creationId xmlns:a16="http://schemas.microsoft.com/office/drawing/2014/main" id="{CC4DE1EC-ACC0-F344-621E-4DE70E7F6DF1}"/>
              </a:ext>
            </a:extLst>
          </p:cNvPr>
          <p:cNvSpPr>
            <a:spLocks noGrp="1"/>
          </p:cNvSpPr>
          <p:nvPr>
            <p:ph type="title"/>
          </p:nvPr>
        </p:nvSpPr>
        <p:spPr>
          <a:xfrm>
            <a:off x="462579" y="64698"/>
            <a:ext cx="11499925" cy="825178"/>
          </a:xfrm>
        </p:spPr>
        <p:txBody>
          <a:bodyPr>
            <a:normAutofit/>
          </a:bodyPr>
          <a:lstStyle/>
          <a:p>
            <a:r>
              <a:rPr lang="en-US">
                <a:solidFill>
                  <a:srgbClr val="000000"/>
                </a:solidFill>
                <a:latin typeface="Arial"/>
                <a:cs typeface="Arial"/>
              </a:rPr>
              <a:t>Dual System Architecture Diagram</a:t>
            </a:r>
            <a:endParaRPr lang="en-US" b="0">
              <a:cs typeface="Arial"/>
            </a:endParaRPr>
          </a:p>
        </p:txBody>
      </p:sp>
      <p:sp>
        <p:nvSpPr>
          <p:cNvPr id="4" name="Text Placeholder 3">
            <a:extLst>
              <a:ext uri="{FF2B5EF4-FFF2-40B4-BE49-F238E27FC236}">
                <a16:creationId xmlns:a16="http://schemas.microsoft.com/office/drawing/2014/main" id="{40578B3E-0476-88E0-1CB8-ABF7E937677F}"/>
              </a:ext>
            </a:extLst>
          </p:cNvPr>
          <p:cNvSpPr>
            <a:spLocks noGrp="1"/>
          </p:cNvSpPr>
          <p:nvPr>
            <p:ph type="body" sz="quarter" idx="10"/>
          </p:nvPr>
        </p:nvSpPr>
        <p:spPr>
          <a:xfrm>
            <a:off x="461963" y="981075"/>
            <a:ext cx="3541983" cy="5065713"/>
          </a:xfrm>
        </p:spPr>
        <p:txBody>
          <a:bodyPr vert="horz" lIns="91440" tIns="45720" rIns="91440" bIns="45720" rtlCol="0" anchor="t">
            <a:normAutofit fontScale="55000" lnSpcReduction="20000"/>
          </a:bodyPr>
          <a:lstStyle/>
          <a:p>
            <a:pPr marL="0" indent="0">
              <a:lnSpc>
                <a:spcPct val="120000"/>
              </a:lnSpc>
              <a:buNone/>
            </a:pPr>
            <a:r>
              <a:rPr lang="en-US" sz="3000" b="1" i="1">
                <a:solidFill>
                  <a:srgbClr val="000000"/>
                </a:solidFill>
                <a:latin typeface="Arial"/>
                <a:cs typeface="Arial" panose="020B0604020202020204"/>
              </a:rPr>
              <a:t>Strategy 2: AdoEpicsBridge</a:t>
            </a:r>
            <a:endParaRPr lang="en-US" b="1" i="1">
              <a:solidFill>
                <a:srgbClr val="000000"/>
              </a:solidFill>
              <a:latin typeface="Arial"/>
              <a:cs typeface="Arial" panose="020B0604020202020204"/>
            </a:endParaRPr>
          </a:p>
          <a:p>
            <a:pPr marL="0" indent="0">
              <a:lnSpc>
                <a:spcPct val="120000"/>
              </a:lnSpc>
              <a:buNone/>
            </a:pPr>
            <a:r>
              <a:rPr lang="en-US" sz="3000">
                <a:solidFill>
                  <a:srgbClr val="000000"/>
                </a:solidFill>
                <a:latin typeface="Arial"/>
                <a:cs typeface="Arial" panose="020B0604020202020204"/>
              </a:rPr>
              <a:t>A p4p-based bridge that exposes ADO devices as EPICS PVs over pvAccess</a:t>
            </a:r>
            <a:endParaRPr lang="en-US">
              <a:cs typeface="Arial" panose="020B0604020202020204"/>
            </a:endParaRPr>
          </a:p>
          <a:p>
            <a:pPr marL="457200" indent="-457200">
              <a:lnSpc>
                <a:spcPct val="120000"/>
              </a:lnSpc>
            </a:pPr>
            <a:r>
              <a:rPr lang="en-US" sz="2600">
                <a:solidFill>
                  <a:srgbClr val="000000"/>
                </a:solidFill>
                <a:latin typeface="Arial"/>
                <a:cs typeface="Arial" panose="020B0604020202020204"/>
              </a:rPr>
              <a:t>Requires no changes to existing ADO infrastructure — ADO devices and managers remain untouched</a:t>
            </a:r>
          </a:p>
          <a:p>
            <a:pPr marL="457200" indent="-457200">
              <a:lnSpc>
                <a:spcPct val="120000"/>
              </a:lnSpc>
            </a:pPr>
            <a:r>
              <a:rPr lang="en-US" sz="2600">
                <a:solidFill>
                  <a:srgbClr val="000000"/>
                </a:solidFill>
                <a:latin typeface="Arial"/>
                <a:cs typeface="Arial" panose="020B0604020202020204"/>
              </a:rPr>
              <a:t>Seamlessly merges the two control systems from the EPICS side by exposing ADO devices as EPICS PVs</a:t>
            </a:r>
          </a:p>
          <a:p>
            <a:pPr marL="457200" indent="-457200">
              <a:lnSpc>
                <a:spcPct val="120000"/>
              </a:lnSpc>
            </a:pPr>
            <a:r>
              <a:rPr lang="en-US" sz="2600">
                <a:solidFill>
                  <a:srgbClr val="000000"/>
                </a:solidFill>
                <a:latin typeface="Arial"/>
                <a:cs typeface="Arial" panose="020B0604020202020204"/>
              </a:rPr>
              <a:t>Primarily used for FEC; p4p-based bridge between ADO and EPICS (pvAccess)</a:t>
            </a:r>
          </a:p>
          <a:p>
            <a:pPr marL="457200" indent="-457200">
              <a:lnSpc>
                <a:spcPct val="120000"/>
              </a:lnSpc>
            </a:pPr>
            <a:r>
              <a:rPr lang="en-US" sz="2600">
                <a:solidFill>
                  <a:srgbClr val="000000"/>
                </a:solidFill>
                <a:latin typeface="Arial"/>
                <a:cs typeface="Arial" panose="020B0604020202020204"/>
              </a:rPr>
              <a:t>Requires a cluster of AdoEpicsBridge instances with a load balancer — additional infrastructure investment, but achievable and well-understood</a:t>
            </a:r>
            <a:endParaRPr lang="en-US" sz="2600">
              <a:cs typeface="Arial"/>
            </a:endParaRPr>
          </a:p>
          <a:p>
            <a:pPr lvl="1" indent="-285750">
              <a:lnSpc>
                <a:spcPct val="120000"/>
              </a:lnSpc>
            </a:pPr>
            <a:endParaRPr lang="en-US" sz="2600">
              <a:cs typeface="Arial"/>
            </a:endParaRPr>
          </a:p>
          <a:p>
            <a:pPr marL="0" indent="0">
              <a:lnSpc>
                <a:spcPct val="120000"/>
              </a:lnSpc>
              <a:buNone/>
            </a:pPr>
            <a:endParaRPr lang="en-US" sz="3000">
              <a:cs typeface="Arial" panose="020B0604020202020204"/>
            </a:endParaRPr>
          </a:p>
        </p:txBody>
      </p:sp>
      <p:sp>
        <p:nvSpPr>
          <p:cNvPr id="5" name="object 3">
            <a:extLst>
              <a:ext uri="{FF2B5EF4-FFF2-40B4-BE49-F238E27FC236}">
                <a16:creationId xmlns:a16="http://schemas.microsoft.com/office/drawing/2014/main" id="{E1A50025-CEC7-71DD-626E-6D04716EB298}"/>
              </a:ext>
            </a:extLst>
          </p:cNvPr>
          <p:cNvSpPr/>
          <p:nvPr/>
        </p:nvSpPr>
        <p:spPr>
          <a:xfrm>
            <a:off x="10310071" y="571938"/>
            <a:ext cx="1652973" cy="318021"/>
          </a:xfrm>
          <a:custGeom>
            <a:avLst/>
            <a:gdLst/>
            <a:ahLst/>
            <a:cxnLst/>
            <a:rect l="l" t="t" r="r" b="b"/>
            <a:pathLst>
              <a:path w="1466850" h="361950">
                <a:moveTo>
                  <a:pt x="1406525" y="0"/>
                </a:moveTo>
                <a:lnTo>
                  <a:pt x="60325" y="0"/>
                </a:lnTo>
                <a:lnTo>
                  <a:pt x="36861" y="4746"/>
                </a:lnTo>
                <a:lnTo>
                  <a:pt x="17684" y="17684"/>
                </a:lnTo>
                <a:lnTo>
                  <a:pt x="4746" y="36861"/>
                </a:lnTo>
                <a:lnTo>
                  <a:pt x="0" y="60325"/>
                </a:lnTo>
                <a:lnTo>
                  <a:pt x="0" y="301625"/>
                </a:lnTo>
                <a:lnTo>
                  <a:pt x="4746" y="325088"/>
                </a:lnTo>
                <a:lnTo>
                  <a:pt x="17684" y="344265"/>
                </a:lnTo>
                <a:lnTo>
                  <a:pt x="36861" y="357203"/>
                </a:lnTo>
                <a:lnTo>
                  <a:pt x="60325" y="361950"/>
                </a:lnTo>
                <a:lnTo>
                  <a:pt x="1406525" y="361950"/>
                </a:lnTo>
                <a:lnTo>
                  <a:pt x="1429988" y="357203"/>
                </a:lnTo>
                <a:lnTo>
                  <a:pt x="1449165" y="344265"/>
                </a:lnTo>
                <a:lnTo>
                  <a:pt x="1462103" y="325088"/>
                </a:lnTo>
                <a:lnTo>
                  <a:pt x="1466850" y="301625"/>
                </a:lnTo>
                <a:lnTo>
                  <a:pt x="1466850" y="60325"/>
                </a:lnTo>
                <a:lnTo>
                  <a:pt x="1462103" y="36861"/>
                </a:lnTo>
                <a:lnTo>
                  <a:pt x="1449165" y="17684"/>
                </a:lnTo>
                <a:lnTo>
                  <a:pt x="1429988" y="4746"/>
                </a:lnTo>
                <a:lnTo>
                  <a:pt x="1406525" y="0"/>
                </a:lnTo>
                <a:close/>
              </a:path>
            </a:pathLst>
          </a:custGeom>
          <a:solidFill>
            <a:srgbClr val="0070C0"/>
          </a:solid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solidFill>
                  <a:srgbClr val="FFFFFF"/>
                </a:solidFill>
                <a:latin typeface="Arial"/>
                <a:cs typeface="Arial"/>
              </a:rPr>
              <a:t>Charge #3,4,5</a:t>
            </a:r>
          </a:p>
          <a:p>
            <a:pPr algn="ctr"/>
            <a:endParaRPr lang="en-US">
              <a:solidFill>
                <a:srgbClr val="FFFFFF"/>
              </a:solidFill>
              <a:cs typeface="Arial"/>
            </a:endParaRPr>
          </a:p>
        </p:txBody>
      </p:sp>
      <p:pic>
        <p:nvPicPr>
          <p:cNvPr id="6" name="Picture 5">
            <a:extLst>
              <a:ext uri="{FF2B5EF4-FFF2-40B4-BE49-F238E27FC236}">
                <a16:creationId xmlns:a16="http://schemas.microsoft.com/office/drawing/2014/main" id="{3CF3F2B7-BF7B-B9D4-F647-3F4A86089A3C}"/>
              </a:ext>
            </a:extLst>
          </p:cNvPr>
          <p:cNvPicPr>
            <a:picLocks noChangeAspect="1"/>
          </p:cNvPicPr>
          <p:nvPr/>
        </p:nvPicPr>
        <p:blipFill>
          <a:blip r:embed="rId3"/>
          <a:stretch>
            <a:fillRect/>
          </a:stretch>
        </p:blipFill>
        <p:spPr>
          <a:xfrm>
            <a:off x="4295169" y="977660"/>
            <a:ext cx="7792664" cy="5125529"/>
          </a:xfrm>
          <a:prstGeom prst="rect">
            <a:avLst/>
          </a:prstGeom>
        </p:spPr>
      </p:pic>
      <p:sp>
        <p:nvSpPr>
          <p:cNvPr id="8" name="Rectangle 7">
            <a:extLst>
              <a:ext uri="{FF2B5EF4-FFF2-40B4-BE49-F238E27FC236}">
                <a16:creationId xmlns:a16="http://schemas.microsoft.com/office/drawing/2014/main" id="{91B8E983-3271-6C90-AD2C-72C9EFA7B0C9}"/>
              </a:ext>
            </a:extLst>
          </p:cNvPr>
          <p:cNvSpPr/>
          <p:nvPr/>
        </p:nvSpPr>
        <p:spPr>
          <a:xfrm>
            <a:off x="6095715" y="2091059"/>
            <a:ext cx="2364336" cy="2121447"/>
          </a:xfrm>
          <a:prstGeom prst="rect">
            <a:avLst/>
          </a:prstGeom>
          <a:noFill/>
          <a:ln w="28575">
            <a:solidFill>
              <a:schemeClr val="accent5"/>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963154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226EC-BB71-A90F-34F0-4E62F9DECA7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CC9B827-6F14-BB74-CAF2-BD6D8BA565C1}"/>
              </a:ext>
            </a:extLst>
          </p:cNvPr>
          <p:cNvSpPr>
            <a:spLocks noGrp="1"/>
          </p:cNvSpPr>
          <p:nvPr>
            <p:ph type="sldNum" sz="quarter" idx="4"/>
          </p:nvPr>
        </p:nvSpPr>
        <p:spPr/>
        <p:txBody>
          <a:bodyPr/>
          <a:lstStyle/>
          <a:p>
            <a:pPr algn="ctr"/>
            <a:fld id="{933A556B-7C63-244D-9B7C-B0EA8042B330}" type="slidenum">
              <a:rPr lang="en-US" smtClean="0"/>
              <a:pPr algn="ctr"/>
              <a:t>17</a:t>
            </a:fld>
            <a:endParaRPr lang="en-US"/>
          </a:p>
        </p:txBody>
      </p:sp>
      <p:sp>
        <p:nvSpPr>
          <p:cNvPr id="3" name="Title 2">
            <a:extLst>
              <a:ext uri="{FF2B5EF4-FFF2-40B4-BE49-F238E27FC236}">
                <a16:creationId xmlns:a16="http://schemas.microsoft.com/office/drawing/2014/main" id="{237FB984-070C-629F-1C01-3E79A23F607D}"/>
              </a:ext>
            </a:extLst>
          </p:cNvPr>
          <p:cNvSpPr>
            <a:spLocks noGrp="1"/>
          </p:cNvSpPr>
          <p:nvPr>
            <p:ph type="title"/>
          </p:nvPr>
        </p:nvSpPr>
        <p:spPr>
          <a:xfrm>
            <a:off x="462579" y="64698"/>
            <a:ext cx="11499925" cy="825178"/>
          </a:xfrm>
        </p:spPr>
        <p:txBody>
          <a:bodyPr>
            <a:normAutofit/>
          </a:bodyPr>
          <a:lstStyle/>
          <a:p>
            <a:r>
              <a:rPr lang="en-US">
                <a:solidFill>
                  <a:srgbClr val="000000"/>
                </a:solidFill>
                <a:latin typeface="Arial"/>
                <a:cs typeface="Arial"/>
              </a:rPr>
              <a:t>Dual System Architecture Diagram</a:t>
            </a:r>
            <a:endParaRPr lang="en-US" b="0">
              <a:cs typeface="Arial"/>
            </a:endParaRPr>
          </a:p>
        </p:txBody>
      </p:sp>
      <p:sp>
        <p:nvSpPr>
          <p:cNvPr id="4" name="Text Placeholder 3">
            <a:extLst>
              <a:ext uri="{FF2B5EF4-FFF2-40B4-BE49-F238E27FC236}">
                <a16:creationId xmlns:a16="http://schemas.microsoft.com/office/drawing/2014/main" id="{B4EEB523-7BE0-C375-8555-5DE6FBCC9241}"/>
              </a:ext>
            </a:extLst>
          </p:cNvPr>
          <p:cNvSpPr>
            <a:spLocks noGrp="1"/>
          </p:cNvSpPr>
          <p:nvPr>
            <p:ph type="body" sz="quarter" idx="10"/>
          </p:nvPr>
        </p:nvSpPr>
        <p:spPr>
          <a:xfrm>
            <a:off x="461963" y="981075"/>
            <a:ext cx="3678568" cy="5065713"/>
          </a:xfrm>
        </p:spPr>
        <p:txBody>
          <a:bodyPr vert="horz" lIns="91440" tIns="45720" rIns="91440" bIns="45720" rtlCol="0" anchor="t">
            <a:normAutofit fontScale="70000" lnSpcReduction="20000"/>
          </a:bodyPr>
          <a:lstStyle/>
          <a:p>
            <a:pPr marL="0" indent="0">
              <a:lnSpc>
                <a:spcPct val="120000"/>
              </a:lnSpc>
              <a:buNone/>
            </a:pPr>
            <a:r>
              <a:rPr lang="en-US" sz="3000" b="1" i="1">
                <a:solidFill>
                  <a:srgbClr val="000000"/>
                </a:solidFill>
                <a:latin typeface="Arial"/>
                <a:cs typeface="Arial" panose="020B0604020202020204"/>
              </a:rPr>
              <a:t>Strategy </a:t>
            </a:r>
            <a:r>
              <a:rPr lang="en-US" sz="3000" b="1" i="1">
                <a:solidFill>
                  <a:srgbClr val="000000"/>
                </a:solidFill>
                <a:ea typeface="+mn-lt"/>
                <a:cs typeface="+mn-lt"/>
              </a:rPr>
              <a:t>3</a:t>
            </a:r>
            <a:r>
              <a:rPr lang="en-US" sz="3000" b="1" i="1">
                <a:solidFill>
                  <a:srgbClr val="000000"/>
                </a:solidFill>
                <a:latin typeface="Arial"/>
                <a:cs typeface="Arial" panose="020B0604020202020204"/>
              </a:rPr>
              <a:t>: </a:t>
            </a:r>
            <a:r>
              <a:rPr lang="en-US" sz="3000" b="1" i="1">
                <a:solidFill>
                  <a:srgbClr val="000000"/>
                </a:solidFill>
                <a:ea typeface="+mn-lt"/>
                <a:cs typeface="+mn-lt"/>
              </a:rPr>
              <a:t>Ado Datasource</a:t>
            </a:r>
            <a:endParaRPr lang="en-US" b="1" i="1">
              <a:solidFill>
                <a:srgbClr val="000000"/>
              </a:solidFill>
              <a:latin typeface="Arial"/>
              <a:cs typeface="Arial" panose="020B0604020202020204"/>
            </a:endParaRPr>
          </a:p>
          <a:p>
            <a:pPr marL="0" indent="0">
              <a:lnSpc>
                <a:spcPct val="120000"/>
              </a:lnSpc>
              <a:buNone/>
            </a:pPr>
            <a:r>
              <a:rPr lang="en-US" sz="3000">
                <a:solidFill>
                  <a:srgbClr val="000000"/>
                </a:solidFill>
                <a:ea typeface="+mn-lt"/>
                <a:cs typeface="+mn-lt"/>
              </a:rPr>
              <a:t>ADO protocol client in </a:t>
            </a:r>
            <a:br>
              <a:rPr lang="en-US" sz="3000">
                <a:solidFill>
                  <a:srgbClr val="000000"/>
                </a:solidFill>
                <a:ea typeface="+mn-lt"/>
                <a:cs typeface="+mn-lt"/>
              </a:rPr>
            </a:br>
            <a:r>
              <a:rPr lang="en-US" sz="3000">
                <a:solidFill>
                  <a:srgbClr val="000000"/>
                </a:solidFill>
                <a:ea typeface="+mn-lt"/>
                <a:cs typeface="+mn-lt"/>
              </a:rPr>
              <a:t>core-pv</a:t>
            </a:r>
            <a:endParaRPr lang="en-US"/>
          </a:p>
          <a:p>
            <a:pPr marL="457200" indent="-457200">
              <a:lnSpc>
                <a:spcPct val="120000"/>
              </a:lnSpc>
            </a:pPr>
            <a:r>
              <a:rPr lang="en-US" sz="2600">
                <a:solidFill>
                  <a:srgbClr val="000000"/>
                </a:solidFill>
                <a:latin typeface="Arial"/>
                <a:cs typeface="Arial" panose="020B0604020202020204"/>
              </a:rPr>
              <a:t>Requires no changes to existing ADO infrastructure — ADO devices and managers remain untouched</a:t>
            </a:r>
          </a:p>
          <a:p>
            <a:pPr marL="457200" indent="-457200">
              <a:lnSpc>
                <a:spcPct val="120000"/>
              </a:lnSpc>
            </a:pPr>
            <a:r>
              <a:rPr lang="en-US" sz="2600">
                <a:solidFill>
                  <a:srgbClr val="000000"/>
                </a:solidFill>
                <a:latin typeface="Arial"/>
                <a:cs typeface="Arial" panose="020B0604020202020204"/>
              </a:rPr>
              <a:t>Seamlessly merges the two control systems at the tools and services layer</a:t>
            </a:r>
          </a:p>
          <a:p>
            <a:pPr marL="457200" indent="-457200">
              <a:lnSpc>
                <a:spcPct val="120000"/>
              </a:lnSpc>
            </a:pPr>
            <a:r>
              <a:rPr lang="en-US" sz="2600">
                <a:solidFill>
                  <a:srgbClr val="000000"/>
                </a:solidFill>
                <a:ea typeface="+mn-lt"/>
                <a:cs typeface="+mn-lt"/>
              </a:rPr>
              <a:t>No central broker or gateway infrastructure required</a:t>
            </a:r>
            <a:endParaRPr lang="en-US" sz="2600">
              <a:cs typeface="Arial"/>
            </a:endParaRPr>
          </a:p>
          <a:p>
            <a:pPr lvl="1" indent="-285750">
              <a:lnSpc>
                <a:spcPct val="120000"/>
              </a:lnSpc>
            </a:pPr>
            <a:endParaRPr lang="en-US" sz="2600">
              <a:cs typeface="Arial"/>
            </a:endParaRPr>
          </a:p>
          <a:p>
            <a:pPr marL="0" indent="0">
              <a:lnSpc>
                <a:spcPct val="120000"/>
              </a:lnSpc>
              <a:buNone/>
            </a:pPr>
            <a:endParaRPr lang="en-US" sz="3000">
              <a:cs typeface="Arial" panose="020B0604020202020204"/>
            </a:endParaRPr>
          </a:p>
        </p:txBody>
      </p:sp>
      <p:sp>
        <p:nvSpPr>
          <p:cNvPr id="5" name="object 3">
            <a:extLst>
              <a:ext uri="{FF2B5EF4-FFF2-40B4-BE49-F238E27FC236}">
                <a16:creationId xmlns:a16="http://schemas.microsoft.com/office/drawing/2014/main" id="{0C839067-9E46-6EF1-3815-617B2D554A34}"/>
              </a:ext>
            </a:extLst>
          </p:cNvPr>
          <p:cNvSpPr/>
          <p:nvPr/>
        </p:nvSpPr>
        <p:spPr>
          <a:xfrm>
            <a:off x="10310071" y="571938"/>
            <a:ext cx="1652973" cy="318021"/>
          </a:xfrm>
          <a:custGeom>
            <a:avLst/>
            <a:gdLst/>
            <a:ahLst/>
            <a:cxnLst/>
            <a:rect l="l" t="t" r="r" b="b"/>
            <a:pathLst>
              <a:path w="1466850" h="361950">
                <a:moveTo>
                  <a:pt x="1406525" y="0"/>
                </a:moveTo>
                <a:lnTo>
                  <a:pt x="60325" y="0"/>
                </a:lnTo>
                <a:lnTo>
                  <a:pt x="36861" y="4746"/>
                </a:lnTo>
                <a:lnTo>
                  <a:pt x="17684" y="17684"/>
                </a:lnTo>
                <a:lnTo>
                  <a:pt x="4746" y="36861"/>
                </a:lnTo>
                <a:lnTo>
                  <a:pt x="0" y="60325"/>
                </a:lnTo>
                <a:lnTo>
                  <a:pt x="0" y="301625"/>
                </a:lnTo>
                <a:lnTo>
                  <a:pt x="4746" y="325088"/>
                </a:lnTo>
                <a:lnTo>
                  <a:pt x="17684" y="344265"/>
                </a:lnTo>
                <a:lnTo>
                  <a:pt x="36861" y="357203"/>
                </a:lnTo>
                <a:lnTo>
                  <a:pt x="60325" y="361950"/>
                </a:lnTo>
                <a:lnTo>
                  <a:pt x="1406525" y="361950"/>
                </a:lnTo>
                <a:lnTo>
                  <a:pt x="1429988" y="357203"/>
                </a:lnTo>
                <a:lnTo>
                  <a:pt x="1449165" y="344265"/>
                </a:lnTo>
                <a:lnTo>
                  <a:pt x="1462103" y="325088"/>
                </a:lnTo>
                <a:lnTo>
                  <a:pt x="1466850" y="301625"/>
                </a:lnTo>
                <a:lnTo>
                  <a:pt x="1466850" y="60325"/>
                </a:lnTo>
                <a:lnTo>
                  <a:pt x="1462103" y="36861"/>
                </a:lnTo>
                <a:lnTo>
                  <a:pt x="1449165" y="17684"/>
                </a:lnTo>
                <a:lnTo>
                  <a:pt x="1429988" y="4746"/>
                </a:lnTo>
                <a:lnTo>
                  <a:pt x="1406525" y="0"/>
                </a:lnTo>
                <a:close/>
              </a:path>
            </a:pathLst>
          </a:custGeom>
          <a:solidFill>
            <a:srgbClr val="0070C0"/>
          </a:solid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solidFill>
                  <a:srgbClr val="FFFFFF"/>
                </a:solidFill>
                <a:latin typeface="Arial"/>
                <a:cs typeface="Arial"/>
              </a:rPr>
              <a:t>Charge #3,4,5</a:t>
            </a:r>
          </a:p>
          <a:p>
            <a:pPr algn="ctr"/>
            <a:endParaRPr lang="en-US">
              <a:solidFill>
                <a:srgbClr val="FFFFFF"/>
              </a:solidFill>
              <a:cs typeface="Arial"/>
            </a:endParaRPr>
          </a:p>
        </p:txBody>
      </p:sp>
      <p:pic>
        <p:nvPicPr>
          <p:cNvPr id="6" name="Picture 5">
            <a:extLst>
              <a:ext uri="{FF2B5EF4-FFF2-40B4-BE49-F238E27FC236}">
                <a16:creationId xmlns:a16="http://schemas.microsoft.com/office/drawing/2014/main" id="{A15B93DE-CA35-CF22-719D-27A524A18983}"/>
              </a:ext>
            </a:extLst>
          </p:cNvPr>
          <p:cNvPicPr>
            <a:picLocks noChangeAspect="1"/>
          </p:cNvPicPr>
          <p:nvPr/>
        </p:nvPicPr>
        <p:blipFill>
          <a:blip r:embed="rId3"/>
          <a:stretch>
            <a:fillRect/>
          </a:stretch>
        </p:blipFill>
        <p:spPr>
          <a:xfrm>
            <a:off x="4295169" y="977660"/>
            <a:ext cx="7792664" cy="5125529"/>
          </a:xfrm>
          <a:prstGeom prst="rect">
            <a:avLst/>
          </a:prstGeom>
        </p:spPr>
      </p:pic>
      <p:sp>
        <p:nvSpPr>
          <p:cNvPr id="8" name="Rectangle 7">
            <a:extLst>
              <a:ext uri="{FF2B5EF4-FFF2-40B4-BE49-F238E27FC236}">
                <a16:creationId xmlns:a16="http://schemas.microsoft.com/office/drawing/2014/main" id="{D4E5CE1B-41A1-B96E-7B2C-B6C42AB472C3}"/>
              </a:ext>
            </a:extLst>
          </p:cNvPr>
          <p:cNvSpPr/>
          <p:nvPr/>
        </p:nvSpPr>
        <p:spPr>
          <a:xfrm>
            <a:off x="9143715" y="1715139"/>
            <a:ext cx="1409296" cy="749847"/>
          </a:xfrm>
          <a:prstGeom prst="rect">
            <a:avLst/>
          </a:prstGeom>
          <a:noFill/>
          <a:ln w="28575">
            <a:solidFill>
              <a:schemeClr val="accent5"/>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9A0452B0-4E8B-9C8E-5754-70586E9976BC}"/>
              </a:ext>
            </a:extLst>
          </p:cNvPr>
          <p:cNvSpPr/>
          <p:nvPr/>
        </p:nvSpPr>
        <p:spPr>
          <a:xfrm>
            <a:off x="10677875" y="3482978"/>
            <a:ext cx="1328016" cy="648247"/>
          </a:xfrm>
          <a:prstGeom prst="rect">
            <a:avLst/>
          </a:prstGeom>
          <a:noFill/>
          <a:ln w="28575">
            <a:solidFill>
              <a:schemeClr val="accent5"/>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0943FAAB-849D-CD46-26C1-3A143CD6943D}"/>
              </a:ext>
            </a:extLst>
          </p:cNvPr>
          <p:cNvSpPr/>
          <p:nvPr/>
        </p:nvSpPr>
        <p:spPr>
          <a:xfrm>
            <a:off x="9184355" y="3482978"/>
            <a:ext cx="1328016" cy="648247"/>
          </a:xfrm>
          <a:prstGeom prst="rect">
            <a:avLst/>
          </a:prstGeom>
          <a:noFill/>
          <a:ln w="28575">
            <a:solidFill>
              <a:schemeClr val="accent5"/>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8754412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047C9-E73E-25FC-0870-94403A6C60B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BDBF25D-0E2E-FBAC-BA5E-811C70D17C7C}"/>
              </a:ext>
            </a:extLst>
          </p:cNvPr>
          <p:cNvSpPr>
            <a:spLocks noGrp="1"/>
          </p:cNvSpPr>
          <p:nvPr>
            <p:ph type="title"/>
          </p:nvPr>
        </p:nvSpPr>
        <p:spPr/>
        <p:txBody>
          <a:bodyPr/>
          <a:lstStyle/>
          <a:p>
            <a:r>
              <a:rPr lang="en-US">
                <a:ea typeface="+mn-lt"/>
                <a:cs typeface="+mn-lt"/>
              </a:rPr>
              <a:t>Network Architecture and Subnet Strategy</a:t>
            </a:r>
            <a:endParaRPr lang="en-US"/>
          </a:p>
        </p:txBody>
      </p:sp>
      <p:sp>
        <p:nvSpPr>
          <p:cNvPr id="4" name="Text Placeholder 3">
            <a:extLst>
              <a:ext uri="{FF2B5EF4-FFF2-40B4-BE49-F238E27FC236}">
                <a16:creationId xmlns:a16="http://schemas.microsoft.com/office/drawing/2014/main" id="{E0D57AD6-9FAD-B3E2-D8F1-053107B739AC}"/>
              </a:ext>
            </a:extLst>
          </p:cNvPr>
          <p:cNvSpPr>
            <a:spLocks noGrp="1"/>
          </p:cNvSpPr>
          <p:nvPr>
            <p:ph sz="half" idx="1"/>
          </p:nvPr>
        </p:nvSpPr>
        <p:spPr/>
        <p:txBody>
          <a:bodyPr vert="horz" lIns="91440" tIns="45720" rIns="91440" bIns="45720" rtlCol="0" anchor="t">
            <a:normAutofit/>
          </a:bodyPr>
          <a:lstStyle/>
          <a:p>
            <a:pPr marL="0" indent="0">
              <a:lnSpc>
                <a:spcPct val="110000"/>
              </a:lnSpc>
              <a:buNone/>
            </a:pPr>
            <a:r>
              <a:rPr lang="en-US" sz="2700">
                <a:solidFill>
                  <a:srgbClr val="000000"/>
                </a:solidFill>
                <a:highlight>
                  <a:srgbClr val="00FFFF"/>
                </a:highlight>
                <a:latin typeface="Arial"/>
                <a:ea typeface="+mn-lt"/>
                <a:cs typeface="+mn-lt"/>
              </a:rPr>
              <a:t>[Talk-6/7-Kulmatycski]</a:t>
            </a:r>
            <a:endParaRPr lang="en-US"/>
          </a:p>
          <a:p>
            <a:pPr>
              <a:lnSpc>
                <a:spcPct val="110000"/>
              </a:lnSpc>
            </a:pPr>
            <a:r>
              <a:rPr lang="en-US">
                <a:solidFill>
                  <a:srgbClr val="000000"/>
                </a:solidFill>
                <a:latin typeface="Arial"/>
                <a:ea typeface="+mn-lt"/>
                <a:cs typeface="+mn-lt"/>
              </a:rPr>
              <a:t>Network architecture goals:</a:t>
            </a:r>
            <a:endParaRPr lang="en-US">
              <a:cs typeface="Arial" panose="020B0604020202020204"/>
            </a:endParaRPr>
          </a:p>
          <a:p>
            <a:pPr marL="742950" lvl="1" indent="-342900">
              <a:lnSpc>
                <a:spcPct val="110000"/>
              </a:lnSpc>
            </a:pPr>
            <a:r>
              <a:rPr lang="en-US">
                <a:solidFill>
                  <a:srgbClr val="000000"/>
                </a:solidFill>
                <a:ea typeface="+mn-lt"/>
                <a:cs typeface="+mn-lt"/>
              </a:rPr>
              <a:t>Scalable connectivity for distributed and clustered components </a:t>
            </a:r>
            <a:endParaRPr lang="en-US">
              <a:solidFill>
                <a:srgbClr val="000000"/>
              </a:solidFill>
              <a:latin typeface="Arial"/>
              <a:ea typeface="+mn-lt"/>
              <a:cs typeface="+mn-lt"/>
            </a:endParaRPr>
          </a:p>
          <a:p>
            <a:pPr marL="742950" lvl="1" indent="-342900">
              <a:lnSpc>
                <a:spcPct val="110000"/>
              </a:lnSpc>
            </a:pPr>
            <a:r>
              <a:rPr lang="en-US">
                <a:solidFill>
                  <a:srgbClr val="000000"/>
                </a:solidFill>
                <a:latin typeface="Arial"/>
                <a:ea typeface="+mn-lt"/>
                <a:cs typeface="+mn-lt"/>
              </a:rPr>
              <a:t>Clear segmentation across controls, instrumentation, and data services</a:t>
            </a:r>
            <a:endParaRPr lang="en-US">
              <a:cs typeface="Arial" panose="020B0604020202020204"/>
            </a:endParaRPr>
          </a:p>
          <a:p>
            <a:pPr>
              <a:lnSpc>
                <a:spcPct val="110000"/>
              </a:lnSpc>
            </a:pPr>
            <a:r>
              <a:rPr lang="en-US">
                <a:solidFill>
                  <a:srgbClr val="000000"/>
                </a:solidFill>
                <a:latin typeface="Arial"/>
                <a:ea typeface="+mn-lt"/>
                <a:cs typeface="+mn-lt"/>
              </a:rPr>
              <a:t>Subnet model:</a:t>
            </a:r>
          </a:p>
          <a:p>
            <a:pPr marL="742950" lvl="1" indent="-342900">
              <a:lnSpc>
                <a:spcPct val="110000"/>
              </a:lnSpc>
            </a:pPr>
            <a:r>
              <a:rPr lang="en-US">
                <a:solidFill>
                  <a:srgbClr val="000000"/>
                </a:solidFill>
                <a:latin typeface="Arial"/>
                <a:ea typeface="+mn-lt"/>
                <a:cs typeface="+mn-lt"/>
              </a:rPr>
              <a:t>Con</a:t>
            </a:r>
            <a:r>
              <a:rPr lang="en-US">
                <a:solidFill>
                  <a:srgbClr val="000000"/>
                </a:solidFill>
                <a:ea typeface="+mn-lt"/>
                <a:cs typeface="+mn-lt"/>
              </a:rPr>
              <a:t>rols subnet: IOC, ADO Manager, gateway, and command/control traffic </a:t>
            </a:r>
          </a:p>
          <a:p>
            <a:pPr marL="742950" lvl="1" indent="-342900">
              <a:lnSpc>
                <a:spcPct val="110000"/>
              </a:lnSpc>
            </a:pPr>
            <a:r>
              <a:rPr lang="en-US">
                <a:solidFill>
                  <a:srgbClr val="000000"/>
                </a:solidFill>
                <a:latin typeface="Arial"/>
                <a:ea typeface="+mn-lt"/>
                <a:cs typeface="+mn-lt"/>
              </a:rPr>
              <a:t>Instrumentation subnet: device-facing acquisition and timing-sensitive interfaces</a:t>
            </a:r>
          </a:p>
        </p:txBody>
      </p:sp>
      <p:sp>
        <p:nvSpPr>
          <p:cNvPr id="6" name="Content Placeholder 5">
            <a:extLst>
              <a:ext uri="{FF2B5EF4-FFF2-40B4-BE49-F238E27FC236}">
                <a16:creationId xmlns:a16="http://schemas.microsoft.com/office/drawing/2014/main" id="{A5560127-2456-B8CD-2983-6B19525EAF21}"/>
              </a:ext>
            </a:extLst>
          </p:cNvPr>
          <p:cNvSpPr>
            <a:spLocks noGrp="1"/>
          </p:cNvSpPr>
          <p:nvPr>
            <p:ph sz="half" idx="2"/>
          </p:nvPr>
        </p:nvSpPr>
        <p:spPr/>
        <p:txBody>
          <a:bodyPr>
            <a:normAutofit/>
          </a:bodyPr>
          <a:lstStyle/>
          <a:p>
            <a:endParaRPr lang="en-GB"/>
          </a:p>
        </p:txBody>
      </p:sp>
      <p:sp>
        <p:nvSpPr>
          <p:cNvPr id="2" name="Slide Number Placeholder 1">
            <a:extLst>
              <a:ext uri="{FF2B5EF4-FFF2-40B4-BE49-F238E27FC236}">
                <a16:creationId xmlns:a16="http://schemas.microsoft.com/office/drawing/2014/main" id="{9F00D9E8-3381-38E8-8607-F786FF856F80}"/>
              </a:ext>
            </a:extLst>
          </p:cNvPr>
          <p:cNvSpPr>
            <a:spLocks noGrp="1"/>
          </p:cNvSpPr>
          <p:nvPr>
            <p:ph type="sldNum" sz="quarter" idx="4"/>
          </p:nvPr>
        </p:nvSpPr>
        <p:spPr/>
        <p:txBody>
          <a:bodyPr/>
          <a:lstStyle/>
          <a:p>
            <a:pPr algn="ctr"/>
            <a:fld id="{933A556B-7C63-244D-9B7C-B0EA8042B330}" type="slidenum">
              <a:rPr lang="en-US" smtClean="0"/>
              <a:pPr algn="ctr"/>
              <a:t>18</a:t>
            </a:fld>
            <a:endParaRPr lang="en-US"/>
          </a:p>
        </p:txBody>
      </p:sp>
      <p:sp>
        <p:nvSpPr>
          <p:cNvPr id="5" name="object 3">
            <a:extLst>
              <a:ext uri="{FF2B5EF4-FFF2-40B4-BE49-F238E27FC236}">
                <a16:creationId xmlns:a16="http://schemas.microsoft.com/office/drawing/2014/main" id="{6D95D6CF-D37A-0E40-9A72-C74C70D4EDF3}"/>
              </a:ext>
            </a:extLst>
          </p:cNvPr>
          <p:cNvSpPr/>
          <p:nvPr/>
        </p:nvSpPr>
        <p:spPr>
          <a:xfrm>
            <a:off x="10662316" y="571938"/>
            <a:ext cx="1300728" cy="318021"/>
          </a:xfrm>
          <a:custGeom>
            <a:avLst/>
            <a:gdLst/>
            <a:ahLst/>
            <a:cxnLst/>
            <a:rect l="l" t="t" r="r" b="b"/>
            <a:pathLst>
              <a:path w="1466850" h="361950">
                <a:moveTo>
                  <a:pt x="1406525" y="0"/>
                </a:moveTo>
                <a:lnTo>
                  <a:pt x="60325" y="0"/>
                </a:lnTo>
                <a:lnTo>
                  <a:pt x="36861" y="4746"/>
                </a:lnTo>
                <a:lnTo>
                  <a:pt x="17684" y="17684"/>
                </a:lnTo>
                <a:lnTo>
                  <a:pt x="4746" y="36861"/>
                </a:lnTo>
                <a:lnTo>
                  <a:pt x="0" y="60325"/>
                </a:lnTo>
                <a:lnTo>
                  <a:pt x="0" y="301625"/>
                </a:lnTo>
                <a:lnTo>
                  <a:pt x="4746" y="325088"/>
                </a:lnTo>
                <a:lnTo>
                  <a:pt x="17684" y="344265"/>
                </a:lnTo>
                <a:lnTo>
                  <a:pt x="36861" y="357203"/>
                </a:lnTo>
                <a:lnTo>
                  <a:pt x="60325" y="361950"/>
                </a:lnTo>
                <a:lnTo>
                  <a:pt x="1406525" y="361950"/>
                </a:lnTo>
                <a:lnTo>
                  <a:pt x="1429988" y="357203"/>
                </a:lnTo>
                <a:lnTo>
                  <a:pt x="1449165" y="344265"/>
                </a:lnTo>
                <a:lnTo>
                  <a:pt x="1462103" y="325088"/>
                </a:lnTo>
                <a:lnTo>
                  <a:pt x="1466850" y="301625"/>
                </a:lnTo>
                <a:lnTo>
                  <a:pt x="1466850" y="60325"/>
                </a:lnTo>
                <a:lnTo>
                  <a:pt x="1462103" y="36861"/>
                </a:lnTo>
                <a:lnTo>
                  <a:pt x="1449165" y="17684"/>
                </a:lnTo>
                <a:lnTo>
                  <a:pt x="1429988" y="4746"/>
                </a:lnTo>
                <a:lnTo>
                  <a:pt x="1406525" y="0"/>
                </a:lnTo>
                <a:close/>
              </a:path>
            </a:pathLst>
          </a:custGeom>
          <a:solidFill>
            <a:srgbClr val="0070C0"/>
          </a:solid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800" spc="-10">
                <a:solidFill>
                  <a:srgbClr val="FFFFFF"/>
                </a:solidFill>
                <a:latin typeface="Arial"/>
                <a:cs typeface="Arial"/>
              </a:rPr>
              <a:t>Charge</a:t>
            </a:r>
            <a:r>
              <a:rPr lang="en-US" sz="1800" spc="-80">
                <a:solidFill>
                  <a:srgbClr val="FFFFFF"/>
                </a:solidFill>
                <a:latin typeface="Arial"/>
                <a:cs typeface="Arial"/>
              </a:rPr>
              <a:t> </a:t>
            </a:r>
            <a:r>
              <a:rPr lang="en-US" sz="1800">
                <a:solidFill>
                  <a:srgbClr val="FFFFFF"/>
                </a:solidFill>
                <a:latin typeface="Arial"/>
                <a:cs typeface="Arial"/>
              </a:rPr>
              <a:t>#</a:t>
            </a:r>
            <a:r>
              <a:rPr lang="en-US">
                <a:solidFill>
                  <a:srgbClr val="FFFFFF"/>
                </a:solidFill>
                <a:latin typeface="Arial"/>
                <a:cs typeface="Arial"/>
              </a:rPr>
              <a:t>1,2</a:t>
            </a:r>
            <a:endParaRPr lang="en-US" strike="sngStrike">
              <a:solidFill>
                <a:srgbClr val="FFFFFF"/>
              </a:solidFill>
              <a:cs typeface="Arial"/>
            </a:endParaRPr>
          </a:p>
        </p:txBody>
      </p:sp>
      <p:pic>
        <p:nvPicPr>
          <p:cNvPr id="8" name="Content Placeholder 9" descr="Diagram&#10;&#10;AI-generated content may be incorrect.">
            <a:extLst>
              <a:ext uri="{FF2B5EF4-FFF2-40B4-BE49-F238E27FC236}">
                <a16:creationId xmlns:a16="http://schemas.microsoft.com/office/drawing/2014/main" id="{264641FE-95D3-C383-1E36-FE84D4EFB2CA}"/>
              </a:ext>
            </a:extLst>
          </p:cNvPr>
          <p:cNvPicPr>
            <a:picLocks noChangeAspect="1"/>
          </p:cNvPicPr>
          <p:nvPr/>
        </p:nvPicPr>
        <p:blipFill>
          <a:blip r:embed="rId2"/>
          <a:stretch>
            <a:fillRect/>
          </a:stretch>
        </p:blipFill>
        <p:spPr>
          <a:xfrm>
            <a:off x="6197801" y="1127851"/>
            <a:ext cx="5755084" cy="4600372"/>
          </a:xfrm>
          <a:prstGeom prst="rect">
            <a:avLst/>
          </a:prstGeom>
        </p:spPr>
      </p:pic>
    </p:spTree>
    <p:extLst>
      <p:ext uri="{BB962C8B-B14F-4D97-AF65-F5344CB8AC3E}">
        <p14:creationId xmlns:p14="http://schemas.microsoft.com/office/powerpoint/2010/main" val="27138950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FD9EF-45C8-A4E8-4E0C-A30DD7A7EF4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ED1175D-5391-79AF-C29B-378FF62EDCC7}"/>
              </a:ext>
            </a:extLst>
          </p:cNvPr>
          <p:cNvSpPr>
            <a:spLocks noGrp="1"/>
          </p:cNvSpPr>
          <p:nvPr>
            <p:ph type="title"/>
          </p:nvPr>
        </p:nvSpPr>
        <p:spPr/>
        <p:txBody>
          <a:bodyPr/>
          <a:lstStyle/>
          <a:p>
            <a:r>
              <a:rPr lang="en-US">
                <a:ea typeface="+mn-lt"/>
                <a:cs typeface="+mn-lt"/>
              </a:rPr>
              <a:t>Network Architecture and Subnet Strategy</a:t>
            </a:r>
            <a:endParaRPr lang="en-US"/>
          </a:p>
        </p:txBody>
      </p:sp>
      <p:sp>
        <p:nvSpPr>
          <p:cNvPr id="4" name="Text Placeholder 3">
            <a:extLst>
              <a:ext uri="{FF2B5EF4-FFF2-40B4-BE49-F238E27FC236}">
                <a16:creationId xmlns:a16="http://schemas.microsoft.com/office/drawing/2014/main" id="{DEF1EB50-5CF0-3663-6B27-7760FE2C660D}"/>
              </a:ext>
            </a:extLst>
          </p:cNvPr>
          <p:cNvSpPr>
            <a:spLocks noGrp="1"/>
          </p:cNvSpPr>
          <p:nvPr>
            <p:ph sz="half" idx="1"/>
          </p:nvPr>
        </p:nvSpPr>
        <p:spPr/>
        <p:txBody>
          <a:bodyPr vert="horz" lIns="91440" tIns="45720" rIns="91440" bIns="45720" rtlCol="0" anchor="t">
            <a:normAutofit fontScale="92500" lnSpcReduction="20000"/>
          </a:bodyPr>
          <a:lstStyle/>
          <a:p>
            <a:pPr marL="0" indent="0">
              <a:lnSpc>
                <a:spcPct val="110000"/>
              </a:lnSpc>
              <a:buNone/>
            </a:pPr>
            <a:r>
              <a:rPr lang="en-US" sz="2700">
                <a:solidFill>
                  <a:srgbClr val="000000"/>
                </a:solidFill>
                <a:highlight>
                  <a:srgbClr val="00FFFF"/>
                </a:highlight>
                <a:latin typeface="Arial"/>
                <a:ea typeface="+mn-lt"/>
                <a:cs typeface="+mn-lt"/>
              </a:rPr>
              <a:t>[Talk-6/7-Kulmatycski]</a:t>
            </a:r>
            <a:endParaRPr lang="en-US"/>
          </a:p>
          <a:p>
            <a:pPr>
              <a:lnSpc>
                <a:spcPct val="110000"/>
              </a:lnSpc>
            </a:pPr>
            <a:r>
              <a:rPr lang="en-US">
                <a:solidFill>
                  <a:srgbClr val="000000"/>
                </a:solidFill>
                <a:latin typeface="Arial"/>
                <a:ea typeface="+mn-lt"/>
                <a:cs typeface="+mn-lt"/>
              </a:rPr>
              <a:t>Integration and security :</a:t>
            </a:r>
          </a:p>
          <a:p>
            <a:pPr marL="742950" lvl="1" indent="-342900">
              <a:lnSpc>
                <a:spcPct val="110000"/>
              </a:lnSpc>
            </a:pPr>
            <a:r>
              <a:rPr lang="en-US">
                <a:solidFill>
                  <a:srgbClr val="000000"/>
                </a:solidFill>
                <a:latin typeface="Arial"/>
                <a:ea typeface="+mn-lt"/>
                <a:cs typeface="+mn-lt"/>
              </a:rPr>
              <a:t>Controlled cross-subnet access through gateways and service endpoints</a:t>
            </a:r>
          </a:p>
          <a:p>
            <a:pPr marL="742950" lvl="1" indent="-342900">
              <a:lnSpc>
                <a:spcPct val="110000"/>
              </a:lnSpc>
            </a:pPr>
            <a:r>
              <a:rPr lang="en-US">
                <a:solidFill>
                  <a:srgbClr val="000000"/>
                </a:solidFill>
                <a:latin typeface="Arial"/>
                <a:ea typeface="+mn-lt"/>
                <a:cs typeface="+mn-lt"/>
              </a:rPr>
              <a:t>Monitoring and observability at subnet and service boundaries</a:t>
            </a:r>
          </a:p>
          <a:p>
            <a:pPr>
              <a:lnSpc>
                <a:spcPct val="110000"/>
              </a:lnSpc>
            </a:pPr>
            <a:r>
              <a:rPr lang="en-US">
                <a:solidFill>
                  <a:srgbClr val="000000"/>
                </a:solidFill>
                <a:latin typeface="Arial"/>
                <a:ea typeface="+mn-lt"/>
                <a:cs typeface="+mn-lt"/>
              </a:rPr>
              <a:t>Coexistence deployment implications:</a:t>
            </a:r>
          </a:p>
          <a:p>
            <a:pPr marL="742950" lvl="1" indent="-342900">
              <a:lnSpc>
                <a:spcPct val="110000"/>
              </a:lnSpc>
            </a:pPr>
            <a:r>
              <a:rPr lang="en-US">
                <a:solidFill>
                  <a:srgbClr val="000000"/>
                </a:solidFill>
                <a:latin typeface="Arial"/>
                <a:ea typeface="+mn-lt"/>
                <a:cs typeface="+mn-lt"/>
              </a:rPr>
              <a:t>ADO server and bridge clusters placed for low-latency access to legacy domains</a:t>
            </a:r>
          </a:p>
          <a:p>
            <a:pPr marL="742950" lvl="1" indent="-342900">
              <a:lnSpc>
                <a:spcPct val="110000"/>
              </a:lnSpc>
            </a:pPr>
            <a:r>
              <a:rPr lang="en-US">
                <a:solidFill>
                  <a:srgbClr val="000000"/>
                </a:solidFill>
                <a:latin typeface="Arial"/>
                <a:ea typeface="+mn-lt"/>
                <a:cs typeface="+mn-lt"/>
              </a:rPr>
              <a:t>EPICS/PVA services scaled horizontally on service networks</a:t>
            </a:r>
          </a:p>
          <a:p>
            <a:pPr marL="742950" lvl="1" indent="-342900">
              <a:lnSpc>
                <a:spcPct val="110000"/>
              </a:lnSpc>
            </a:pPr>
            <a:r>
              <a:rPr lang="en-US">
                <a:solidFill>
                  <a:srgbClr val="000000"/>
                </a:solidFill>
                <a:latin typeface="Arial"/>
                <a:ea typeface="+mn-lt"/>
                <a:cs typeface="+mn-lt"/>
              </a:rPr>
              <a:t>Operator tools consume unified interfaces without direct dependency on backend protocol location</a:t>
            </a:r>
            <a:endParaRPr lang="en-US">
              <a:cs typeface="Arial" panose="020B0604020202020204"/>
            </a:endParaRPr>
          </a:p>
          <a:p>
            <a:pPr>
              <a:lnSpc>
                <a:spcPct val="110000"/>
              </a:lnSpc>
            </a:pPr>
            <a:endParaRPr lang="en-US">
              <a:solidFill>
                <a:srgbClr val="000000"/>
              </a:solidFill>
              <a:latin typeface="Arial"/>
              <a:cs typeface="Arial"/>
            </a:endParaRPr>
          </a:p>
        </p:txBody>
      </p:sp>
      <p:pic>
        <p:nvPicPr>
          <p:cNvPr id="7" name="Content Placeholder 6" descr="Timeline&#10;&#10;AI-generated content may be incorrect.">
            <a:extLst>
              <a:ext uri="{FF2B5EF4-FFF2-40B4-BE49-F238E27FC236}">
                <a16:creationId xmlns:a16="http://schemas.microsoft.com/office/drawing/2014/main" id="{BBCF212F-D4BA-332D-FDA6-4458C6E14416}"/>
              </a:ext>
            </a:extLst>
          </p:cNvPr>
          <p:cNvPicPr>
            <a:picLocks noGrp="1" noChangeAspect="1"/>
          </p:cNvPicPr>
          <p:nvPr>
            <p:ph sz="half" idx="2"/>
          </p:nvPr>
        </p:nvPicPr>
        <p:blipFill>
          <a:blip r:embed="rId2"/>
          <a:stretch>
            <a:fillRect/>
          </a:stretch>
        </p:blipFill>
        <p:spPr>
          <a:xfrm>
            <a:off x="6205915" y="1311127"/>
            <a:ext cx="5753100" cy="4219575"/>
          </a:xfrm>
          <a:prstGeom prst="rect">
            <a:avLst/>
          </a:prstGeom>
        </p:spPr>
      </p:pic>
      <p:sp>
        <p:nvSpPr>
          <p:cNvPr id="2" name="Slide Number Placeholder 1">
            <a:extLst>
              <a:ext uri="{FF2B5EF4-FFF2-40B4-BE49-F238E27FC236}">
                <a16:creationId xmlns:a16="http://schemas.microsoft.com/office/drawing/2014/main" id="{C6237066-BA73-9225-8523-A92FF346E2A6}"/>
              </a:ext>
            </a:extLst>
          </p:cNvPr>
          <p:cNvSpPr>
            <a:spLocks noGrp="1"/>
          </p:cNvSpPr>
          <p:nvPr>
            <p:ph type="sldNum" sz="quarter" idx="4"/>
          </p:nvPr>
        </p:nvSpPr>
        <p:spPr/>
        <p:txBody>
          <a:bodyPr/>
          <a:lstStyle/>
          <a:p>
            <a:pPr algn="ctr"/>
            <a:fld id="{933A556B-7C63-244D-9B7C-B0EA8042B330}" type="slidenum">
              <a:rPr lang="en-US" smtClean="0"/>
              <a:pPr algn="ctr"/>
              <a:t>19</a:t>
            </a:fld>
            <a:endParaRPr lang="en-US"/>
          </a:p>
        </p:txBody>
      </p:sp>
      <p:sp>
        <p:nvSpPr>
          <p:cNvPr id="5" name="object 3">
            <a:extLst>
              <a:ext uri="{FF2B5EF4-FFF2-40B4-BE49-F238E27FC236}">
                <a16:creationId xmlns:a16="http://schemas.microsoft.com/office/drawing/2014/main" id="{FD915BA2-BD01-FC88-6C11-056B90BE264B}"/>
              </a:ext>
            </a:extLst>
          </p:cNvPr>
          <p:cNvSpPr/>
          <p:nvPr/>
        </p:nvSpPr>
        <p:spPr>
          <a:xfrm>
            <a:off x="10662316" y="571938"/>
            <a:ext cx="1300728" cy="318021"/>
          </a:xfrm>
          <a:custGeom>
            <a:avLst/>
            <a:gdLst/>
            <a:ahLst/>
            <a:cxnLst/>
            <a:rect l="l" t="t" r="r" b="b"/>
            <a:pathLst>
              <a:path w="1466850" h="361950">
                <a:moveTo>
                  <a:pt x="1406525" y="0"/>
                </a:moveTo>
                <a:lnTo>
                  <a:pt x="60325" y="0"/>
                </a:lnTo>
                <a:lnTo>
                  <a:pt x="36861" y="4746"/>
                </a:lnTo>
                <a:lnTo>
                  <a:pt x="17684" y="17684"/>
                </a:lnTo>
                <a:lnTo>
                  <a:pt x="4746" y="36861"/>
                </a:lnTo>
                <a:lnTo>
                  <a:pt x="0" y="60325"/>
                </a:lnTo>
                <a:lnTo>
                  <a:pt x="0" y="301625"/>
                </a:lnTo>
                <a:lnTo>
                  <a:pt x="4746" y="325088"/>
                </a:lnTo>
                <a:lnTo>
                  <a:pt x="17684" y="344265"/>
                </a:lnTo>
                <a:lnTo>
                  <a:pt x="36861" y="357203"/>
                </a:lnTo>
                <a:lnTo>
                  <a:pt x="60325" y="361950"/>
                </a:lnTo>
                <a:lnTo>
                  <a:pt x="1406525" y="361950"/>
                </a:lnTo>
                <a:lnTo>
                  <a:pt x="1429988" y="357203"/>
                </a:lnTo>
                <a:lnTo>
                  <a:pt x="1449165" y="344265"/>
                </a:lnTo>
                <a:lnTo>
                  <a:pt x="1462103" y="325088"/>
                </a:lnTo>
                <a:lnTo>
                  <a:pt x="1466850" y="301625"/>
                </a:lnTo>
                <a:lnTo>
                  <a:pt x="1466850" y="60325"/>
                </a:lnTo>
                <a:lnTo>
                  <a:pt x="1462103" y="36861"/>
                </a:lnTo>
                <a:lnTo>
                  <a:pt x="1449165" y="17684"/>
                </a:lnTo>
                <a:lnTo>
                  <a:pt x="1429988" y="4746"/>
                </a:lnTo>
                <a:lnTo>
                  <a:pt x="1406525" y="0"/>
                </a:lnTo>
                <a:close/>
              </a:path>
            </a:pathLst>
          </a:custGeom>
          <a:solidFill>
            <a:srgbClr val="0070C0"/>
          </a:solid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800" spc="-10">
                <a:solidFill>
                  <a:srgbClr val="FFFFFF"/>
                </a:solidFill>
                <a:latin typeface="Arial"/>
                <a:cs typeface="Arial"/>
              </a:rPr>
              <a:t>Charge</a:t>
            </a:r>
            <a:r>
              <a:rPr lang="en-US" sz="1800" spc="-80">
                <a:solidFill>
                  <a:srgbClr val="FFFFFF"/>
                </a:solidFill>
                <a:latin typeface="Arial"/>
                <a:cs typeface="Arial"/>
              </a:rPr>
              <a:t> </a:t>
            </a:r>
            <a:r>
              <a:rPr lang="en-US" sz="1800">
                <a:solidFill>
                  <a:srgbClr val="FFFFFF"/>
                </a:solidFill>
                <a:latin typeface="Arial"/>
                <a:cs typeface="Arial"/>
              </a:rPr>
              <a:t>#</a:t>
            </a:r>
            <a:r>
              <a:rPr lang="en-US">
                <a:solidFill>
                  <a:srgbClr val="FFFFFF"/>
                </a:solidFill>
                <a:latin typeface="Arial"/>
                <a:cs typeface="Arial"/>
              </a:rPr>
              <a:t>1,2</a:t>
            </a:r>
            <a:endParaRPr lang="en-US" strike="sngStrike">
              <a:solidFill>
                <a:srgbClr val="FFFFFF"/>
              </a:solidFill>
              <a:cs typeface="Arial"/>
            </a:endParaRPr>
          </a:p>
        </p:txBody>
      </p:sp>
    </p:spTree>
    <p:extLst>
      <p:ext uri="{BB962C8B-B14F-4D97-AF65-F5344CB8AC3E}">
        <p14:creationId xmlns:p14="http://schemas.microsoft.com/office/powerpoint/2010/main" val="2378351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AD043-A8DB-2270-7304-CE367E3CACC4}"/>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18D81BBD-55BB-5BFE-B23C-145E01B05556}"/>
              </a:ext>
            </a:extLst>
          </p:cNvPr>
          <p:cNvPicPr>
            <a:picLocks noChangeAspect="1"/>
          </p:cNvPicPr>
          <p:nvPr/>
        </p:nvPicPr>
        <p:blipFill>
          <a:blip r:embed="rId2"/>
          <a:stretch>
            <a:fillRect/>
          </a:stretch>
        </p:blipFill>
        <p:spPr>
          <a:xfrm>
            <a:off x="3935751" y="642348"/>
            <a:ext cx="8029738" cy="5743340"/>
          </a:xfrm>
          <a:prstGeom prst="rect">
            <a:avLst/>
          </a:prstGeom>
        </p:spPr>
      </p:pic>
      <p:sp>
        <p:nvSpPr>
          <p:cNvPr id="2" name="Slide Number Placeholder 1">
            <a:extLst>
              <a:ext uri="{FF2B5EF4-FFF2-40B4-BE49-F238E27FC236}">
                <a16:creationId xmlns:a16="http://schemas.microsoft.com/office/drawing/2014/main" id="{788C2610-57E4-FCB6-A36E-85A5514F5865}"/>
              </a:ext>
            </a:extLst>
          </p:cNvPr>
          <p:cNvSpPr>
            <a:spLocks noGrp="1"/>
          </p:cNvSpPr>
          <p:nvPr>
            <p:ph type="sldNum" sz="quarter" idx="4"/>
          </p:nvPr>
        </p:nvSpPr>
        <p:spPr/>
        <p:txBody>
          <a:bodyPr/>
          <a:lstStyle/>
          <a:p>
            <a:pPr algn="ctr"/>
            <a:fld id="{933A556B-7C63-244D-9B7C-B0EA8042B330}" type="slidenum">
              <a:rPr lang="en-US" smtClean="0"/>
              <a:pPr algn="ctr"/>
              <a:t>20</a:t>
            </a:fld>
            <a:endParaRPr lang="en-US"/>
          </a:p>
        </p:txBody>
      </p:sp>
      <p:sp>
        <p:nvSpPr>
          <p:cNvPr id="3" name="Title 2">
            <a:extLst>
              <a:ext uri="{FF2B5EF4-FFF2-40B4-BE49-F238E27FC236}">
                <a16:creationId xmlns:a16="http://schemas.microsoft.com/office/drawing/2014/main" id="{3800CB1F-38CF-D64E-0087-55DD577BDA37}"/>
              </a:ext>
            </a:extLst>
          </p:cNvPr>
          <p:cNvSpPr>
            <a:spLocks noGrp="1"/>
          </p:cNvSpPr>
          <p:nvPr>
            <p:ph type="title"/>
          </p:nvPr>
        </p:nvSpPr>
        <p:spPr/>
        <p:txBody>
          <a:bodyPr/>
          <a:lstStyle/>
          <a:p>
            <a:r>
              <a:rPr lang="en-US">
                <a:solidFill>
                  <a:srgbClr val="000000"/>
                </a:solidFill>
                <a:latin typeface="Arial"/>
                <a:cs typeface="Arial"/>
              </a:rPr>
              <a:t>Middle-Layer Services</a:t>
            </a:r>
            <a:endParaRPr lang="en-US"/>
          </a:p>
        </p:txBody>
      </p:sp>
      <p:sp>
        <p:nvSpPr>
          <p:cNvPr id="4" name="Text Placeholder 3">
            <a:extLst>
              <a:ext uri="{FF2B5EF4-FFF2-40B4-BE49-F238E27FC236}">
                <a16:creationId xmlns:a16="http://schemas.microsoft.com/office/drawing/2014/main" id="{4720B627-5F6F-F9B0-0600-C4D1FC7334C9}"/>
              </a:ext>
            </a:extLst>
          </p:cNvPr>
          <p:cNvSpPr>
            <a:spLocks noGrp="1"/>
          </p:cNvSpPr>
          <p:nvPr>
            <p:ph type="body" sz="quarter" idx="10"/>
          </p:nvPr>
        </p:nvSpPr>
        <p:spPr>
          <a:xfrm>
            <a:off x="461963" y="981075"/>
            <a:ext cx="3556578" cy="5065713"/>
          </a:xfrm>
        </p:spPr>
        <p:txBody>
          <a:bodyPr vert="horz" lIns="91440" tIns="45720" rIns="91440" bIns="45720" rtlCol="0" anchor="t">
            <a:normAutofit fontScale="92500"/>
          </a:bodyPr>
          <a:lstStyle/>
          <a:p>
            <a:pPr>
              <a:lnSpc>
                <a:spcPct val="110000"/>
              </a:lnSpc>
            </a:pPr>
            <a:r>
              <a:rPr lang="en-US">
                <a:solidFill>
                  <a:srgbClr val="000000"/>
                </a:solidFill>
                <a:latin typeface="Arial"/>
                <a:cs typeface="Arial"/>
              </a:rPr>
              <a:t>Operator and application layer (Phoebus tools, web tools, HLAs)</a:t>
            </a:r>
            <a:endParaRPr lang="en-US">
              <a:latin typeface="Arial"/>
              <a:cs typeface="Arial"/>
            </a:endParaRPr>
          </a:p>
          <a:p>
            <a:pPr>
              <a:lnSpc>
                <a:spcPct val="110000"/>
              </a:lnSpc>
            </a:pPr>
            <a:endParaRPr lang="en-US">
              <a:solidFill>
                <a:srgbClr val="000000"/>
              </a:solidFill>
              <a:latin typeface="Arial"/>
              <a:cs typeface="Arial"/>
            </a:endParaRPr>
          </a:p>
          <a:p>
            <a:pPr>
              <a:lnSpc>
                <a:spcPct val="110000"/>
              </a:lnSpc>
            </a:pPr>
            <a:r>
              <a:rPr lang="en-US">
                <a:solidFill>
                  <a:srgbClr val="000000"/>
                </a:solidFill>
                <a:latin typeface="Arial"/>
                <a:cs typeface="Arial"/>
              </a:rPr>
              <a:t>Middle-layer services (Archiver, Alarm, Olog, ChannelFinder, Save/Restore, Gateway)</a:t>
            </a:r>
          </a:p>
          <a:p>
            <a:pPr>
              <a:lnSpc>
                <a:spcPct val="110000"/>
              </a:lnSpc>
            </a:pPr>
            <a:endParaRPr lang="en-US">
              <a:solidFill>
                <a:srgbClr val="000000"/>
              </a:solidFill>
              <a:latin typeface="Arial"/>
              <a:cs typeface="Arial"/>
            </a:endParaRPr>
          </a:p>
          <a:p>
            <a:pPr>
              <a:lnSpc>
                <a:spcPct val="110000"/>
              </a:lnSpc>
            </a:pPr>
            <a:r>
              <a:rPr lang="en-US">
                <a:solidFill>
                  <a:srgbClr val="000000"/>
                </a:solidFill>
                <a:latin typeface="Arial"/>
                <a:cs typeface="Arial"/>
              </a:rPr>
              <a:t>Control system layer (EPICS 7 with PVA-first, CA compatibility)</a:t>
            </a:r>
          </a:p>
          <a:p>
            <a:pPr>
              <a:lnSpc>
                <a:spcPct val="110000"/>
              </a:lnSpc>
            </a:pPr>
            <a:endParaRPr lang="en-US">
              <a:cs typeface="Arial"/>
            </a:endParaRPr>
          </a:p>
        </p:txBody>
      </p:sp>
      <p:sp>
        <p:nvSpPr>
          <p:cNvPr id="5" name="object 3">
            <a:extLst>
              <a:ext uri="{FF2B5EF4-FFF2-40B4-BE49-F238E27FC236}">
                <a16:creationId xmlns:a16="http://schemas.microsoft.com/office/drawing/2014/main" id="{581AC3AE-7022-B546-4CC7-11373FC08D8F}"/>
              </a:ext>
            </a:extLst>
          </p:cNvPr>
          <p:cNvSpPr/>
          <p:nvPr/>
        </p:nvSpPr>
        <p:spPr>
          <a:xfrm>
            <a:off x="10462745" y="571938"/>
            <a:ext cx="1500299" cy="318021"/>
          </a:xfrm>
          <a:custGeom>
            <a:avLst/>
            <a:gdLst/>
            <a:ahLst/>
            <a:cxnLst/>
            <a:rect l="l" t="t" r="r" b="b"/>
            <a:pathLst>
              <a:path w="1466850" h="361950">
                <a:moveTo>
                  <a:pt x="1406525" y="0"/>
                </a:moveTo>
                <a:lnTo>
                  <a:pt x="60325" y="0"/>
                </a:lnTo>
                <a:lnTo>
                  <a:pt x="36861" y="4746"/>
                </a:lnTo>
                <a:lnTo>
                  <a:pt x="17684" y="17684"/>
                </a:lnTo>
                <a:lnTo>
                  <a:pt x="4746" y="36861"/>
                </a:lnTo>
                <a:lnTo>
                  <a:pt x="0" y="60325"/>
                </a:lnTo>
                <a:lnTo>
                  <a:pt x="0" y="301625"/>
                </a:lnTo>
                <a:lnTo>
                  <a:pt x="4746" y="325088"/>
                </a:lnTo>
                <a:lnTo>
                  <a:pt x="17684" y="344265"/>
                </a:lnTo>
                <a:lnTo>
                  <a:pt x="36861" y="357203"/>
                </a:lnTo>
                <a:lnTo>
                  <a:pt x="60325" y="361950"/>
                </a:lnTo>
                <a:lnTo>
                  <a:pt x="1406525" y="361950"/>
                </a:lnTo>
                <a:lnTo>
                  <a:pt x="1429988" y="357203"/>
                </a:lnTo>
                <a:lnTo>
                  <a:pt x="1449165" y="344265"/>
                </a:lnTo>
                <a:lnTo>
                  <a:pt x="1462103" y="325088"/>
                </a:lnTo>
                <a:lnTo>
                  <a:pt x="1466850" y="301625"/>
                </a:lnTo>
                <a:lnTo>
                  <a:pt x="1466850" y="60325"/>
                </a:lnTo>
                <a:lnTo>
                  <a:pt x="1462103" y="36861"/>
                </a:lnTo>
                <a:lnTo>
                  <a:pt x="1449165" y="17684"/>
                </a:lnTo>
                <a:lnTo>
                  <a:pt x="1429988" y="4746"/>
                </a:lnTo>
                <a:lnTo>
                  <a:pt x="1406525" y="0"/>
                </a:lnTo>
                <a:close/>
              </a:path>
            </a:pathLst>
          </a:custGeom>
          <a:solidFill>
            <a:srgbClr val="0070C0"/>
          </a:solid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800" spc="-10">
                <a:solidFill>
                  <a:srgbClr val="FFFFFF"/>
                </a:solidFill>
                <a:latin typeface="Arial"/>
                <a:cs typeface="Arial"/>
              </a:rPr>
              <a:t>Charge</a:t>
            </a:r>
            <a:r>
              <a:rPr lang="en-US" spc="-80">
                <a:solidFill>
                  <a:srgbClr val="FFFFFF"/>
                </a:solidFill>
                <a:latin typeface="Arial"/>
                <a:cs typeface="Arial"/>
              </a:rPr>
              <a:t> #1,2,3</a:t>
            </a:r>
            <a:endParaRPr lang="en-US">
              <a:solidFill>
                <a:srgbClr val="FFFFFF"/>
              </a:solidFill>
              <a:cs typeface="Arial"/>
            </a:endParaRPr>
          </a:p>
        </p:txBody>
      </p:sp>
      <p:sp>
        <p:nvSpPr>
          <p:cNvPr id="6" name="Rectangle 5">
            <a:extLst>
              <a:ext uri="{FF2B5EF4-FFF2-40B4-BE49-F238E27FC236}">
                <a16:creationId xmlns:a16="http://schemas.microsoft.com/office/drawing/2014/main" id="{87748739-2765-ECEC-F2F8-5A8AACA89A99}"/>
              </a:ext>
            </a:extLst>
          </p:cNvPr>
          <p:cNvSpPr/>
          <p:nvPr/>
        </p:nvSpPr>
        <p:spPr>
          <a:xfrm>
            <a:off x="460075" y="891396"/>
            <a:ext cx="11501887" cy="1768416"/>
          </a:xfrm>
          <a:prstGeom prst="rect">
            <a:avLst/>
          </a:prstGeom>
          <a:solidFill>
            <a:srgbClr val="FFFFFF">
              <a:alpha val="7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1C7D3137-499D-4831-35F5-45A428EC36C3}"/>
              </a:ext>
            </a:extLst>
          </p:cNvPr>
          <p:cNvSpPr/>
          <p:nvPr/>
        </p:nvSpPr>
        <p:spPr>
          <a:xfrm>
            <a:off x="3838753" y="4852357"/>
            <a:ext cx="8123208" cy="1595888"/>
          </a:xfrm>
          <a:prstGeom prst="rect">
            <a:avLst/>
          </a:prstGeom>
          <a:solidFill>
            <a:srgbClr val="FFFFFF">
              <a:alpha val="7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B3DD974A-4DB8-F5D6-9E5A-62871A0EDD65}"/>
              </a:ext>
            </a:extLst>
          </p:cNvPr>
          <p:cNvSpPr/>
          <p:nvPr/>
        </p:nvSpPr>
        <p:spPr>
          <a:xfrm>
            <a:off x="345056" y="4852358"/>
            <a:ext cx="3587152" cy="1466492"/>
          </a:xfrm>
          <a:prstGeom prst="rect">
            <a:avLst/>
          </a:prstGeom>
          <a:solidFill>
            <a:srgbClr val="FFFFFF">
              <a:alpha val="7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7087215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A7783-3DB4-7F25-997A-79FF46C2487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4784064-39EA-4C22-D345-328051BA0534}"/>
              </a:ext>
            </a:extLst>
          </p:cNvPr>
          <p:cNvSpPr>
            <a:spLocks noGrp="1"/>
          </p:cNvSpPr>
          <p:nvPr>
            <p:ph type="sldNum" sz="quarter" idx="4"/>
          </p:nvPr>
        </p:nvSpPr>
        <p:spPr/>
        <p:txBody>
          <a:bodyPr/>
          <a:lstStyle/>
          <a:p>
            <a:pPr algn="ctr"/>
            <a:fld id="{933A556B-7C63-244D-9B7C-B0EA8042B330}" type="slidenum">
              <a:rPr lang="en-US" smtClean="0"/>
              <a:pPr algn="ctr"/>
              <a:t>21</a:t>
            </a:fld>
            <a:endParaRPr lang="en-US"/>
          </a:p>
        </p:txBody>
      </p:sp>
      <p:sp>
        <p:nvSpPr>
          <p:cNvPr id="3" name="Title 2">
            <a:extLst>
              <a:ext uri="{FF2B5EF4-FFF2-40B4-BE49-F238E27FC236}">
                <a16:creationId xmlns:a16="http://schemas.microsoft.com/office/drawing/2014/main" id="{1C9E84DA-0C67-AE87-615C-C7167CAB7715}"/>
              </a:ext>
            </a:extLst>
          </p:cNvPr>
          <p:cNvSpPr>
            <a:spLocks noGrp="1"/>
          </p:cNvSpPr>
          <p:nvPr>
            <p:ph type="title"/>
          </p:nvPr>
        </p:nvSpPr>
        <p:spPr/>
        <p:txBody>
          <a:bodyPr/>
          <a:lstStyle/>
          <a:p>
            <a:r>
              <a:rPr lang="en-US">
                <a:solidFill>
                  <a:srgbClr val="000000"/>
                </a:solidFill>
                <a:latin typeface="Arial"/>
                <a:cs typeface="Arial"/>
              </a:rPr>
              <a:t>Middle-Layer Services</a:t>
            </a:r>
            <a:endParaRPr lang="en-US"/>
          </a:p>
        </p:txBody>
      </p:sp>
      <p:sp>
        <p:nvSpPr>
          <p:cNvPr id="4" name="Text Placeholder 3">
            <a:extLst>
              <a:ext uri="{FF2B5EF4-FFF2-40B4-BE49-F238E27FC236}">
                <a16:creationId xmlns:a16="http://schemas.microsoft.com/office/drawing/2014/main" id="{15FCDC37-193E-6BA8-C584-0B9673A2FB31}"/>
              </a:ext>
            </a:extLst>
          </p:cNvPr>
          <p:cNvSpPr>
            <a:spLocks noGrp="1"/>
          </p:cNvSpPr>
          <p:nvPr>
            <p:ph type="body" sz="quarter" idx="10"/>
          </p:nvPr>
        </p:nvSpPr>
        <p:spPr/>
        <p:txBody>
          <a:bodyPr vert="horz" lIns="91440" tIns="45720" rIns="91440" bIns="45720" rtlCol="0" anchor="t">
            <a:normAutofit/>
          </a:bodyPr>
          <a:lstStyle/>
          <a:p>
            <a:pPr>
              <a:buFont typeface="Arial"/>
            </a:pPr>
            <a:r>
              <a:rPr lang="en-US">
                <a:ea typeface="+mn-lt"/>
                <a:cs typeface="+mn-lt"/>
              </a:rPr>
              <a:t>Modular services: each service has a focused, well-defined role and can evolve independently</a:t>
            </a:r>
            <a:endParaRPr lang="en-US">
              <a:cs typeface="Arial"/>
            </a:endParaRPr>
          </a:p>
          <a:p>
            <a:r>
              <a:rPr lang="en-US">
                <a:ea typeface="+mn-lt"/>
                <a:cs typeface="+mn-lt"/>
              </a:rPr>
              <a:t>Flexible interfaces: support command-response and publish-subscribe patterns via standard service APIs</a:t>
            </a:r>
            <a:endParaRPr lang="en-US"/>
          </a:p>
          <a:p>
            <a:r>
              <a:rPr lang="en-US">
                <a:ea typeface="+mn-lt"/>
                <a:cs typeface="+mn-lt"/>
              </a:rPr>
              <a:t>Data abstraction: tools interact with services, not storage internals, preserving user workflow while backends evolve</a:t>
            </a:r>
            <a:endParaRPr lang="en-US"/>
          </a:p>
          <a:p>
            <a:r>
              <a:rPr lang="en-US">
                <a:ea typeface="+mn-lt"/>
                <a:cs typeface="+mn-lt"/>
              </a:rPr>
              <a:t>Optimized data handling: purpose-built stores per domain (time-series, alarms, snapshots, metadata)</a:t>
            </a:r>
            <a:endParaRPr lang="en-US"/>
          </a:p>
          <a:p>
            <a:r>
              <a:rPr lang="en-US">
                <a:ea typeface="+mn-lt"/>
                <a:cs typeface="+mn-lt"/>
              </a:rPr>
              <a:t>Interoperable by design: consistent service contracts across tools and client environments</a:t>
            </a:r>
            <a:endParaRPr lang="en-US"/>
          </a:p>
          <a:p>
            <a:pPr>
              <a:lnSpc>
                <a:spcPct val="120000"/>
              </a:lnSpc>
            </a:pPr>
            <a:r>
              <a:rPr lang="en-US">
                <a:ea typeface="+mn-lt"/>
                <a:cs typeface="+mn-lt"/>
              </a:rPr>
              <a:t>Scalable and maintainable: deploy and scale services independently based on facility demand</a:t>
            </a:r>
            <a:endParaRPr lang="en-US"/>
          </a:p>
          <a:p>
            <a:endParaRPr lang="en-US">
              <a:cs typeface="Arial"/>
            </a:endParaRPr>
          </a:p>
        </p:txBody>
      </p:sp>
      <p:sp>
        <p:nvSpPr>
          <p:cNvPr id="5" name="object 3">
            <a:extLst>
              <a:ext uri="{FF2B5EF4-FFF2-40B4-BE49-F238E27FC236}">
                <a16:creationId xmlns:a16="http://schemas.microsoft.com/office/drawing/2014/main" id="{A3CF1BA6-CA49-24F4-2AC2-C8AC3664DE6C}"/>
              </a:ext>
            </a:extLst>
          </p:cNvPr>
          <p:cNvSpPr/>
          <p:nvPr/>
        </p:nvSpPr>
        <p:spPr>
          <a:xfrm>
            <a:off x="10394360" y="571938"/>
            <a:ext cx="1568684" cy="318021"/>
          </a:xfrm>
          <a:custGeom>
            <a:avLst/>
            <a:gdLst/>
            <a:ahLst/>
            <a:cxnLst/>
            <a:rect l="l" t="t" r="r" b="b"/>
            <a:pathLst>
              <a:path w="1466850" h="361950">
                <a:moveTo>
                  <a:pt x="1406525" y="0"/>
                </a:moveTo>
                <a:lnTo>
                  <a:pt x="60325" y="0"/>
                </a:lnTo>
                <a:lnTo>
                  <a:pt x="36861" y="4746"/>
                </a:lnTo>
                <a:lnTo>
                  <a:pt x="17684" y="17684"/>
                </a:lnTo>
                <a:lnTo>
                  <a:pt x="4746" y="36861"/>
                </a:lnTo>
                <a:lnTo>
                  <a:pt x="0" y="60325"/>
                </a:lnTo>
                <a:lnTo>
                  <a:pt x="0" y="301625"/>
                </a:lnTo>
                <a:lnTo>
                  <a:pt x="4746" y="325088"/>
                </a:lnTo>
                <a:lnTo>
                  <a:pt x="17684" y="344265"/>
                </a:lnTo>
                <a:lnTo>
                  <a:pt x="36861" y="357203"/>
                </a:lnTo>
                <a:lnTo>
                  <a:pt x="60325" y="361950"/>
                </a:lnTo>
                <a:lnTo>
                  <a:pt x="1406525" y="361950"/>
                </a:lnTo>
                <a:lnTo>
                  <a:pt x="1429988" y="357203"/>
                </a:lnTo>
                <a:lnTo>
                  <a:pt x="1449165" y="344265"/>
                </a:lnTo>
                <a:lnTo>
                  <a:pt x="1462103" y="325088"/>
                </a:lnTo>
                <a:lnTo>
                  <a:pt x="1466850" y="301625"/>
                </a:lnTo>
                <a:lnTo>
                  <a:pt x="1466850" y="60325"/>
                </a:lnTo>
                <a:lnTo>
                  <a:pt x="1462103" y="36861"/>
                </a:lnTo>
                <a:lnTo>
                  <a:pt x="1449165" y="17684"/>
                </a:lnTo>
                <a:lnTo>
                  <a:pt x="1429988" y="4746"/>
                </a:lnTo>
                <a:lnTo>
                  <a:pt x="1406525" y="0"/>
                </a:lnTo>
                <a:close/>
              </a:path>
            </a:pathLst>
          </a:custGeom>
          <a:solidFill>
            <a:srgbClr val="0070C0"/>
          </a:solid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solidFill>
                  <a:srgbClr val="FFFFFF"/>
                </a:solidFill>
                <a:latin typeface="Arial"/>
                <a:cs typeface="Arial"/>
              </a:rPr>
              <a:t>Charge #1,2,3</a:t>
            </a:r>
          </a:p>
          <a:p>
            <a:pPr algn="ctr"/>
            <a:endParaRPr lang="en-US">
              <a:solidFill>
                <a:srgbClr val="FFFFFF"/>
              </a:solidFill>
              <a:cs typeface="Arial"/>
            </a:endParaRPr>
          </a:p>
        </p:txBody>
      </p:sp>
    </p:spTree>
    <p:extLst>
      <p:ext uri="{BB962C8B-B14F-4D97-AF65-F5344CB8AC3E}">
        <p14:creationId xmlns:p14="http://schemas.microsoft.com/office/powerpoint/2010/main" val="26873273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F25A8-3DE3-3B1C-9E29-CD54D9BD869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5DA5D5A-0F2B-8126-2FA3-A777409BFA6A}"/>
              </a:ext>
            </a:extLst>
          </p:cNvPr>
          <p:cNvSpPr>
            <a:spLocks noGrp="1"/>
          </p:cNvSpPr>
          <p:nvPr>
            <p:ph type="sldNum" sz="quarter" idx="4"/>
          </p:nvPr>
        </p:nvSpPr>
        <p:spPr/>
        <p:txBody>
          <a:bodyPr/>
          <a:lstStyle/>
          <a:p>
            <a:pPr algn="ctr"/>
            <a:fld id="{933A556B-7C63-244D-9B7C-B0EA8042B330}" type="slidenum">
              <a:rPr lang="en-US" smtClean="0"/>
              <a:pPr algn="ctr"/>
              <a:t>22</a:t>
            </a:fld>
            <a:endParaRPr lang="en-US"/>
          </a:p>
        </p:txBody>
      </p:sp>
      <p:sp>
        <p:nvSpPr>
          <p:cNvPr id="3" name="Title 2">
            <a:extLst>
              <a:ext uri="{FF2B5EF4-FFF2-40B4-BE49-F238E27FC236}">
                <a16:creationId xmlns:a16="http://schemas.microsoft.com/office/drawing/2014/main" id="{8332A9D9-34EA-7C13-87EE-25755A2E412F}"/>
              </a:ext>
            </a:extLst>
          </p:cNvPr>
          <p:cNvSpPr>
            <a:spLocks noGrp="1"/>
          </p:cNvSpPr>
          <p:nvPr>
            <p:ph type="title"/>
          </p:nvPr>
        </p:nvSpPr>
        <p:spPr/>
        <p:txBody>
          <a:bodyPr/>
          <a:lstStyle/>
          <a:p>
            <a:r>
              <a:rPr lang="en-US">
                <a:solidFill>
                  <a:srgbClr val="000000"/>
                </a:solidFill>
                <a:latin typeface="Arial"/>
                <a:cs typeface="Arial"/>
              </a:rPr>
              <a:t>Middle-Layer Services</a:t>
            </a:r>
            <a:endParaRPr lang="en-US"/>
          </a:p>
        </p:txBody>
      </p:sp>
      <p:sp>
        <p:nvSpPr>
          <p:cNvPr id="4" name="Text Placeholder 3">
            <a:extLst>
              <a:ext uri="{FF2B5EF4-FFF2-40B4-BE49-F238E27FC236}">
                <a16:creationId xmlns:a16="http://schemas.microsoft.com/office/drawing/2014/main" id="{C5A3A0D6-71DE-B403-D2C1-8C61E0FBC264}"/>
              </a:ext>
            </a:extLst>
          </p:cNvPr>
          <p:cNvSpPr>
            <a:spLocks noGrp="1"/>
          </p:cNvSpPr>
          <p:nvPr>
            <p:ph type="body" sz="quarter" idx="10"/>
          </p:nvPr>
        </p:nvSpPr>
        <p:spPr/>
        <p:txBody>
          <a:bodyPr vert="horz" lIns="91440" tIns="45720" rIns="91440" bIns="45720" rtlCol="0" anchor="t">
            <a:normAutofit fontScale="77500" lnSpcReduction="20000"/>
          </a:bodyPr>
          <a:lstStyle/>
          <a:p>
            <a:pPr>
              <a:lnSpc>
                <a:spcPct val="120000"/>
              </a:lnSpc>
            </a:pPr>
            <a:r>
              <a:rPr lang="en-US" b="1" i="1">
                <a:cs typeface="Arial"/>
              </a:rPr>
              <a:t>Archiver:</a:t>
            </a:r>
            <a:r>
              <a:rPr lang="en-US">
                <a:cs typeface="Arial"/>
              </a:rPr>
              <a:t> EPICS Archiver Appliance stores time-series PV data at configurable rates and provides fast historical queries. Supports post-event analysis and correlation with live values in Data Browser</a:t>
            </a:r>
            <a:endParaRPr lang="en-US"/>
          </a:p>
          <a:p>
            <a:pPr>
              <a:lnSpc>
                <a:spcPct val="120000"/>
              </a:lnSpc>
            </a:pPr>
            <a:r>
              <a:rPr lang="en-US" b="1" i="1">
                <a:cs typeface="Arial"/>
              </a:rPr>
              <a:t>Alarm:</a:t>
            </a:r>
            <a:r>
              <a:rPr lang="en-US">
                <a:cs typeface="Arial"/>
              </a:rPr>
              <a:t> Monitors, filters, and aggregates alarms in real-time, notifies operators, maintains alarm history, and supports configuration rollback. Enables both immediate response and retrospective tuning of alarm quality</a:t>
            </a:r>
          </a:p>
          <a:p>
            <a:pPr>
              <a:lnSpc>
                <a:spcPct val="120000"/>
              </a:lnSpc>
            </a:pPr>
            <a:r>
              <a:rPr lang="en-US" b="1" i="1">
                <a:cs typeface="Arial"/>
              </a:rPr>
              <a:t>ChannelFinder:</a:t>
            </a:r>
            <a:r>
              <a:rPr lang="en-US">
                <a:cs typeface="Arial"/>
              </a:rPr>
              <a:t> Directory service for PV catalogs, tags, and properties</a:t>
            </a:r>
          </a:p>
          <a:p>
            <a:pPr>
              <a:lnSpc>
                <a:spcPct val="120000"/>
              </a:lnSpc>
            </a:pPr>
            <a:r>
              <a:rPr lang="en-US" b="1" i="1">
                <a:cs typeface="Arial"/>
              </a:rPr>
              <a:t>NameOps: </a:t>
            </a:r>
            <a:r>
              <a:rPr lang="en-US">
                <a:cs typeface="Arial"/>
              </a:rPr>
              <a:t>Generate and validate EIC device and PV names</a:t>
            </a:r>
          </a:p>
          <a:p>
            <a:pPr>
              <a:lnSpc>
                <a:spcPct val="120000"/>
              </a:lnSpc>
            </a:pPr>
            <a:r>
              <a:rPr lang="en-US" b="1" i="1">
                <a:cs typeface="Arial"/>
              </a:rPr>
              <a:t>Olog</a:t>
            </a:r>
            <a:r>
              <a:rPr lang="en-US">
                <a:cs typeface="Arial"/>
              </a:rPr>
              <a:t> (Online Logbook): Structured operator and operations logging with automatic context capture (PV names, alarm states, timestamps)</a:t>
            </a:r>
          </a:p>
          <a:p>
            <a:pPr>
              <a:lnSpc>
                <a:spcPct val="120000"/>
              </a:lnSpc>
            </a:pPr>
            <a:r>
              <a:rPr lang="en-US" b="1" i="1">
                <a:cs typeface="Arial"/>
              </a:rPr>
              <a:t>Save and Restore:</a:t>
            </a:r>
            <a:r>
              <a:rPr lang="en-US">
                <a:cs typeface="Arial"/>
              </a:rPr>
              <a:t> Captures, stores, and restores PV snapshots that reproduce known good states. Supports repeatable operations and controlled recovery from incident or configuration changes</a:t>
            </a:r>
          </a:p>
          <a:p>
            <a:pPr>
              <a:lnSpc>
                <a:spcPct val="120000"/>
              </a:lnSpc>
            </a:pPr>
            <a:r>
              <a:rPr lang="en-US" b="1" i="1">
                <a:cs typeface="Arial"/>
              </a:rPr>
              <a:t>PVA Gateway:</a:t>
            </a:r>
            <a:r>
              <a:rPr lang="en-US">
                <a:cs typeface="Arial"/>
              </a:rPr>
              <a:t> Enables EPICS-domain inter-network connectivity with controlled PV exposure across network boundaries. Supports scalable client access patterns without overwhelming IOC resources</a:t>
            </a:r>
          </a:p>
          <a:p>
            <a:endParaRPr lang="en-US">
              <a:cs typeface="Arial"/>
            </a:endParaRPr>
          </a:p>
        </p:txBody>
      </p:sp>
      <p:sp>
        <p:nvSpPr>
          <p:cNvPr id="5" name="object 3">
            <a:extLst>
              <a:ext uri="{FF2B5EF4-FFF2-40B4-BE49-F238E27FC236}">
                <a16:creationId xmlns:a16="http://schemas.microsoft.com/office/drawing/2014/main" id="{3B1D12E6-15C1-6E93-B6A9-FA656A88838A}"/>
              </a:ext>
            </a:extLst>
          </p:cNvPr>
          <p:cNvSpPr/>
          <p:nvPr/>
        </p:nvSpPr>
        <p:spPr>
          <a:xfrm>
            <a:off x="10402734" y="571938"/>
            <a:ext cx="1560310" cy="318021"/>
          </a:xfrm>
          <a:custGeom>
            <a:avLst/>
            <a:gdLst/>
            <a:ahLst/>
            <a:cxnLst/>
            <a:rect l="l" t="t" r="r" b="b"/>
            <a:pathLst>
              <a:path w="1466850" h="361950">
                <a:moveTo>
                  <a:pt x="1406525" y="0"/>
                </a:moveTo>
                <a:lnTo>
                  <a:pt x="60325" y="0"/>
                </a:lnTo>
                <a:lnTo>
                  <a:pt x="36861" y="4746"/>
                </a:lnTo>
                <a:lnTo>
                  <a:pt x="17684" y="17684"/>
                </a:lnTo>
                <a:lnTo>
                  <a:pt x="4746" y="36861"/>
                </a:lnTo>
                <a:lnTo>
                  <a:pt x="0" y="60325"/>
                </a:lnTo>
                <a:lnTo>
                  <a:pt x="0" y="301625"/>
                </a:lnTo>
                <a:lnTo>
                  <a:pt x="4746" y="325088"/>
                </a:lnTo>
                <a:lnTo>
                  <a:pt x="17684" y="344265"/>
                </a:lnTo>
                <a:lnTo>
                  <a:pt x="36861" y="357203"/>
                </a:lnTo>
                <a:lnTo>
                  <a:pt x="60325" y="361950"/>
                </a:lnTo>
                <a:lnTo>
                  <a:pt x="1406525" y="361950"/>
                </a:lnTo>
                <a:lnTo>
                  <a:pt x="1429988" y="357203"/>
                </a:lnTo>
                <a:lnTo>
                  <a:pt x="1449165" y="344265"/>
                </a:lnTo>
                <a:lnTo>
                  <a:pt x="1462103" y="325088"/>
                </a:lnTo>
                <a:lnTo>
                  <a:pt x="1466850" y="301625"/>
                </a:lnTo>
                <a:lnTo>
                  <a:pt x="1466850" y="60325"/>
                </a:lnTo>
                <a:lnTo>
                  <a:pt x="1462103" y="36861"/>
                </a:lnTo>
                <a:lnTo>
                  <a:pt x="1449165" y="17684"/>
                </a:lnTo>
                <a:lnTo>
                  <a:pt x="1429988" y="4746"/>
                </a:lnTo>
                <a:lnTo>
                  <a:pt x="1406525" y="0"/>
                </a:lnTo>
                <a:close/>
              </a:path>
            </a:pathLst>
          </a:custGeom>
          <a:solidFill>
            <a:srgbClr val="0070C0"/>
          </a:solid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solidFill>
                  <a:srgbClr val="FFFFFF"/>
                </a:solidFill>
                <a:latin typeface="Arial"/>
                <a:cs typeface="Arial"/>
              </a:rPr>
              <a:t>Charge #1,2,3</a:t>
            </a:r>
          </a:p>
          <a:p>
            <a:pPr algn="ctr"/>
            <a:endParaRPr lang="en-US">
              <a:solidFill>
                <a:srgbClr val="FFFFFF"/>
              </a:solidFill>
              <a:cs typeface="Arial"/>
            </a:endParaRPr>
          </a:p>
        </p:txBody>
      </p:sp>
    </p:spTree>
    <p:extLst>
      <p:ext uri="{BB962C8B-B14F-4D97-AF65-F5344CB8AC3E}">
        <p14:creationId xmlns:p14="http://schemas.microsoft.com/office/powerpoint/2010/main" val="5239284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6C8C5-43BD-87B3-79A8-8EEC7CD2161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9214EB-3E59-F119-B4F3-32B442FE4B6D}"/>
              </a:ext>
            </a:extLst>
          </p:cNvPr>
          <p:cNvSpPr>
            <a:spLocks noGrp="1"/>
          </p:cNvSpPr>
          <p:nvPr>
            <p:ph type="sldNum" sz="quarter" idx="4"/>
          </p:nvPr>
        </p:nvSpPr>
        <p:spPr/>
        <p:txBody>
          <a:bodyPr/>
          <a:lstStyle/>
          <a:p>
            <a:pPr algn="ctr"/>
            <a:fld id="{933A556B-7C63-244D-9B7C-B0EA8042B330}" type="slidenum">
              <a:rPr lang="en-US" smtClean="0"/>
              <a:pPr algn="ctr"/>
              <a:t>23</a:t>
            </a:fld>
            <a:endParaRPr lang="en-US"/>
          </a:p>
        </p:txBody>
      </p:sp>
      <p:sp>
        <p:nvSpPr>
          <p:cNvPr id="3" name="Title 2">
            <a:extLst>
              <a:ext uri="{FF2B5EF4-FFF2-40B4-BE49-F238E27FC236}">
                <a16:creationId xmlns:a16="http://schemas.microsoft.com/office/drawing/2014/main" id="{3408BE0A-04D9-1533-10C2-B4811C267035}"/>
              </a:ext>
            </a:extLst>
          </p:cNvPr>
          <p:cNvSpPr>
            <a:spLocks noGrp="1"/>
          </p:cNvSpPr>
          <p:nvPr>
            <p:ph type="title"/>
          </p:nvPr>
        </p:nvSpPr>
        <p:spPr/>
        <p:txBody>
          <a:bodyPr/>
          <a:lstStyle/>
          <a:p>
            <a:r>
              <a:rPr lang="en-US">
                <a:solidFill>
                  <a:srgbClr val="000000"/>
                </a:solidFill>
                <a:latin typeface="Arial"/>
                <a:cs typeface="Arial"/>
              </a:rPr>
              <a:t>Phoebus Operator Toolkit</a:t>
            </a:r>
            <a:endParaRPr lang="en-US"/>
          </a:p>
        </p:txBody>
      </p:sp>
      <p:sp>
        <p:nvSpPr>
          <p:cNvPr id="4" name="Text Placeholder 3">
            <a:extLst>
              <a:ext uri="{FF2B5EF4-FFF2-40B4-BE49-F238E27FC236}">
                <a16:creationId xmlns:a16="http://schemas.microsoft.com/office/drawing/2014/main" id="{03BC3CD2-5879-CCF4-5CE2-79615E28F4C9}"/>
              </a:ext>
            </a:extLst>
          </p:cNvPr>
          <p:cNvSpPr>
            <a:spLocks noGrp="1"/>
          </p:cNvSpPr>
          <p:nvPr>
            <p:ph type="body" sz="quarter" idx="10"/>
          </p:nvPr>
        </p:nvSpPr>
        <p:spPr>
          <a:xfrm>
            <a:off x="461963" y="981075"/>
            <a:ext cx="3556578" cy="5065713"/>
          </a:xfrm>
        </p:spPr>
        <p:txBody>
          <a:bodyPr vert="horz" lIns="91440" tIns="45720" rIns="91440" bIns="45720" rtlCol="0" anchor="t">
            <a:normAutofit fontScale="92500"/>
          </a:bodyPr>
          <a:lstStyle/>
          <a:p>
            <a:pPr>
              <a:lnSpc>
                <a:spcPct val="110000"/>
              </a:lnSpc>
            </a:pPr>
            <a:r>
              <a:rPr lang="en-US">
                <a:solidFill>
                  <a:srgbClr val="000000"/>
                </a:solidFill>
                <a:latin typeface="Arial"/>
                <a:cs typeface="Arial"/>
              </a:rPr>
              <a:t>Operator and application layer (Phoebus tools, web tools, HLAs)</a:t>
            </a:r>
            <a:endParaRPr lang="en-US">
              <a:latin typeface="Arial"/>
              <a:cs typeface="Arial"/>
            </a:endParaRPr>
          </a:p>
          <a:p>
            <a:pPr>
              <a:lnSpc>
                <a:spcPct val="110000"/>
              </a:lnSpc>
            </a:pPr>
            <a:endParaRPr lang="en-US">
              <a:solidFill>
                <a:srgbClr val="000000"/>
              </a:solidFill>
              <a:latin typeface="Arial"/>
              <a:cs typeface="Arial"/>
            </a:endParaRPr>
          </a:p>
          <a:p>
            <a:pPr>
              <a:lnSpc>
                <a:spcPct val="110000"/>
              </a:lnSpc>
            </a:pPr>
            <a:r>
              <a:rPr lang="en-US">
                <a:solidFill>
                  <a:srgbClr val="000000"/>
                </a:solidFill>
                <a:latin typeface="Arial"/>
                <a:cs typeface="Arial"/>
              </a:rPr>
              <a:t>Middle-layer services (Archiver, Alarm, Olog, ChannelFinder, Save/Restore, Gateway)</a:t>
            </a:r>
          </a:p>
          <a:p>
            <a:pPr>
              <a:lnSpc>
                <a:spcPct val="110000"/>
              </a:lnSpc>
            </a:pPr>
            <a:endParaRPr lang="en-US">
              <a:solidFill>
                <a:srgbClr val="000000"/>
              </a:solidFill>
              <a:latin typeface="Arial"/>
              <a:cs typeface="Arial"/>
            </a:endParaRPr>
          </a:p>
          <a:p>
            <a:pPr>
              <a:lnSpc>
                <a:spcPct val="110000"/>
              </a:lnSpc>
            </a:pPr>
            <a:r>
              <a:rPr lang="en-US">
                <a:solidFill>
                  <a:srgbClr val="000000"/>
                </a:solidFill>
                <a:latin typeface="Arial"/>
                <a:cs typeface="Arial"/>
              </a:rPr>
              <a:t>Control system layer (EPICS 7 with PVA-first, CA compatibility)</a:t>
            </a:r>
          </a:p>
          <a:p>
            <a:pPr>
              <a:lnSpc>
                <a:spcPct val="110000"/>
              </a:lnSpc>
            </a:pPr>
            <a:endParaRPr lang="en-US">
              <a:cs typeface="Arial"/>
            </a:endParaRPr>
          </a:p>
        </p:txBody>
      </p:sp>
      <p:pic>
        <p:nvPicPr>
          <p:cNvPr id="9" name="Picture 8">
            <a:extLst>
              <a:ext uri="{FF2B5EF4-FFF2-40B4-BE49-F238E27FC236}">
                <a16:creationId xmlns:a16="http://schemas.microsoft.com/office/drawing/2014/main" id="{13343485-E3E9-46B5-947C-992EC9A87BC5}"/>
              </a:ext>
            </a:extLst>
          </p:cNvPr>
          <p:cNvPicPr>
            <a:picLocks noChangeAspect="1"/>
          </p:cNvPicPr>
          <p:nvPr/>
        </p:nvPicPr>
        <p:blipFill>
          <a:blip r:embed="rId2"/>
          <a:stretch>
            <a:fillRect/>
          </a:stretch>
        </p:blipFill>
        <p:spPr>
          <a:xfrm>
            <a:off x="3935751" y="642348"/>
            <a:ext cx="8029738" cy="5743340"/>
          </a:xfrm>
          <a:prstGeom prst="rect">
            <a:avLst/>
          </a:prstGeom>
        </p:spPr>
      </p:pic>
      <p:sp>
        <p:nvSpPr>
          <p:cNvPr id="5" name="object 3">
            <a:extLst>
              <a:ext uri="{FF2B5EF4-FFF2-40B4-BE49-F238E27FC236}">
                <a16:creationId xmlns:a16="http://schemas.microsoft.com/office/drawing/2014/main" id="{CEEA5E7E-6844-645C-DDBB-E1722E3C5AE7}"/>
              </a:ext>
            </a:extLst>
          </p:cNvPr>
          <p:cNvSpPr/>
          <p:nvPr/>
        </p:nvSpPr>
        <p:spPr>
          <a:xfrm>
            <a:off x="10462745" y="571938"/>
            <a:ext cx="1500299" cy="318021"/>
          </a:xfrm>
          <a:custGeom>
            <a:avLst/>
            <a:gdLst/>
            <a:ahLst/>
            <a:cxnLst/>
            <a:rect l="l" t="t" r="r" b="b"/>
            <a:pathLst>
              <a:path w="1466850" h="361950">
                <a:moveTo>
                  <a:pt x="1406525" y="0"/>
                </a:moveTo>
                <a:lnTo>
                  <a:pt x="60325" y="0"/>
                </a:lnTo>
                <a:lnTo>
                  <a:pt x="36861" y="4746"/>
                </a:lnTo>
                <a:lnTo>
                  <a:pt x="17684" y="17684"/>
                </a:lnTo>
                <a:lnTo>
                  <a:pt x="4746" y="36861"/>
                </a:lnTo>
                <a:lnTo>
                  <a:pt x="0" y="60325"/>
                </a:lnTo>
                <a:lnTo>
                  <a:pt x="0" y="301625"/>
                </a:lnTo>
                <a:lnTo>
                  <a:pt x="4746" y="325088"/>
                </a:lnTo>
                <a:lnTo>
                  <a:pt x="17684" y="344265"/>
                </a:lnTo>
                <a:lnTo>
                  <a:pt x="36861" y="357203"/>
                </a:lnTo>
                <a:lnTo>
                  <a:pt x="60325" y="361950"/>
                </a:lnTo>
                <a:lnTo>
                  <a:pt x="1406525" y="361950"/>
                </a:lnTo>
                <a:lnTo>
                  <a:pt x="1429988" y="357203"/>
                </a:lnTo>
                <a:lnTo>
                  <a:pt x="1449165" y="344265"/>
                </a:lnTo>
                <a:lnTo>
                  <a:pt x="1462103" y="325088"/>
                </a:lnTo>
                <a:lnTo>
                  <a:pt x="1466850" y="301625"/>
                </a:lnTo>
                <a:lnTo>
                  <a:pt x="1466850" y="60325"/>
                </a:lnTo>
                <a:lnTo>
                  <a:pt x="1462103" y="36861"/>
                </a:lnTo>
                <a:lnTo>
                  <a:pt x="1449165" y="17684"/>
                </a:lnTo>
                <a:lnTo>
                  <a:pt x="1429988" y="4746"/>
                </a:lnTo>
                <a:lnTo>
                  <a:pt x="1406525" y="0"/>
                </a:lnTo>
                <a:close/>
              </a:path>
            </a:pathLst>
          </a:custGeom>
          <a:solidFill>
            <a:srgbClr val="0070C0"/>
          </a:solid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pc="-80">
                <a:solidFill>
                  <a:srgbClr val="FFFFFF"/>
                </a:solidFill>
                <a:latin typeface="Arial"/>
                <a:cs typeface="Arial"/>
              </a:rPr>
              <a:t>Charge #1,2,3</a:t>
            </a:r>
          </a:p>
          <a:p>
            <a:pPr algn="ctr"/>
            <a:endParaRPr lang="en-US" spc="-80">
              <a:solidFill>
                <a:srgbClr val="FFFFFF"/>
              </a:solidFill>
              <a:cs typeface="Arial"/>
            </a:endParaRPr>
          </a:p>
        </p:txBody>
      </p:sp>
      <p:sp>
        <p:nvSpPr>
          <p:cNvPr id="6" name="Rectangle 5">
            <a:extLst>
              <a:ext uri="{FF2B5EF4-FFF2-40B4-BE49-F238E27FC236}">
                <a16:creationId xmlns:a16="http://schemas.microsoft.com/office/drawing/2014/main" id="{BB20B293-61C8-EB44-38DE-B26462128797}"/>
              </a:ext>
            </a:extLst>
          </p:cNvPr>
          <p:cNvSpPr/>
          <p:nvPr/>
        </p:nvSpPr>
        <p:spPr>
          <a:xfrm>
            <a:off x="596660" y="2853906"/>
            <a:ext cx="11501887" cy="1998453"/>
          </a:xfrm>
          <a:prstGeom prst="rect">
            <a:avLst/>
          </a:prstGeom>
          <a:solidFill>
            <a:srgbClr val="FFFFFF">
              <a:alpha val="7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78C81866-09ED-5FC7-5689-347C01AD990D}"/>
              </a:ext>
            </a:extLst>
          </p:cNvPr>
          <p:cNvSpPr/>
          <p:nvPr/>
        </p:nvSpPr>
        <p:spPr>
          <a:xfrm>
            <a:off x="3838753" y="4852357"/>
            <a:ext cx="8123208" cy="1595888"/>
          </a:xfrm>
          <a:prstGeom prst="rect">
            <a:avLst/>
          </a:prstGeom>
          <a:solidFill>
            <a:srgbClr val="FFFFFF">
              <a:alpha val="7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7919A4FE-54F7-38F0-A530-8C9436790CC5}"/>
              </a:ext>
            </a:extLst>
          </p:cNvPr>
          <p:cNvSpPr/>
          <p:nvPr/>
        </p:nvSpPr>
        <p:spPr>
          <a:xfrm>
            <a:off x="345056" y="4852358"/>
            <a:ext cx="3587152" cy="1466492"/>
          </a:xfrm>
          <a:prstGeom prst="rect">
            <a:avLst/>
          </a:prstGeom>
          <a:solidFill>
            <a:srgbClr val="FFFFFF">
              <a:alpha val="7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8225998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5A1CA-CD16-4306-C5C9-DBD0B69870F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51A3C10-9FC6-D6D0-0276-4FAED663041F}"/>
              </a:ext>
            </a:extLst>
          </p:cNvPr>
          <p:cNvSpPr>
            <a:spLocks noGrp="1"/>
          </p:cNvSpPr>
          <p:nvPr>
            <p:ph type="sldNum" sz="quarter" idx="4"/>
          </p:nvPr>
        </p:nvSpPr>
        <p:spPr/>
        <p:txBody>
          <a:bodyPr/>
          <a:lstStyle/>
          <a:p>
            <a:pPr algn="ctr"/>
            <a:fld id="{933A556B-7C63-244D-9B7C-B0EA8042B330}" type="slidenum">
              <a:rPr lang="en-US" smtClean="0"/>
              <a:pPr algn="ctr"/>
              <a:t>24</a:t>
            </a:fld>
            <a:endParaRPr lang="en-US"/>
          </a:p>
        </p:txBody>
      </p:sp>
      <p:sp>
        <p:nvSpPr>
          <p:cNvPr id="3" name="Title 2">
            <a:extLst>
              <a:ext uri="{FF2B5EF4-FFF2-40B4-BE49-F238E27FC236}">
                <a16:creationId xmlns:a16="http://schemas.microsoft.com/office/drawing/2014/main" id="{E2D2A31B-6E60-78C5-10D1-CF67117737EF}"/>
              </a:ext>
            </a:extLst>
          </p:cNvPr>
          <p:cNvSpPr>
            <a:spLocks noGrp="1"/>
          </p:cNvSpPr>
          <p:nvPr>
            <p:ph type="title"/>
          </p:nvPr>
        </p:nvSpPr>
        <p:spPr/>
        <p:txBody>
          <a:bodyPr/>
          <a:lstStyle/>
          <a:p>
            <a:r>
              <a:rPr lang="en-US">
                <a:solidFill>
                  <a:srgbClr val="000000"/>
                </a:solidFill>
                <a:latin typeface="Arial"/>
                <a:cs typeface="Arial"/>
              </a:rPr>
              <a:t>Phoebus Operator Toolkit</a:t>
            </a:r>
            <a:endParaRPr lang="en-US"/>
          </a:p>
        </p:txBody>
      </p:sp>
      <p:sp>
        <p:nvSpPr>
          <p:cNvPr id="4" name="Text Placeholder 3">
            <a:extLst>
              <a:ext uri="{FF2B5EF4-FFF2-40B4-BE49-F238E27FC236}">
                <a16:creationId xmlns:a16="http://schemas.microsoft.com/office/drawing/2014/main" id="{9FADAAB1-07CA-6FC9-EF56-124739413667}"/>
              </a:ext>
            </a:extLst>
          </p:cNvPr>
          <p:cNvSpPr>
            <a:spLocks noGrp="1"/>
          </p:cNvSpPr>
          <p:nvPr>
            <p:ph type="body" sz="quarter" idx="10"/>
          </p:nvPr>
        </p:nvSpPr>
        <p:spPr>
          <a:xfrm>
            <a:off x="461963" y="981075"/>
            <a:ext cx="6712408" cy="5065713"/>
          </a:xfrm>
        </p:spPr>
        <p:txBody>
          <a:bodyPr vert="horz" lIns="91440" tIns="45720" rIns="91440" bIns="45720" rtlCol="0" anchor="t">
            <a:normAutofit fontScale="85000" lnSpcReduction="20000"/>
          </a:bodyPr>
          <a:lstStyle/>
          <a:p>
            <a:pPr>
              <a:lnSpc>
                <a:spcPct val="120000"/>
              </a:lnSpc>
            </a:pPr>
            <a:r>
              <a:rPr lang="en-US">
                <a:solidFill>
                  <a:srgbClr val="000000"/>
                </a:solidFill>
                <a:latin typeface="Arial"/>
                <a:cs typeface="Arial"/>
              </a:rPr>
              <a:t>Integrated set of tools across displays, alarms, trends, logbook, and save/restore</a:t>
            </a:r>
            <a:endParaRPr lang="en-US">
              <a:cs typeface="Arial"/>
            </a:endParaRPr>
          </a:p>
          <a:p>
            <a:pPr lvl="1" indent="-342900">
              <a:lnSpc>
                <a:spcPct val="120000"/>
              </a:lnSpc>
            </a:pPr>
            <a:r>
              <a:rPr lang="en-US">
                <a:solidFill>
                  <a:srgbClr val="000000"/>
                </a:solidFill>
                <a:latin typeface="Arial"/>
                <a:cs typeface="Arial"/>
              </a:rPr>
              <a:t>Operators navigate seamlessly between tools </a:t>
            </a:r>
          </a:p>
          <a:p>
            <a:pPr lvl="1" indent="-342900">
              <a:lnSpc>
                <a:spcPct val="120000"/>
              </a:lnSpc>
            </a:pPr>
            <a:r>
              <a:rPr lang="en-US">
                <a:solidFill>
                  <a:srgbClr val="000000"/>
                </a:solidFill>
                <a:latin typeface="Arial"/>
                <a:cs typeface="Arial"/>
              </a:rPr>
              <a:t>Context sharing reduces operator burden and improves efficiency</a:t>
            </a:r>
            <a:endParaRPr lang="en-US">
              <a:cs typeface="Arial"/>
            </a:endParaRPr>
          </a:p>
          <a:p>
            <a:pPr lvl="1" indent="-342900">
              <a:lnSpc>
                <a:spcPct val="120000"/>
              </a:lnSpc>
            </a:pPr>
            <a:r>
              <a:rPr lang="en-US">
                <a:solidFill>
                  <a:srgbClr val="000000"/>
                </a:solidFill>
                <a:latin typeface="Arial"/>
                <a:cs typeface="Arial"/>
              </a:rPr>
              <a:t>Single integrated desktop environment reduces training overhead and support burden</a:t>
            </a:r>
          </a:p>
          <a:p>
            <a:pPr>
              <a:lnSpc>
                <a:spcPct val="120000"/>
              </a:lnSpc>
            </a:pPr>
            <a:r>
              <a:rPr lang="en-US">
                <a:solidFill>
                  <a:srgbClr val="000000"/>
                </a:solidFill>
                <a:latin typeface="Arial"/>
                <a:cs typeface="Arial"/>
              </a:rPr>
              <a:t>Extensible and Modular architecture</a:t>
            </a:r>
          </a:p>
          <a:p>
            <a:pPr lvl="1" indent="-342900">
              <a:lnSpc>
                <a:spcPct val="120000"/>
              </a:lnSpc>
            </a:pPr>
            <a:r>
              <a:rPr lang="en-US">
                <a:solidFill>
                  <a:srgbClr val="000000"/>
                </a:solidFill>
                <a:latin typeface="Arial"/>
                <a:cs typeface="Arial"/>
              </a:rPr>
              <a:t>SPI-based extensibility allow sites to add tools and protocols without disrupting core stability</a:t>
            </a:r>
          </a:p>
          <a:p>
            <a:pPr>
              <a:lnSpc>
                <a:spcPct val="120000"/>
              </a:lnSpc>
            </a:pPr>
            <a:r>
              <a:rPr lang="en-US">
                <a:solidFill>
                  <a:srgbClr val="000000"/>
                </a:solidFill>
                <a:latin typeface="Arial"/>
                <a:cs typeface="Arial"/>
              </a:rPr>
              <a:t>Shared data models, resources, etc allows for simplified and efficient applications</a:t>
            </a:r>
          </a:p>
          <a:p>
            <a:pPr>
              <a:lnSpc>
                <a:spcPct val="120000"/>
              </a:lnSpc>
            </a:pPr>
            <a:r>
              <a:rPr lang="en-US">
                <a:solidFill>
                  <a:srgbClr val="000000"/>
                </a:solidFill>
                <a:ea typeface="+mn-lt"/>
                <a:cs typeface="+mn-lt"/>
              </a:rPr>
              <a:t>Large, active collaboration strengthens maintainability and support</a:t>
            </a:r>
            <a:endParaRPr lang="en-US">
              <a:solidFill>
                <a:srgbClr val="000000"/>
              </a:solidFill>
              <a:latin typeface="Arial"/>
              <a:cs typeface="Arial"/>
            </a:endParaRPr>
          </a:p>
          <a:p>
            <a:pPr>
              <a:lnSpc>
                <a:spcPct val="120000"/>
              </a:lnSpc>
            </a:pPr>
            <a:endParaRPr lang="en-US">
              <a:cs typeface="Arial"/>
            </a:endParaRPr>
          </a:p>
        </p:txBody>
      </p:sp>
      <p:sp>
        <p:nvSpPr>
          <p:cNvPr id="5" name="object 3">
            <a:extLst>
              <a:ext uri="{FF2B5EF4-FFF2-40B4-BE49-F238E27FC236}">
                <a16:creationId xmlns:a16="http://schemas.microsoft.com/office/drawing/2014/main" id="{3A42DDE5-73BE-7F80-8607-C25188B56165}"/>
              </a:ext>
            </a:extLst>
          </p:cNvPr>
          <p:cNvSpPr/>
          <p:nvPr/>
        </p:nvSpPr>
        <p:spPr>
          <a:xfrm>
            <a:off x="10303647" y="571938"/>
            <a:ext cx="1659397" cy="318021"/>
          </a:xfrm>
          <a:custGeom>
            <a:avLst/>
            <a:gdLst/>
            <a:ahLst/>
            <a:cxnLst/>
            <a:rect l="l" t="t" r="r" b="b"/>
            <a:pathLst>
              <a:path w="1466850" h="361950">
                <a:moveTo>
                  <a:pt x="1406525" y="0"/>
                </a:moveTo>
                <a:lnTo>
                  <a:pt x="60325" y="0"/>
                </a:lnTo>
                <a:lnTo>
                  <a:pt x="36861" y="4746"/>
                </a:lnTo>
                <a:lnTo>
                  <a:pt x="17684" y="17684"/>
                </a:lnTo>
                <a:lnTo>
                  <a:pt x="4746" y="36861"/>
                </a:lnTo>
                <a:lnTo>
                  <a:pt x="0" y="60325"/>
                </a:lnTo>
                <a:lnTo>
                  <a:pt x="0" y="301625"/>
                </a:lnTo>
                <a:lnTo>
                  <a:pt x="4746" y="325088"/>
                </a:lnTo>
                <a:lnTo>
                  <a:pt x="17684" y="344265"/>
                </a:lnTo>
                <a:lnTo>
                  <a:pt x="36861" y="357203"/>
                </a:lnTo>
                <a:lnTo>
                  <a:pt x="60325" y="361950"/>
                </a:lnTo>
                <a:lnTo>
                  <a:pt x="1406525" y="361950"/>
                </a:lnTo>
                <a:lnTo>
                  <a:pt x="1429988" y="357203"/>
                </a:lnTo>
                <a:lnTo>
                  <a:pt x="1449165" y="344265"/>
                </a:lnTo>
                <a:lnTo>
                  <a:pt x="1462103" y="325088"/>
                </a:lnTo>
                <a:lnTo>
                  <a:pt x="1466850" y="301625"/>
                </a:lnTo>
                <a:lnTo>
                  <a:pt x="1466850" y="60325"/>
                </a:lnTo>
                <a:lnTo>
                  <a:pt x="1462103" y="36861"/>
                </a:lnTo>
                <a:lnTo>
                  <a:pt x="1449165" y="17684"/>
                </a:lnTo>
                <a:lnTo>
                  <a:pt x="1429988" y="4746"/>
                </a:lnTo>
                <a:lnTo>
                  <a:pt x="1406525" y="0"/>
                </a:lnTo>
                <a:close/>
              </a:path>
            </a:pathLst>
          </a:custGeom>
          <a:solidFill>
            <a:srgbClr val="0070C0"/>
          </a:solid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pc="-80">
                <a:solidFill>
                  <a:srgbClr val="FFFFFF"/>
                </a:solidFill>
                <a:latin typeface="Arial"/>
                <a:cs typeface="Arial"/>
              </a:rPr>
              <a:t>Charge #1,2,3,5</a:t>
            </a:r>
          </a:p>
          <a:p>
            <a:pPr algn="ctr"/>
            <a:endParaRPr lang="en-US" spc="-80">
              <a:solidFill>
                <a:srgbClr val="FFFFFF"/>
              </a:solidFill>
              <a:cs typeface="Arial"/>
            </a:endParaRPr>
          </a:p>
        </p:txBody>
      </p:sp>
      <p:pic>
        <p:nvPicPr>
          <p:cNvPr id="10" name="Picture 9">
            <a:extLst>
              <a:ext uri="{FF2B5EF4-FFF2-40B4-BE49-F238E27FC236}">
                <a16:creationId xmlns:a16="http://schemas.microsoft.com/office/drawing/2014/main" id="{EABE9A20-42B8-0579-F890-BC3F39BF494B}"/>
              </a:ext>
            </a:extLst>
          </p:cNvPr>
          <p:cNvPicPr>
            <a:picLocks noChangeAspect="1"/>
          </p:cNvPicPr>
          <p:nvPr/>
        </p:nvPicPr>
        <p:blipFill>
          <a:blip r:embed="rId2"/>
          <a:stretch>
            <a:fillRect/>
          </a:stretch>
        </p:blipFill>
        <p:spPr>
          <a:xfrm>
            <a:off x="7174302" y="979458"/>
            <a:ext cx="4787660" cy="3001273"/>
          </a:xfrm>
          <a:prstGeom prst="rect">
            <a:avLst/>
          </a:prstGeom>
        </p:spPr>
      </p:pic>
    </p:spTree>
    <p:extLst>
      <p:ext uri="{BB962C8B-B14F-4D97-AF65-F5344CB8AC3E}">
        <p14:creationId xmlns:p14="http://schemas.microsoft.com/office/powerpoint/2010/main" val="21064546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68D22-AA12-A9AA-94DC-3CC3538DBF4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5FCF381-C30D-BF74-35C7-E90A4EB67E0D}"/>
              </a:ext>
            </a:extLst>
          </p:cNvPr>
          <p:cNvSpPr>
            <a:spLocks noGrp="1"/>
          </p:cNvSpPr>
          <p:nvPr>
            <p:ph type="sldNum" sz="quarter" idx="4"/>
          </p:nvPr>
        </p:nvSpPr>
        <p:spPr/>
        <p:txBody>
          <a:bodyPr/>
          <a:lstStyle/>
          <a:p>
            <a:pPr algn="ctr"/>
            <a:fld id="{933A556B-7C63-244D-9B7C-B0EA8042B330}" type="slidenum">
              <a:rPr lang="en-US" smtClean="0"/>
              <a:pPr algn="ctr"/>
              <a:t>25</a:t>
            </a:fld>
            <a:endParaRPr lang="en-US"/>
          </a:p>
        </p:txBody>
      </p:sp>
      <p:sp>
        <p:nvSpPr>
          <p:cNvPr id="3" name="Title 2">
            <a:extLst>
              <a:ext uri="{FF2B5EF4-FFF2-40B4-BE49-F238E27FC236}">
                <a16:creationId xmlns:a16="http://schemas.microsoft.com/office/drawing/2014/main" id="{225D76F4-CE8E-F805-A4EF-F37965E8505B}"/>
              </a:ext>
            </a:extLst>
          </p:cNvPr>
          <p:cNvSpPr>
            <a:spLocks noGrp="1"/>
          </p:cNvSpPr>
          <p:nvPr>
            <p:ph type="title"/>
          </p:nvPr>
        </p:nvSpPr>
        <p:spPr/>
        <p:txBody>
          <a:bodyPr/>
          <a:lstStyle/>
          <a:p>
            <a:r>
              <a:rPr lang="en-US">
                <a:solidFill>
                  <a:srgbClr val="000000"/>
                </a:solidFill>
                <a:latin typeface="Arial"/>
                <a:cs typeface="Arial"/>
              </a:rPr>
              <a:t>Phoebus Operator Toolkit</a:t>
            </a:r>
            <a:endParaRPr lang="en-US"/>
          </a:p>
        </p:txBody>
      </p:sp>
      <p:sp>
        <p:nvSpPr>
          <p:cNvPr id="4" name="Text Placeholder 3">
            <a:extLst>
              <a:ext uri="{FF2B5EF4-FFF2-40B4-BE49-F238E27FC236}">
                <a16:creationId xmlns:a16="http://schemas.microsoft.com/office/drawing/2014/main" id="{3207DC41-1C0D-1214-02BE-B2CCB3FEC56A}"/>
              </a:ext>
            </a:extLst>
          </p:cNvPr>
          <p:cNvSpPr>
            <a:spLocks noGrp="1"/>
          </p:cNvSpPr>
          <p:nvPr>
            <p:ph type="body" sz="quarter" idx="10"/>
          </p:nvPr>
        </p:nvSpPr>
        <p:spPr>
          <a:xfrm>
            <a:off x="461963" y="981075"/>
            <a:ext cx="11284408" cy="5065713"/>
          </a:xfrm>
        </p:spPr>
        <p:txBody>
          <a:bodyPr vert="horz" lIns="91440" tIns="45720" rIns="91440" bIns="45720" rtlCol="0" anchor="t">
            <a:normAutofit fontScale="85000" lnSpcReduction="20000"/>
          </a:bodyPr>
          <a:lstStyle/>
          <a:p>
            <a:pPr>
              <a:lnSpc>
                <a:spcPct val="110000"/>
              </a:lnSpc>
            </a:pPr>
            <a:r>
              <a:rPr lang="en-US" b="1">
                <a:solidFill>
                  <a:srgbClr val="000000"/>
                </a:solidFill>
                <a:ea typeface="+mn-lt"/>
                <a:cs typeface="+mn-lt"/>
              </a:rPr>
              <a:t>Display Builder:</a:t>
            </a:r>
            <a:r>
              <a:rPr lang="en-US">
                <a:solidFill>
                  <a:srgbClr val="000000"/>
                </a:solidFill>
                <a:ea typeface="+mn-lt"/>
                <a:cs typeface="+mn-lt"/>
              </a:rPr>
              <a:t> OPI/HMI editor and runtime with alarm awareness, units, and precision. Supports legacy display migration (EDM, MEDM, BOY auto-conversion) and web-based runtime execution.</a:t>
            </a:r>
            <a:endParaRPr lang="en-US">
              <a:cs typeface="Arial"/>
            </a:endParaRPr>
          </a:p>
          <a:p>
            <a:pPr>
              <a:lnSpc>
                <a:spcPct val="110000"/>
              </a:lnSpc>
            </a:pPr>
            <a:r>
              <a:rPr lang="en-US" b="1">
                <a:solidFill>
                  <a:srgbClr val="000000"/>
                </a:solidFill>
                <a:ea typeface="+mn-lt"/>
                <a:cs typeface="+mn-lt"/>
              </a:rPr>
              <a:t>Data Browser:</a:t>
            </a:r>
            <a:r>
              <a:rPr lang="en-US">
                <a:solidFill>
                  <a:srgbClr val="000000"/>
                </a:solidFill>
                <a:ea typeface="+mn-lt"/>
                <a:cs typeface="+mn-lt"/>
              </a:rPr>
              <a:t> Trending across multiple archive providers (Archiver Appliance, RDB, TimescaleDB). Enables correlation analysis with live PV values in unified plotting environment.</a:t>
            </a:r>
            <a:endParaRPr lang="en-US">
              <a:cs typeface="Arial" panose="020B0604020202020204"/>
            </a:endParaRPr>
          </a:p>
          <a:p>
            <a:pPr>
              <a:lnSpc>
                <a:spcPct val="110000"/>
              </a:lnSpc>
            </a:pPr>
            <a:r>
              <a:rPr lang="en-US" b="1">
                <a:solidFill>
                  <a:srgbClr val="000000"/>
                </a:solidFill>
                <a:ea typeface="+mn-lt"/>
                <a:cs typeface="+mn-lt"/>
              </a:rPr>
              <a:t>Alarm UI:</a:t>
            </a:r>
            <a:r>
              <a:rPr lang="en-US">
                <a:solidFill>
                  <a:srgbClr val="000000"/>
                </a:solidFill>
                <a:ea typeface="+mn-lt"/>
                <a:cs typeface="+mn-lt"/>
              </a:rPr>
              <a:t> Real-time alarm monitoring with high-level overviews, alarm tables, hierarchical trees, and voice annunciator. Ensures critical conditions are surfaced and managed efficiently.</a:t>
            </a:r>
            <a:endParaRPr lang="en-US">
              <a:cs typeface="Arial" panose="020B0604020202020204"/>
            </a:endParaRPr>
          </a:p>
          <a:p>
            <a:pPr>
              <a:lnSpc>
                <a:spcPct val="110000"/>
              </a:lnSpc>
            </a:pPr>
            <a:r>
              <a:rPr lang="en-US" b="1">
                <a:solidFill>
                  <a:srgbClr val="000000"/>
                </a:solidFill>
                <a:ea typeface="+mn-lt"/>
                <a:cs typeface="+mn-lt"/>
              </a:rPr>
              <a:t>Olog (Logbook UI):</a:t>
            </a:r>
            <a:r>
              <a:rPr lang="en-US">
                <a:solidFill>
                  <a:srgbClr val="000000"/>
                </a:solidFill>
                <a:ea typeface="+mn-lt"/>
                <a:cs typeface="+mn-lt"/>
              </a:rPr>
              <a:t> Structured operator logging with automatic PV/alarm/timestamp context capture. Integrated within Phoebus for seamless workflow documentation.</a:t>
            </a:r>
            <a:endParaRPr lang="en-US">
              <a:cs typeface="Arial" panose="020B0604020202020204"/>
            </a:endParaRPr>
          </a:p>
          <a:p>
            <a:pPr>
              <a:lnSpc>
                <a:spcPct val="110000"/>
              </a:lnSpc>
            </a:pPr>
            <a:r>
              <a:rPr lang="en-US" b="1">
                <a:solidFill>
                  <a:srgbClr val="000000"/>
                </a:solidFill>
                <a:ea typeface="+mn-lt"/>
                <a:cs typeface="+mn-lt"/>
              </a:rPr>
              <a:t>PV Utilities:</a:t>
            </a:r>
            <a:r>
              <a:rPr lang="en-US">
                <a:solidFill>
                  <a:srgbClr val="000000"/>
                </a:solidFill>
                <a:ea typeface="+mn-lt"/>
                <a:cs typeface="+mn-lt"/>
              </a:rPr>
              <a:t> Probe for detailed introspection, PV Table for monitoring and save/restore groups, PV Tree for record linkages. Support diagnostics and day-to-day operations.</a:t>
            </a:r>
            <a:endParaRPr lang="en-US">
              <a:cs typeface="Arial" panose="020B0604020202020204"/>
            </a:endParaRPr>
          </a:p>
          <a:p>
            <a:pPr>
              <a:lnSpc>
                <a:spcPct val="110000"/>
              </a:lnSpc>
            </a:pPr>
            <a:r>
              <a:rPr lang="en-US" b="1">
                <a:ea typeface="+mn-lt"/>
                <a:cs typeface="+mn-lt"/>
              </a:rPr>
              <a:t>ChannelFinder Client:</a:t>
            </a:r>
            <a:r>
              <a:rPr lang="en-US">
                <a:ea typeface="+mn-lt"/>
                <a:cs typeface="+mn-lt"/>
              </a:rPr>
              <a:t> Fast, case-insensitive PV discovery with metadata search (IOC host, record type, status). Hierarchical views improve navigability of flat EPICS namespace.</a:t>
            </a:r>
            <a:endParaRPr lang="en-US">
              <a:cs typeface="Arial" panose="020B0604020202020204"/>
            </a:endParaRPr>
          </a:p>
          <a:p>
            <a:pPr>
              <a:lnSpc>
                <a:spcPct val="110000"/>
              </a:lnSpc>
            </a:pPr>
            <a:r>
              <a:rPr lang="en-US" b="1">
                <a:ea typeface="+mn-lt"/>
                <a:cs typeface="+mn-lt"/>
              </a:rPr>
              <a:t>Save/Restore UI:</a:t>
            </a:r>
            <a:r>
              <a:rPr lang="en-US">
                <a:ea typeface="+mn-lt"/>
                <a:cs typeface="+mn-lt"/>
              </a:rPr>
              <a:t> Snapshot capture, versioning, and restoration with merge/scale capabilities. Enables reproducible operations and rapid recovery from configuration changes.</a:t>
            </a:r>
            <a:endParaRPr lang="en-US"/>
          </a:p>
        </p:txBody>
      </p:sp>
      <p:sp>
        <p:nvSpPr>
          <p:cNvPr id="5" name="object 3">
            <a:extLst>
              <a:ext uri="{FF2B5EF4-FFF2-40B4-BE49-F238E27FC236}">
                <a16:creationId xmlns:a16="http://schemas.microsoft.com/office/drawing/2014/main" id="{30DCEEAE-6DEF-DB63-53C6-49CB56F879E0}"/>
              </a:ext>
            </a:extLst>
          </p:cNvPr>
          <p:cNvSpPr/>
          <p:nvPr/>
        </p:nvSpPr>
        <p:spPr>
          <a:xfrm>
            <a:off x="10462745" y="571938"/>
            <a:ext cx="1500299" cy="318021"/>
          </a:xfrm>
          <a:custGeom>
            <a:avLst/>
            <a:gdLst/>
            <a:ahLst/>
            <a:cxnLst/>
            <a:rect l="l" t="t" r="r" b="b"/>
            <a:pathLst>
              <a:path w="1466850" h="361950">
                <a:moveTo>
                  <a:pt x="1406525" y="0"/>
                </a:moveTo>
                <a:lnTo>
                  <a:pt x="60325" y="0"/>
                </a:lnTo>
                <a:lnTo>
                  <a:pt x="36861" y="4746"/>
                </a:lnTo>
                <a:lnTo>
                  <a:pt x="17684" y="17684"/>
                </a:lnTo>
                <a:lnTo>
                  <a:pt x="4746" y="36861"/>
                </a:lnTo>
                <a:lnTo>
                  <a:pt x="0" y="60325"/>
                </a:lnTo>
                <a:lnTo>
                  <a:pt x="0" y="301625"/>
                </a:lnTo>
                <a:lnTo>
                  <a:pt x="4746" y="325088"/>
                </a:lnTo>
                <a:lnTo>
                  <a:pt x="17684" y="344265"/>
                </a:lnTo>
                <a:lnTo>
                  <a:pt x="36861" y="357203"/>
                </a:lnTo>
                <a:lnTo>
                  <a:pt x="60325" y="361950"/>
                </a:lnTo>
                <a:lnTo>
                  <a:pt x="1406525" y="361950"/>
                </a:lnTo>
                <a:lnTo>
                  <a:pt x="1429988" y="357203"/>
                </a:lnTo>
                <a:lnTo>
                  <a:pt x="1449165" y="344265"/>
                </a:lnTo>
                <a:lnTo>
                  <a:pt x="1462103" y="325088"/>
                </a:lnTo>
                <a:lnTo>
                  <a:pt x="1466850" y="301625"/>
                </a:lnTo>
                <a:lnTo>
                  <a:pt x="1466850" y="60325"/>
                </a:lnTo>
                <a:lnTo>
                  <a:pt x="1462103" y="36861"/>
                </a:lnTo>
                <a:lnTo>
                  <a:pt x="1449165" y="17684"/>
                </a:lnTo>
                <a:lnTo>
                  <a:pt x="1429988" y="4746"/>
                </a:lnTo>
                <a:lnTo>
                  <a:pt x="1406525" y="0"/>
                </a:lnTo>
                <a:close/>
              </a:path>
            </a:pathLst>
          </a:custGeom>
          <a:solidFill>
            <a:srgbClr val="0070C0"/>
          </a:solid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800" spc="-10">
                <a:solidFill>
                  <a:srgbClr val="FFFFFF"/>
                </a:solidFill>
                <a:latin typeface="Arial"/>
                <a:cs typeface="Arial"/>
              </a:rPr>
              <a:t>Charge</a:t>
            </a:r>
            <a:r>
              <a:rPr lang="en-US" spc="-80">
                <a:solidFill>
                  <a:srgbClr val="FFFFFF"/>
                </a:solidFill>
                <a:latin typeface="Arial"/>
                <a:cs typeface="Arial"/>
              </a:rPr>
              <a:t> #1,3,7</a:t>
            </a:r>
            <a:endParaRPr lang="en-US">
              <a:solidFill>
                <a:srgbClr val="FFFFFF"/>
              </a:solidFill>
              <a:cs typeface="Arial"/>
            </a:endParaRPr>
          </a:p>
        </p:txBody>
      </p:sp>
    </p:spTree>
    <p:extLst>
      <p:ext uri="{BB962C8B-B14F-4D97-AF65-F5344CB8AC3E}">
        <p14:creationId xmlns:p14="http://schemas.microsoft.com/office/powerpoint/2010/main" val="5390194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F9ED8-CFF7-EB5E-1A85-ED2869E6DA5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919B105-2E3D-C961-9874-3B0B3FA0D61F}"/>
              </a:ext>
            </a:extLst>
          </p:cNvPr>
          <p:cNvSpPr>
            <a:spLocks noGrp="1"/>
          </p:cNvSpPr>
          <p:nvPr>
            <p:ph type="sldNum" sz="quarter" idx="4"/>
          </p:nvPr>
        </p:nvSpPr>
        <p:spPr/>
        <p:txBody>
          <a:bodyPr/>
          <a:lstStyle/>
          <a:p>
            <a:pPr algn="ctr"/>
            <a:fld id="{933A556B-7C63-244D-9B7C-B0EA8042B330}" type="slidenum">
              <a:rPr lang="en-US" smtClean="0"/>
              <a:pPr algn="ctr"/>
              <a:t>26</a:t>
            </a:fld>
            <a:endParaRPr lang="en-US"/>
          </a:p>
        </p:txBody>
      </p:sp>
      <p:sp>
        <p:nvSpPr>
          <p:cNvPr id="3" name="Title 2">
            <a:extLst>
              <a:ext uri="{FF2B5EF4-FFF2-40B4-BE49-F238E27FC236}">
                <a16:creationId xmlns:a16="http://schemas.microsoft.com/office/drawing/2014/main" id="{453C5E20-5983-FF58-BA87-D73FA90AEF69}"/>
              </a:ext>
            </a:extLst>
          </p:cNvPr>
          <p:cNvSpPr>
            <a:spLocks noGrp="1"/>
          </p:cNvSpPr>
          <p:nvPr>
            <p:ph type="title"/>
          </p:nvPr>
        </p:nvSpPr>
        <p:spPr/>
        <p:txBody>
          <a:bodyPr/>
          <a:lstStyle/>
          <a:p>
            <a:r>
              <a:rPr lang="en-US">
                <a:ea typeface="+mn-lt"/>
                <a:cs typeface="+mn-lt"/>
              </a:rPr>
              <a:t>Web Tools</a:t>
            </a:r>
            <a:endParaRPr lang="en-US"/>
          </a:p>
        </p:txBody>
      </p:sp>
      <p:sp>
        <p:nvSpPr>
          <p:cNvPr id="4" name="Text Placeholder 3">
            <a:extLst>
              <a:ext uri="{FF2B5EF4-FFF2-40B4-BE49-F238E27FC236}">
                <a16:creationId xmlns:a16="http://schemas.microsoft.com/office/drawing/2014/main" id="{6DF35738-3E5F-85B7-D328-5D976D39897C}"/>
              </a:ext>
            </a:extLst>
          </p:cNvPr>
          <p:cNvSpPr>
            <a:spLocks noGrp="1"/>
          </p:cNvSpPr>
          <p:nvPr>
            <p:ph type="body" sz="quarter" idx="10"/>
          </p:nvPr>
        </p:nvSpPr>
        <p:spPr>
          <a:xfrm>
            <a:off x="461963" y="981075"/>
            <a:ext cx="3513229" cy="5065713"/>
          </a:xfrm>
        </p:spPr>
        <p:txBody>
          <a:bodyPr vert="horz" lIns="91440" tIns="45720" rIns="91440" bIns="45720" rtlCol="0" anchor="t">
            <a:normAutofit fontScale="70000" lnSpcReduction="20000"/>
          </a:bodyPr>
          <a:lstStyle/>
          <a:p>
            <a:pPr>
              <a:lnSpc>
                <a:spcPct val="120000"/>
              </a:lnSpc>
            </a:pPr>
            <a:r>
              <a:rPr lang="en-US">
                <a:cs typeface="Arial"/>
              </a:rPr>
              <a:t>Why web applications are needed:</a:t>
            </a:r>
          </a:p>
          <a:p>
            <a:pPr lvl="1" indent="-342900">
              <a:lnSpc>
                <a:spcPct val="120000"/>
              </a:lnSpc>
            </a:pPr>
            <a:r>
              <a:rPr lang="en-US">
                <a:cs typeface="Arial"/>
              </a:rPr>
              <a:t>Phoebus desktop remains the rich operator environment for integrated control-room workflows</a:t>
            </a:r>
          </a:p>
          <a:p>
            <a:pPr lvl="1" indent="-342900">
              <a:lnSpc>
                <a:spcPct val="120000"/>
              </a:lnSpc>
            </a:pPr>
            <a:r>
              <a:rPr lang="en-US">
                <a:cs typeface="Arial"/>
              </a:rPr>
              <a:t>Web tools complement desktop with easier access, flexible deployment, and lightweight views for broader users</a:t>
            </a:r>
          </a:p>
          <a:p>
            <a:pPr>
              <a:lnSpc>
                <a:spcPct val="120000"/>
              </a:lnSpc>
            </a:pPr>
            <a:r>
              <a:rPr lang="en-US">
                <a:cs typeface="Arial"/>
              </a:rPr>
              <a:t>EIC web tools:</a:t>
            </a:r>
          </a:p>
          <a:p>
            <a:pPr lvl="1" indent="-342900">
              <a:lnSpc>
                <a:spcPct val="120000"/>
              </a:lnSpc>
            </a:pPr>
            <a:r>
              <a:rPr lang="en-US">
                <a:cs typeface="Arial"/>
              </a:rPr>
              <a:t>`pvws` and `dbwr`: WebSocket-based toolkit for displaying controls information on web pages and archive-oriented views</a:t>
            </a:r>
          </a:p>
          <a:p>
            <a:pPr lvl="1" indent="-342900">
              <a:lnSpc>
                <a:spcPct val="120000"/>
              </a:lnSpc>
            </a:pPr>
            <a:r>
              <a:rPr lang="en-US">
                <a:cs typeface="Arial"/>
              </a:rPr>
              <a:t>Web clients for Olog, `etraveller`, and component database workflows</a:t>
            </a:r>
          </a:p>
          <a:p>
            <a:pPr lvl="1" indent="-342900">
              <a:lnSpc>
                <a:spcPct val="120000"/>
              </a:lnSpc>
            </a:pPr>
            <a:r>
              <a:rPr lang="en-US">
                <a:cs typeface="Arial"/>
              </a:rPr>
              <a:t>`pvinfo`: web/CLI PV metadata and connection-status lookup</a:t>
            </a:r>
          </a:p>
          <a:p>
            <a:pPr>
              <a:lnSpc>
                <a:spcPct val="120000"/>
              </a:lnSpc>
            </a:pPr>
            <a:endParaRPr lang="en-US">
              <a:cs typeface="Arial"/>
            </a:endParaRPr>
          </a:p>
        </p:txBody>
      </p:sp>
      <p:sp>
        <p:nvSpPr>
          <p:cNvPr id="5" name="object 3">
            <a:extLst>
              <a:ext uri="{FF2B5EF4-FFF2-40B4-BE49-F238E27FC236}">
                <a16:creationId xmlns:a16="http://schemas.microsoft.com/office/drawing/2014/main" id="{322610CF-79F3-32C5-6FAF-993FF43DAA5A}"/>
              </a:ext>
            </a:extLst>
          </p:cNvPr>
          <p:cNvSpPr/>
          <p:nvPr/>
        </p:nvSpPr>
        <p:spPr>
          <a:xfrm>
            <a:off x="10511591" y="571938"/>
            <a:ext cx="1451453" cy="318021"/>
          </a:xfrm>
          <a:custGeom>
            <a:avLst/>
            <a:gdLst/>
            <a:ahLst/>
            <a:cxnLst/>
            <a:rect l="l" t="t" r="r" b="b"/>
            <a:pathLst>
              <a:path w="1466850" h="361950">
                <a:moveTo>
                  <a:pt x="1406525" y="0"/>
                </a:moveTo>
                <a:lnTo>
                  <a:pt x="60325" y="0"/>
                </a:lnTo>
                <a:lnTo>
                  <a:pt x="36861" y="4746"/>
                </a:lnTo>
                <a:lnTo>
                  <a:pt x="17684" y="17684"/>
                </a:lnTo>
                <a:lnTo>
                  <a:pt x="4746" y="36861"/>
                </a:lnTo>
                <a:lnTo>
                  <a:pt x="0" y="60325"/>
                </a:lnTo>
                <a:lnTo>
                  <a:pt x="0" y="301625"/>
                </a:lnTo>
                <a:lnTo>
                  <a:pt x="4746" y="325088"/>
                </a:lnTo>
                <a:lnTo>
                  <a:pt x="17684" y="344265"/>
                </a:lnTo>
                <a:lnTo>
                  <a:pt x="36861" y="357203"/>
                </a:lnTo>
                <a:lnTo>
                  <a:pt x="60325" y="361950"/>
                </a:lnTo>
                <a:lnTo>
                  <a:pt x="1406525" y="361950"/>
                </a:lnTo>
                <a:lnTo>
                  <a:pt x="1429988" y="357203"/>
                </a:lnTo>
                <a:lnTo>
                  <a:pt x="1449165" y="344265"/>
                </a:lnTo>
                <a:lnTo>
                  <a:pt x="1462103" y="325088"/>
                </a:lnTo>
                <a:lnTo>
                  <a:pt x="1466850" y="301625"/>
                </a:lnTo>
                <a:lnTo>
                  <a:pt x="1466850" y="60325"/>
                </a:lnTo>
                <a:lnTo>
                  <a:pt x="1462103" y="36861"/>
                </a:lnTo>
                <a:lnTo>
                  <a:pt x="1449165" y="17684"/>
                </a:lnTo>
                <a:lnTo>
                  <a:pt x="1429988" y="4746"/>
                </a:lnTo>
                <a:lnTo>
                  <a:pt x="1406525" y="0"/>
                </a:lnTo>
                <a:close/>
              </a:path>
            </a:pathLst>
          </a:custGeom>
          <a:solidFill>
            <a:srgbClr val="0070C0"/>
          </a:solid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solidFill>
                  <a:srgbClr val="FFFFFF"/>
                </a:solidFill>
                <a:latin typeface="Arial"/>
                <a:cs typeface="Arial"/>
              </a:rPr>
              <a:t>Charge #1,3,7</a:t>
            </a:r>
          </a:p>
          <a:p>
            <a:pPr algn="ctr"/>
            <a:endParaRPr lang="en-US">
              <a:solidFill>
                <a:srgbClr val="FFFFFF"/>
              </a:solidFill>
              <a:cs typeface="Arial"/>
            </a:endParaRPr>
          </a:p>
        </p:txBody>
      </p:sp>
      <p:pic>
        <p:nvPicPr>
          <p:cNvPr id="6" name="Picture 5">
            <a:extLst>
              <a:ext uri="{FF2B5EF4-FFF2-40B4-BE49-F238E27FC236}">
                <a16:creationId xmlns:a16="http://schemas.microsoft.com/office/drawing/2014/main" id="{5A5E93B3-948A-7171-E720-021CE0412013}"/>
              </a:ext>
            </a:extLst>
          </p:cNvPr>
          <p:cNvPicPr>
            <a:picLocks noChangeAspect="1"/>
          </p:cNvPicPr>
          <p:nvPr/>
        </p:nvPicPr>
        <p:blipFill>
          <a:blip r:embed="rId3"/>
          <a:stretch>
            <a:fillRect/>
          </a:stretch>
        </p:blipFill>
        <p:spPr>
          <a:xfrm>
            <a:off x="3978543" y="891396"/>
            <a:ext cx="6679067" cy="5305245"/>
          </a:xfrm>
          <a:prstGeom prst="rect">
            <a:avLst/>
          </a:prstGeom>
        </p:spPr>
      </p:pic>
      <p:pic>
        <p:nvPicPr>
          <p:cNvPr id="8" name="Picture 7">
            <a:extLst>
              <a:ext uri="{FF2B5EF4-FFF2-40B4-BE49-F238E27FC236}">
                <a16:creationId xmlns:a16="http://schemas.microsoft.com/office/drawing/2014/main" id="{1F52391B-474F-0DB8-BE23-D5B81E8C9AF3}"/>
              </a:ext>
            </a:extLst>
          </p:cNvPr>
          <p:cNvPicPr>
            <a:picLocks noChangeAspect="1"/>
          </p:cNvPicPr>
          <p:nvPr/>
        </p:nvPicPr>
        <p:blipFill>
          <a:blip r:embed="rId4"/>
          <a:stretch>
            <a:fillRect/>
          </a:stretch>
        </p:blipFill>
        <p:spPr>
          <a:xfrm>
            <a:off x="7743164" y="3033622"/>
            <a:ext cx="4002183" cy="3163019"/>
          </a:xfrm>
          <a:prstGeom prst="rect">
            <a:avLst/>
          </a:prstGeom>
        </p:spPr>
      </p:pic>
    </p:spTree>
    <p:extLst>
      <p:ext uri="{BB962C8B-B14F-4D97-AF65-F5344CB8AC3E}">
        <p14:creationId xmlns:p14="http://schemas.microsoft.com/office/powerpoint/2010/main" val="10775226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C8B41-6865-589E-CDA7-A8E1C7599F9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A8D53FB-0F04-F3B4-EB3B-7927B4C91866}"/>
              </a:ext>
            </a:extLst>
          </p:cNvPr>
          <p:cNvSpPr>
            <a:spLocks noGrp="1"/>
          </p:cNvSpPr>
          <p:nvPr>
            <p:ph type="title"/>
          </p:nvPr>
        </p:nvSpPr>
        <p:spPr/>
        <p:txBody>
          <a:bodyPr>
            <a:normAutofit/>
          </a:bodyPr>
          <a:lstStyle/>
          <a:p>
            <a:r>
              <a:rPr lang="en-US">
                <a:solidFill>
                  <a:srgbClr val="000000"/>
                </a:solidFill>
                <a:latin typeface="Arial"/>
                <a:ea typeface="+mn-lt"/>
                <a:cs typeface="+mn-lt"/>
              </a:rPr>
              <a:t>QA/QC</a:t>
            </a:r>
            <a:endParaRPr lang="en-US">
              <a:cs typeface="Arial"/>
            </a:endParaRPr>
          </a:p>
        </p:txBody>
      </p:sp>
      <p:sp>
        <p:nvSpPr>
          <p:cNvPr id="4" name="Text Placeholder 3">
            <a:extLst>
              <a:ext uri="{FF2B5EF4-FFF2-40B4-BE49-F238E27FC236}">
                <a16:creationId xmlns:a16="http://schemas.microsoft.com/office/drawing/2014/main" id="{63FE36BD-7907-0111-E2C7-370002EB6C35}"/>
              </a:ext>
            </a:extLst>
          </p:cNvPr>
          <p:cNvSpPr>
            <a:spLocks noGrp="1"/>
          </p:cNvSpPr>
          <p:nvPr>
            <p:ph sz="half" idx="1"/>
          </p:nvPr>
        </p:nvSpPr>
        <p:spPr>
          <a:xfrm>
            <a:off x="462579" y="975360"/>
            <a:ext cx="11276370" cy="3399887"/>
          </a:xfrm>
        </p:spPr>
        <p:txBody>
          <a:bodyPr vert="horz" lIns="91440" tIns="45720" rIns="91440" bIns="45720" rtlCol="0" anchor="t">
            <a:normAutofit fontScale="70000" lnSpcReduction="20000"/>
          </a:bodyPr>
          <a:lstStyle/>
          <a:p>
            <a:pPr marL="0" indent="0">
              <a:lnSpc>
                <a:spcPct val="100000"/>
              </a:lnSpc>
              <a:buNone/>
            </a:pPr>
            <a:r>
              <a:rPr lang="en-US">
                <a:solidFill>
                  <a:srgbClr val="000000"/>
                </a:solidFill>
                <a:latin typeface="Arial"/>
                <a:cs typeface="Arial"/>
              </a:rPr>
              <a:t>How QA/QC is embedded into code review, unit tests, and integration tests before changes reach operations.</a:t>
            </a:r>
            <a:endParaRPr lang="en-US">
              <a:latin typeface="Arial"/>
              <a:cs typeface="Arial"/>
            </a:endParaRPr>
          </a:p>
          <a:p>
            <a:pPr>
              <a:lnSpc>
                <a:spcPct val="100000"/>
              </a:lnSpc>
            </a:pPr>
            <a:r>
              <a:rPr lang="en-US">
                <a:solidFill>
                  <a:srgbClr val="000000"/>
                </a:solidFill>
                <a:latin typeface="Arial"/>
                <a:cs typeface="Arial"/>
              </a:rPr>
              <a:t>QA/QC control points:</a:t>
            </a:r>
          </a:p>
          <a:p>
            <a:pPr lvl="1">
              <a:lnSpc>
                <a:spcPct val="100000"/>
              </a:lnSpc>
            </a:pPr>
            <a:r>
              <a:rPr lang="en-US" sz="1700">
                <a:solidFill>
                  <a:srgbClr val="000000"/>
                </a:solidFill>
                <a:latin typeface="Arial"/>
                <a:cs typeface="Arial"/>
              </a:rPr>
              <a:t>Code review gates: pull request templates, review checklists, and mandatory approvals enforce design and safety expectations before any change is merged.</a:t>
            </a:r>
          </a:p>
          <a:p>
            <a:pPr lvl="1">
              <a:lnSpc>
                <a:spcPct val="100000"/>
              </a:lnSpc>
            </a:pPr>
            <a:r>
              <a:rPr lang="en-US" sz="1700">
                <a:solidFill>
                  <a:srgbClr val="000000"/>
                </a:solidFill>
                <a:latin typeface="Arial"/>
                <a:cs typeface="Arial"/>
              </a:rPr>
              <a:t>Unit tests: per-component build validation, syntax checks, and schema conformance gates run automatically on each change before merge — catching individual component regressions early.</a:t>
            </a:r>
          </a:p>
          <a:p>
            <a:pPr lvl="1">
              <a:lnSpc>
                <a:spcPct val="100000"/>
              </a:lnSpc>
            </a:pPr>
            <a:r>
              <a:rPr lang="en-US" sz="1700">
                <a:solidFill>
                  <a:srgbClr val="000000"/>
                </a:solidFill>
                <a:latin typeface="Arial"/>
                <a:cs typeface="Arial"/>
              </a:rPr>
              <a:t>Integration tests: post-merge deployment into a controlled test environment validates that components interact correctly — IOC + gateway + service stack behavior tested together before promotion.</a:t>
            </a:r>
          </a:p>
          <a:p>
            <a:pPr lvl="1">
              <a:lnSpc>
                <a:spcPct val="100000"/>
              </a:lnSpc>
            </a:pPr>
            <a:r>
              <a:rPr lang="en-US" sz="1700">
                <a:solidFill>
                  <a:srgbClr val="000000"/>
                </a:solidFill>
                <a:latin typeface="Arial"/>
                <a:cs typeface="Arial"/>
              </a:rPr>
              <a:t>Promotion gates: release to operations only after both unit and integration test suites pass, with artifact traceability linking each deployed version to its validated test record.</a:t>
            </a:r>
            <a:endParaRPr lang="en-US" sz="1700">
              <a:cs typeface="Arial"/>
            </a:endParaRPr>
          </a:p>
          <a:p>
            <a:pPr>
              <a:lnSpc>
                <a:spcPct val="100000"/>
              </a:lnSpc>
            </a:pPr>
            <a:r>
              <a:rPr lang="en-US">
                <a:solidFill>
                  <a:srgbClr val="000000"/>
                </a:solidFill>
                <a:latin typeface="Arial"/>
                <a:cs typeface="Arial"/>
              </a:rPr>
              <a:t>Dev/test environment enablement:</a:t>
            </a:r>
          </a:p>
          <a:p>
            <a:pPr lvl="1" indent="-342900">
              <a:lnSpc>
                <a:spcPct val="100000"/>
              </a:lnSpc>
            </a:pPr>
            <a:r>
              <a:rPr lang="en-US" sz="1700">
                <a:solidFill>
                  <a:srgbClr val="000000"/>
                </a:solidFill>
                <a:latin typeface="Arial"/>
                <a:cs typeface="Arial"/>
              </a:rPr>
              <a:t>Rapid environment setup from versioned automation definitions</a:t>
            </a:r>
          </a:p>
          <a:p>
            <a:pPr lvl="1" indent="-342900">
              <a:lnSpc>
                <a:spcPct val="100000"/>
              </a:lnSpc>
            </a:pPr>
            <a:r>
              <a:rPr lang="en-US" sz="1700">
                <a:solidFill>
                  <a:srgbClr val="000000"/>
                </a:solidFill>
                <a:latin typeface="Arial"/>
                <a:cs typeface="Arial"/>
              </a:rPr>
              <a:t>Reproducible test conditions across team members and subsystems</a:t>
            </a:r>
          </a:p>
          <a:p>
            <a:pPr lvl="1" indent="-342900">
              <a:lnSpc>
                <a:spcPct val="100000"/>
              </a:lnSpc>
            </a:pPr>
            <a:r>
              <a:rPr lang="en-US" sz="1700">
                <a:solidFill>
                  <a:srgbClr val="000000"/>
                </a:solidFill>
                <a:latin typeface="Arial"/>
                <a:cs typeface="Arial"/>
              </a:rPr>
              <a:t>Faster defect isolation and higher confidence before production rollout</a:t>
            </a:r>
          </a:p>
        </p:txBody>
      </p:sp>
      <p:sp>
        <p:nvSpPr>
          <p:cNvPr id="2" name="Slide Number Placeholder 1">
            <a:extLst>
              <a:ext uri="{FF2B5EF4-FFF2-40B4-BE49-F238E27FC236}">
                <a16:creationId xmlns:a16="http://schemas.microsoft.com/office/drawing/2014/main" id="{A4C76E0A-9B39-2638-B628-7BE02B5250E2}"/>
              </a:ext>
            </a:extLst>
          </p:cNvPr>
          <p:cNvSpPr>
            <a:spLocks noGrp="1"/>
          </p:cNvSpPr>
          <p:nvPr>
            <p:ph type="sldNum" sz="quarter" idx="4"/>
          </p:nvPr>
        </p:nvSpPr>
        <p:spPr/>
        <p:txBody>
          <a:bodyPr/>
          <a:lstStyle/>
          <a:p>
            <a:pPr algn="ctr"/>
            <a:fld id="{933A556B-7C63-244D-9B7C-B0EA8042B330}" type="slidenum">
              <a:rPr lang="en-US" smtClean="0"/>
              <a:pPr algn="ctr"/>
              <a:t>27</a:t>
            </a:fld>
            <a:endParaRPr lang="en-US"/>
          </a:p>
        </p:txBody>
      </p:sp>
      <p:sp>
        <p:nvSpPr>
          <p:cNvPr id="5" name="object 3">
            <a:extLst>
              <a:ext uri="{FF2B5EF4-FFF2-40B4-BE49-F238E27FC236}">
                <a16:creationId xmlns:a16="http://schemas.microsoft.com/office/drawing/2014/main" id="{3A673663-99A8-BEAC-096F-9B0D79DCB67C}"/>
              </a:ext>
            </a:extLst>
          </p:cNvPr>
          <p:cNvSpPr/>
          <p:nvPr/>
        </p:nvSpPr>
        <p:spPr>
          <a:xfrm>
            <a:off x="10377613" y="571938"/>
            <a:ext cx="1568684" cy="318021"/>
          </a:xfrm>
          <a:custGeom>
            <a:avLst/>
            <a:gdLst/>
            <a:ahLst/>
            <a:cxnLst/>
            <a:rect l="l" t="t" r="r" b="b"/>
            <a:pathLst>
              <a:path w="1466850" h="361950">
                <a:moveTo>
                  <a:pt x="1406525" y="0"/>
                </a:moveTo>
                <a:lnTo>
                  <a:pt x="60325" y="0"/>
                </a:lnTo>
                <a:lnTo>
                  <a:pt x="36861" y="4746"/>
                </a:lnTo>
                <a:lnTo>
                  <a:pt x="17684" y="17684"/>
                </a:lnTo>
                <a:lnTo>
                  <a:pt x="4746" y="36861"/>
                </a:lnTo>
                <a:lnTo>
                  <a:pt x="0" y="60325"/>
                </a:lnTo>
                <a:lnTo>
                  <a:pt x="0" y="301625"/>
                </a:lnTo>
                <a:lnTo>
                  <a:pt x="4746" y="325088"/>
                </a:lnTo>
                <a:lnTo>
                  <a:pt x="17684" y="344265"/>
                </a:lnTo>
                <a:lnTo>
                  <a:pt x="36861" y="357203"/>
                </a:lnTo>
                <a:lnTo>
                  <a:pt x="60325" y="361950"/>
                </a:lnTo>
                <a:lnTo>
                  <a:pt x="1406525" y="361950"/>
                </a:lnTo>
                <a:lnTo>
                  <a:pt x="1429988" y="357203"/>
                </a:lnTo>
                <a:lnTo>
                  <a:pt x="1449165" y="344265"/>
                </a:lnTo>
                <a:lnTo>
                  <a:pt x="1462103" y="325088"/>
                </a:lnTo>
                <a:lnTo>
                  <a:pt x="1466850" y="301625"/>
                </a:lnTo>
                <a:lnTo>
                  <a:pt x="1466850" y="60325"/>
                </a:lnTo>
                <a:lnTo>
                  <a:pt x="1462103" y="36861"/>
                </a:lnTo>
                <a:lnTo>
                  <a:pt x="1449165" y="17684"/>
                </a:lnTo>
                <a:lnTo>
                  <a:pt x="1429988" y="4746"/>
                </a:lnTo>
                <a:lnTo>
                  <a:pt x="1406525" y="0"/>
                </a:lnTo>
                <a:close/>
              </a:path>
            </a:pathLst>
          </a:custGeom>
          <a:solidFill>
            <a:srgbClr val="0070C0"/>
          </a:solid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800" spc="-10">
                <a:solidFill>
                  <a:srgbClr val="FFFFFF"/>
                </a:solidFill>
                <a:latin typeface="Arial"/>
                <a:cs typeface="Arial"/>
              </a:rPr>
              <a:t>Charge</a:t>
            </a:r>
            <a:r>
              <a:rPr lang="en-US" sz="1800" spc="-80">
                <a:solidFill>
                  <a:srgbClr val="FFFFFF"/>
                </a:solidFill>
                <a:latin typeface="Arial"/>
                <a:cs typeface="Arial"/>
              </a:rPr>
              <a:t> </a:t>
            </a:r>
            <a:r>
              <a:rPr lang="en-US" sz="1800">
                <a:solidFill>
                  <a:srgbClr val="FFFFFF"/>
                </a:solidFill>
                <a:latin typeface="Arial"/>
                <a:cs typeface="Arial"/>
              </a:rPr>
              <a:t>#</a:t>
            </a:r>
            <a:r>
              <a:rPr lang="en-US">
                <a:solidFill>
                  <a:srgbClr val="FFFFFF"/>
                </a:solidFill>
                <a:latin typeface="Arial"/>
                <a:cs typeface="Arial"/>
              </a:rPr>
              <a:t>1,6,7</a:t>
            </a:r>
            <a:endParaRPr lang="en-US" strike="sngStrike">
              <a:solidFill>
                <a:srgbClr val="FFFFFF"/>
              </a:solidFill>
              <a:cs typeface="Arial"/>
            </a:endParaRPr>
          </a:p>
        </p:txBody>
      </p:sp>
      <p:pic>
        <p:nvPicPr>
          <p:cNvPr id="14" name="Content Placeholder 13">
            <a:extLst>
              <a:ext uri="{FF2B5EF4-FFF2-40B4-BE49-F238E27FC236}">
                <a16:creationId xmlns:a16="http://schemas.microsoft.com/office/drawing/2014/main" id="{C8873482-1A1C-05F5-1C47-F0516A1E3A89}"/>
              </a:ext>
            </a:extLst>
          </p:cNvPr>
          <p:cNvPicPr>
            <a:picLocks noGrp="1" noChangeAspect="1"/>
          </p:cNvPicPr>
          <p:nvPr>
            <p:ph sz="half" idx="2"/>
          </p:nvPr>
        </p:nvPicPr>
        <p:blipFill>
          <a:blip r:embed="rId3"/>
          <a:stretch>
            <a:fillRect/>
          </a:stretch>
        </p:blipFill>
        <p:spPr>
          <a:xfrm>
            <a:off x="428963" y="4154701"/>
            <a:ext cx="11561524" cy="2014767"/>
          </a:xfrm>
          <a:prstGeom prst="rect">
            <a:avLst/>
          </a:prstGeom>
        </p:spPr>
      </p:pic>
    </p:spTree>
    <p:extLst>
      <p:ext uri="{BB962C8B-B14F-4D97-AF65-F5344CB8AC3E}">
        <p14:creationId xmlns:p14="http://schemas.microsoft.com/office/powerpoint/2010/main" val="36219808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02F22-7154-9953-48A2-BB915AAB37E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40A5773-8C68-D153-BCD9-921ED21EE5B0}"/>
              </a:ext>
            </a:extLst>
          </p:cNvPr>
          <p:cNvSpPr>
            <a:spLocks noGrp="1"/>
          </p:cNvSpPr>
          <p:nvPr>
            <p:ph type="title"/>
          </p:nvPr>
        </p:nvSpPr>
        <p:spPr/>
        <p:txBody>
          <a:bodyPr/>
          <a:lstStyle/>
          <a:p>
            <a:r>
              <a:rPr lang="en-US">
                <a:ea typeface="+mn-lt"/>
                <a:cs typeface="+mn-lt"/>
              </a:rPr>
              <a:t>CI/CD and Automation Stack</a:t>
            </a:r>
            <a:endParaRPr lang="en-US"/>
          </a:p>
        </p:txBody>
      </p:sp>
      <p:sp>
        <p:nvSpPr>
          <p:cNvPr id="4" name="Text Placeholder 3">
            <a:extLst>
              <a:ext uri="{FF2B5EF4-FFF2-40B4-BE49-F238E27FC236}">
                <a16:creationId xmlns:a16="http://schemas.microsoft.com/office/drawing/2014/main" id="{587A6C42-AD46-C256-BBDF-EF5E1C1C2F3F}"/>
              </a:ext>
            </a:extLst>
          </p:cNvPr>
          <p:cNvSpPr>
            <a:spLocks noGrp="1"/>
          </p:cNvSpPr>
          <p:nvPr>
            <p:ph sz="half" idx="1"/>
          </p:nvPr>
        </p:nvSpPr>
        <p:spPr>
          <a:xfrm>
            <a:off x="462579" y="975360"/>
            <a:ext cx="11272921" cy="3220058"/>
          </a:xfrm>
        </p:spPr>
        <p:txBody>
          <a:bodyPr vert="horz" lIns="91440" tIns="45720" rIns="91440" bIns="45720" rtlCol="0" anchor="t">
            <a:normAutofit fontScale="70000" lnSpcReduction="20000"/>
          </a:bodyPr>
          <a:lstStyle/>
          <a:p>
            <a:pPr>
              <a:lnSpc>
                <a:spcPct val="110000"/>
              </a:lnSpc>
            </a:pPr>
            <a:r>
              <a:rPr lang="en-US">
                <a:cs typeface="Arial"/>
              </a:rPr>
              <a:t>CI/CD purpose for controls architecture:</a:t>
            </a:r>
          </a:p>
          <a:p>
            <a:pPr lvl="1" indent="-342900">
              <a:lnSpc>
                <a:spcPct val="110000"/>
              </a:lnSpc>
            </a:pPr>
            <a:r>
              <a:rPr lang="en-US">
                <a:cs typeface="Arial"/>
              </a:rPr>
              <a:t>Standardize delivery workflows across infrastructure, controls software, and operations tooling; reduce integration risk through automated validation and repeatable deployment steps; improve traceability from design change to deployed system state.</a:t>
            </a:r>
          </a:p>
          <a:p>
            <a:pPr>
              <a:lnSpc>
                <a:spcPct val="110000"/>
              </a:lnSpc>
            </a:pPr>
            <a:r>
              <a:rPr lang="en-US">
                <a:cs typeface="Arial"/>
              </a:rPr>
              <a:t>Change control (GitHub):</a:t>
            </a:r>
          </a:p>
          <a:p>
            <a:pPr lvl="1" indent="-342900">
              <a:lnSpc>
                <a:spcPct val="110000"/>
              </a:lnSpc>
            </a:pPr>
            <a:r>
              <a:rPr lang="en-US">
                <a:cs typeface="Arial"/>
              </a:rPr>
              <a:t>Structured collaboration through pull requests, reviews, and issue tracking; branch protection and CODEOWNERS enforce controlled change paths; full history and traceability across architecture, code, configuration, and operations assets.</a:t>
            </a:r>
          </a:p>
          <a:p>
            <a:pPr>
              <a:lnSpc>
                <a:spcPct val="110000"/>
              </a:lnSpc>
            </a:pPr>
            <a:r>
              <a:rPr lang="en-US">
                <a:cs typeface="Arial"/>
              </a:rPr>
              <a:t>Orchestration (GitHub Actions):</a:t>
            </a:r>
          </a:p>
          <a:p>
            <a:pPr lvl="1" indent="-342900">
              <a:lnSpc>
                <a:spcPct val="110000"/>
              </a:lnSpc>
            </a:pPr>
            <a:r>
              <a:rPr lang="en-US">
                <a:cs typeface="Arial"/>
              </a:rPr>
              <a:t>Automated build, test, packaging, and deployment workflows; reusable workflows reduce duplication and enforce common standards; environment-aware pipelines support development, test, and production readiness.</a:t>
            </a:r>
          </a:p>
          <a:p>
            <a:pPr>
              <a:lnSpc>
                <a:spcPct val="110000"/>
              </a:lnSpc>
            </a:pPr>
            <a:r>
              <a:rPr lang="en-US">
                <a:cs typeface="Arial"/>
              </a:rPr>
              <a:t>Operational automation (Ansible/AWX + IaC):</a:t>
            </a:r>
          </a:p>
          <a:p>
            <a:pPr lvl="1" indent="-342900">
              <a:lnSpc>
                <a:spcPct val="110000"/>
              </a:lnSpc>
            </a:pPr>
            <a:r>
              <a:rPr lang="en-US">
                <a:cs typeface="Arial"/>
              </a:rPr>
              <a:t>Ansible playbooks define desired state, AWX provides managed execution and visibility, and infrastructure-as-code keeps environment setup and updates version-controlled, reviewable, auditable, and repeatable.</a:t>
            </a:r>
          </a:p>
          <a:p>
            <a:pPr>
              <a:lnSpc>
                <a:spcPct val="110000"/>
              </a:lnSpc>
            </a:pPr>
            <a:endParaRPr lang="en-US">
              <a:cs typeface="Arial"/>
            </a:endParaRPr>
          </a:p>
        </p:txBody>
      </p:sp>
      <p:sp>
        <p:nvSpPr>
          <p:cNvPr id="2" name="Slide Number Placeholder 1">
            <a:extLst>
              <a:ext uri="{FF2B5EF4-FFF2-40B4-BE49-F238E27FC236}">
                <a16:creationId xmlns:a16="http://schemas.microsoft.com/office/drawing/2014/main" id="{E68080BB-46C2-983C-B139-A2E971683F95}"/>
              </a:ext>
            </a:extLst>
          </p:cNvPr>
          <p:cNvSpPr>
            <a:spLocks noGrp="1"/>
          </p:cNvSpPr>
          <p:nvPr>
            <p:ph type="sldNum" sz="quarter" idx="4"/>
          </p:nvPr>
        </p:nvSpPr>
        <p:spPr/>
        <p:txBody>
          <a:bodyPr/>
          <a:lstStyle/>
          <a:p>
            <a:pPr algn="ctr"/>
            <a:fld id="{933A556B-7C63-244D-9B7C-B0EA8042B330}" type="slidenum">
              <a:rPr lang="en-US" smtClean="0"/>
              <a:pPr algn="ctr"/>
              <a:t>28</a:t>
            </a:fld>
            <a:endParaRPr lang="en-US"/>
          </a:p>
        </p:txBody>
      </p:sp>
      <p:sp>
        <p:nvSpPr>
          <p:cNvPr id="5" name="object 3">
            <a:extLst>
              <a:ext uri="{FF2B5EF4-FFF2-40B4-BE49-F238E27FC236}">
                <a16:creationId xmlns:a16="http://schemas.microsoft.com/office/drawing/2014/main" id="{38580BC5-47C1-3863-86F3-426E0E2DCA41}"/>
              </a:ext>
            </a:extLst>
          </p:cNvPr>
          <p:cNvSpPr/>
          <p:nvPr/>
        </p:nvSpPr>
        <p:spPr>
          <a:xfrm>
            <a:off x="10444602" y="571938"/>
            <a:ext cx="1501695" cy="318021"/>
          </a:xfrm>
          <a:custGeom>
            <a:avLst/>
            <a:gdLst/>
            <a:ahLst/>
            <a:cxnLst/>
            <a:rect l="l" t="t" r="r" b="b"/>
            <a:pathLst>
              <a:path w="1466850" h="361950">
                <a:moveTo>
                  <a:pt x="1406525" y="0"/>
                </a:moveTo>
                <a:lnTo>
                  <a:pt x="60325" y="0"/>
                </a:lnTo>
                <a:lnTo>
                  <a:pt x="36861" y="4746"/>
                </a:lnTo>
                <a:lnTo>
                  <a:pt x="17684" y="17684"/>
                </a:lnTo>
                <a:lnTo>
                  <a:pt x="4746" y="36861"/>
                </a:lnTo>
                <a:lnTo>
                  <a:pt x="0" y="60325"/>
                </a:lnTo>
                <a:lnTo>
                  <a:pt x="0" y="301625"/>
                </a:lnTo>
                <a:lnTo>
                  <a:pt x="4746" y="325088"/>
                </a:lnTo>
                <a:lnTo>
                  <a:pt x="17684" y="344265"/>
                </a:lnTo>
                <a:lnTo>
                  <a:pt x="36861" y="357203"/>
                </a:lnTo>
                <a:lnTo>
                  <a:pt x="60325" y="361950"/>
                </a:lnTo>
                <a:lnTo>
                  <a:pt x="1406525" y="361950"/>
                </a:lnTo>
                <a:lnTo>
                  <a:pt x="1429988" y="357203"/>
                </a:lnTo>
                <a:lnTo>
                  <a:pt x="1449165" y="344265"/>
                </a:lnTo>
                <a:lnTo>
                  <a:pt x="1462103" y="325088"/>
                </a:lnTo>
                <a:lnTo>
                  <a:pt x="1466850" y="301625"/>
                </a:lnTo>
                <a:lnTo>
                  <a:pt x="1466850" y="60325"/>
                </a:lnTo>
                <a:lnTo>
                  <a:pt x="1462103" y="36861"/>
                </a:lnTo>
                <a:lnTo>
                  <a:pt x="1449165" y="17684"/>
                </a:lnTo>
                <a:lnTo>
                  <a:pt x="1429988" y="4746"/>
                </a:lnTo>
                <a:lnTo>
                  <a:pt x="1406525" y="0"/>
                </a:lnTo>
                <a:close/>
              </a:path>
            </a:pathLst>
          </a:custGeom>
          <a:solidFill>
            <a:srgbClr val="0070C0"/>
          </a:solid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solidFill>
                  <a:srgbClr val="FFFFFF"/>
                </a:solidFill>
                <a:latin typeface="Arial"/>
                <a:cs typeface="Arial"/>
              </a:rPr>
              <a:t>Charge #1,6,7</a:t>
            </a:r>
          </a:p>
          <a:p>
            <a:pPr algn="ctr"/>
            <a:endParaRPr lang="en-US">
              <a:solidFill>
                <a:srgbClr val="FFFFFF"/>
              </a:solidFill>
              <a:cs typeface="Arial"/>
            </a:endParaRPr>
          </a:p>
        </p:txBody>
      </p:sp>
      <p:pic>
        <p:nvPicPr>
          <p:cNvPr id="11" name="Content Placeholder 10">
            <a:extLst>
              <a:ext uri="{FF2B5EF4-FFF2-40B4-BE49-F238E27FC236}">
                <a16:creationId xmlns:a16="http://schemas.microsoft.com/office/drawing/2014/main" id="{96DC886A-F985-DE0A-7CF8-E8A89DA5B830}"/>
              </a:ext>
            </a:extLst>
          </p:cNvPr>
          <p:cNvPicPr>
            <a:picLocks noGrp="1" noChangeAspect="1"/>
          </p:cNvPicPr>
          <p:nvPr>
            <p:ph sz="half" idx="2"/>
          </p:nvPr>
        </p:nvPicPr>
        <p:blipFill>
          <a:blip r:embed="rId3"/>
          <a:stretch>
            <a:fillRect/>
          </a:stretch>
        </p:blipFill>
        <p:spPr>
          <a:xfrm>
            <a:off x="703283" y="4352003"/>
            <a:ext cx="10776664" cy="1726844"/>
          </a:xfrm>
          <a:prstGeom prst="rect">
            <a:avLst/>
          </a:prstGeom>
        </p:spPr>
      </p:pic>
    </p:spTree>
    <p:extLst>
      <p:ext uri="{BB962C8B-B14F-4D97-AF65-F5344CB8AC3E}">
        <p14:creationId xmlns:p14="http://schemas.microsoft.com/office/powerpoint/2010/main" val="14096145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05C3F4F-EFEE-5413-ABDB-35794CFE09F3}"/>
              </a:ext>
            </a:extLst>
          </p:cNvPr>
          <p:cNvSpPr>
            <a:spLocks noGrp="1"/>
          </p:cNvSpPr>
          <p:nvPr>
            <p:ph type="sldNum" sz="quarter" idx="4"/>
          </p:nvPr>
        </p:nvSpPr>
        <p:spPr/>
        <p:txBody>
          <a:bodyPr/>
          <a:lstStyle/>
          <a:p>
            <a:pPr algn="ctr"/>
            <a:fld id="{933A556B-7C63-244D-9B7C-B0EA8042B330}" type="slidenum">
              <a:rPr lang="en-US" smtClean="0"/>
              <a:pPr algn="ctr"/>
              <a:t>29</a:t>
            </a:fld>
            <a:endParaRPr lang="en-US"/>
          </a:p>
        </p:txBody>
      </p:sp>
      <p:sp>
        <p:nvSpPr>
          <p:cNvPr id="3" name="Title 2">
            <a:extLst>
              <a:ext uri="{FF2B5EF4-FFF2-40B4-BE49-F238E27FC236}">
                <a16:creationId xmlns:a16="http://schemas.microsoft.com/office/drawing/2014/main" id="{F1AE0230-7C4F-1243-46D8-09509FE3839A}"/>
              </a:ext>
            </a:extLst>
          </p:cNvPr>
          <p:cNvSpPr>
            <a:spLocks noGrp="1"/>
          </p:cNvSpPr>
          <p:nvPr>
            <p:ph type="title"/>
          </p:nvPr>
        </p:nvSpPr>
        <p:spPr/>
        <p:txBody>
          <a:bodyPr/>
          <a:lstStyle/>
          <a:p>
            <a:r>
              <a:rPr lang="en-US">
                <a:solidFill>
                  <a:srgbClr val="000000"/>
                </a:solidFill>
                <a:latin typeface="Arial"/>
                <a:cs typeface="Arial"/>
              </a:rPr>
              <a:t>CI/CD Pipelines</a:t>
            </a:r>
            <a:endParaRPr lang="en-US"/>
          </a:p>
        </p:txBody>
      </p:sp>
      <p:sp>
        <p:nvSpPr>
          <p:cNvPr id="4" name="Text Placeholder 3">
            <a:extLst>
              <a:ext uri="{FF2B5EF4-FFF2-40B4-BE49-F238E27FC236}">
                <a16:creationId xmlns:a16="http://schemas.microsoft.com/office/drawing/2014/main" id="{5679ECDF-AB96-70B6-679A-84A33EA9EC2C}"/>
              </a:ext>
            </a:extLst>
          </p:cNvPr>
          <p:cNvSpPr>
            <a:spLocks noGrp="1"/>
          </p:cNvSpPr>
          <p:nvPr>
            <p:ph type="body" sz="quarter" idx="10"/>
          </p:nvPr>
        </p:nvSpPr>
        <p:spPr>
          <a:xfrm>
            <a:off x="461963" y="981075"/>
            <a:ext cx="11499850" cy="3353262"/>
          </a:xfrm>
        </p:spPr>
        <p:txBody>
          <a:bodyPr vert="horz" lIns="91440" tIns="45720" rIns="91440" bIns="45720" rtlCol="0" anchor="t">
            <a:normAutofit fontScale="55000" lnSpcReduction="20000"/>
          </a:bodyPr>
          <a:lstStyle/>
          <a:p>
            <a:pPr marL="0" indent="0">
              <a:lnSpc>
                <a:spcPct val="120000"/>
              </a:lnSpc>
              <a:buNone/>
            </a:pPr>
            <a:r>
              <a:rPr lang="en-US">
                <a:ea typeface="+mn-lt"/>
                <a:cs typeface="+mn-lt"/>
              </a:rPr>
              <a:t>CI/CD and automated deploy pipelines eliminate manual, error-prone delivery steps — replacing them with repeatable, auditable workflows that enforce quality gates from code change to production system.</a:t>
            </a:r>
            <a:endParaRPr lang="en-US">
              <a:cs typeface="Arial" panose="020B0604020202020204"/>
            </a:endParaRPr>
          </a:p>
          <a:p>
            <a:pPr>
              <a:lnSpc>
                <a:spcPct val="120000"/>
              </a:lnSpc>
            </a:pPr>
            <a:r>
              <a:rPr lang="en-US">
                <a:ea typeface="+mn-lt"/>
                <a:cs typeface="+mn-lt"/>
              </a:rPr>
              <a:t>Infrastructure pipelines:</a:t>
            </a:r>
            <a:endParaRPr lang="en-US">
              <a:cs typeface="Arial" panose="020B0604020202020204"/>
            </a:endParaRPr>
          </a:p>
          <a:p>
            <a:pPr lvl="1">
              <a:lnSpc>
                <a:spcPct val="120000"/>
              </a:lnSpc>
            </a:pPr>
            <a:r>
              <a:rPr lang="en-US">
                <a:ea typeface="+mn-lt"/>
                <a:cs typeface="+mn-lt"/>
              </a:rPr>
              <a:t>VM provisioning and base image configuration</a:t>
            </a:r>
            <a:endParaRPr lang="en-US">
              <a:cs typeface="Arial"/>
            </a:endParaRPr>
          </a:p>
          <a:p>
            <a:pPr lvl="1">
              <a:lnSpc>
                <a:spcPct val="120000"/>
              </a:lnSpc>
            </a:pPr>
            <a:r>
              <a:rPr lang="en-US">
                <a:ea typeface="+mn-lt"/>
                <a:cs typeface="+mn-lt"/>
              </a:rPr>
              <a:t>Network and policy artifacts (including firewall and routing policy updates)</a:t>
            </a:r>
            <a:endParaRPr lang="en-US">
              <a:cs typeface="Arial"/>
            </a:endParaRPr>
          </a:p>
          <a:p>
            <a:pPr>
              <a:lnSpc>
                <a:spcPct val="120000"/>
              </a:lnSpc>
            </a:pPr>
            <a:r>
              <a:rPr lang="en-US">
                <a:ea typeface="+mn-lt"/>
                <a:cs typeface="+mn-lt"/>
              </a:rPr>
              <a:t>IOC and controls application pipelines:</a:t>
            </a:r>
            <a:endParaRPr lang="en-US">
              <a:cs typeface="Arial" panose="020B0604020202020204"/>
            </a:endParaRPr>
          </a:p>
          <a:p>
            <a:pPr lvl="1">
              <a:lnSpc>
                <a:spcPct val="120000"/>
              </a:lnSpc>
            </a:pPr>
            <a:r>
              <a:rPr lang="en-US">
                <a:ea typeface="+mn-lt"/>
                <a:cs typeface="+mn-lt"/>
              </a:rPr>
              <a:t>Build, package, and deploy IOC software and associated configuration</a:t>
            </a:r>
            <a:endParaRPr lang="en-US">
              <a:cs typeface="Arial"/>
            </a:endParaRPr>
          </a:p>
          <a:p>
            <a:pPr>
              <a:lnSpc>
                <a:spcPct val="120000"/>
              </a:lnSpc>
            </a:pPr>
            <a:r>
              <a:rPr lang="en-US">
                <a:ea typeface="+mn-lt"/>
                <a:cs typeface="+mn-lt"/>
              </a:rPr>
              <a:t>Phoebus Tools and Service pipelines:</a:t>
            </a:r>
            <a:endParaRPr lang="en-US">
              <a:cs typeface="Arial" panose="020B0604020202020204"/>
            </a:endParaRPr>
          </a:p>
          <a:p>
            <a:pPr lvl="1">
              <a:lnSpc>
                <a:spcPct val="120000"/>
              </a:lnSpc>
            </a:pPr>
            <a:r>
              <a:rPr lang="en-US">
                <a:ea typeface="+mn-lt"/>
                <a:cs typeface="+mn-lt"/>
              </a:rPr>
              <a:t>Deploy and update archiver, alarm, databases, and HTTP service components</a:t>
            </a:r>
            <a:endParaRPr lang="en-US">
              <a:cs typeface="Arial"/>
            </a:endParaRPr>
          </a:p>
          <a:p>
            <a:pPr lvl="1">
              <a:lnSpc>
                <a:spcPct val="120000"/>
              </a:lnSpc>
            </a:pPr>
            <a:r>
              <a:rPr lang="en-US">
                <a:ea typeface="+mn-lt"/>
                <a:cs typeface="+mn-lt"/>
              </a:rPr>
              <a:t>Phoebus product packaging and distribution updates</a:t>
            </a:r>
          </a:p>
          <a:p>
            <a:pPr>
              <a:lnSpc>
                <a:spcPct val="120000"/>
              </a:lnSpc>
            </a:pPr>
            <a:r>
              <a:rPr lang="en-US">
                <a:ea typeface="+mn-lt"/>
                <a:cs typeface="+mn-lt"/>
              </a:rPr>
              <a:t>Resource pipelines:</a:t>
            </a:r>
            <a:endParaRPr lang="en-US">
              <a:cs typeface="Arial" panose="020B0604020202020204"/>
            </a:endParaRPr>
          </a:p>
          <a:p>
            <a:pPr lvl="1">
              <a:lnSpc>
                <a:spcPct val="120000"/>
              </a:lnSpc>
            </a:pPr>
            <a:r>
              <a:rPr lang="en-US">
                <a:ea typeface="+mn-lt"/>
                <a:cs typeface="+mn-lt"/>
              </a:rPr>
              <a:t>OPI screens, preferences, and configuration management artifacts</a:t>
            </a:r>
            <a:endParaRPr lang="en-US">
              <a:cs typeface="Arial"/>
            </a:endParaRPr>
          </a:p>
        </p:txBody>
      </p:sp>
      <p:sp>
        <p:nvSpPr>
          <p:cNvPr id="5" name="object 3">
            <a:extLst>
              <a:ext uri="{FF2B5EF4-FFF2-40B4-BE49-F238E27FC236}">
                <a16:creationId xmlns:a16="http://schemas.microsoft.com/office/drawing/2014/main" id="{3D001DD1-80B5-6B51-1C9C-ED399DF18588}"/>
              </a:ext>
            </a:extLst>
          </p:cNvPr>
          <p:cNvSpPr/>
          <p:nvPr/>
        </p:nvSpPr>
        <p:spPr>
          <a:xfrm>
            <a:off x="10276292" y="571938"/>
            <a:ext cx="1694372" cy="318021"/>
          </a:xfrm>
          <a:custGeom>
            <a:avLst/>
            <a:gdLst/>
            <a:ahLst/>
            <a:cxnLst/>
            <a:rect l="l" t="t" r="r" b="b"/>
            <a:pathLst>
              <a:path w="1466850" h="361950">
                <a:moveTo>
                  <a:pt x="1406525" y="0"/>
                </a:moveTo>
                <a:lnTo>
                  <a:pt x="60325" y="0"/>
                </a:lnTo>
                <a:lnTo>
                  <a:pt x="36861" y="4746"/>
                </a:lnTo>
                <a:lnTo>
                  <a:pt x="17684" y="17684"/>
                </a:lnTo>
                <a:lnTo>
                  <a:pt x="4746" y="36861"/>
                </a:lnTo>
                <a:lnTo>
                  <a:pt x="0" y="60325"/>
                </a:lnTo>
                <a:lnTo>
                  <a:pt x="0" y="301625"/>
                </a:lnTo>
                <a:lnTo>
                  <a:pt x="4746" y="325088"/>
                </a:lnTo>
                <a:lnTo>
                  <a:pt x="17684" y="344265"/>
                </a:lnTo>
                <a:lnTo>
                  <a:pt x="36861" y="357203"/>
                </a:lnTo>
                <a:lnTo>
                  <a:pt x="60325" y="361950"/>
                </a:lnTo>
                <a:lnTo>
                  <a:pt x="1406525" y="361950"/>
                </a:lnTo>
                <a:lnTo>
                  <a:pt x="1429988" y="357203"/>
                </a:lnTo>
                <a:lnTo>
                  <a:pt x="1449165" y="344265"/>
                </a:lnTo>
                <a:lnTo>
                  <a:pt x="1462103" y="325088"/>
                </a:lnTo>
                <a:lnTo>
                  <a:pt x="1466850" y="301625"/>
                </a:lnTo>
                <a:lnTo>
                  <a:pt x="1466850" y="60325"/>
                </a:lnTo>
                <a:lnTo>
                  <a:pt x="1462103" y="36861"/>
                </a:lnTo>
                <a:lnTo>
                  <a:pt x="1449165" y="17684"/>
                </a:lnTo>
                <a:lnTo>
                  <a:pt x="1429988" y="4746"/>
                </a:lnTo>
                <a:lnTo>
                  <a:pt x="1406525" y="0"/>
                </a:lnTo>
                <a:close/>
              </a:path>
            </a:pathLst>
          </a:custGeom>
          <a:solidFill>
            <a:srgbClr val="0070C0"/>
          </a:solid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solidFill>
                  <a:srgbClr val="FFFFFF"/>
                </a:solidFill>
                <a:latin typeface="Arial"/>
                <a:cs typeface="Arial"/>
              </a:rPr>
              <a:t>Charge #1,6,7</a:t>
            </a:r>
          </a:p>
          <a:p>
            <a:pPr algn="ctr"/>
            <a:endParaRPr lang="en-US" sz="1900">
              <a:solidFill>
                <a:srgbClr val="FFFFFF"/>
              </a:solidFill>
              <a:cs typeface="Arial"/>
            </a:endParaRPr>
          </a:p>
          <a:p>
            <a:pPr algn="ctr"/>
            <a:endParaRPr lang="en-US">
              <a:solidFill>
                <a:srgbClr val="FFFFFF"/>
              </a:solidFill>
              <a:cs typeface="Arial"/>
            </a:endParaRPr>
          </a:p>
        </p:txBody>
      </p:sp>
      <p:pic>
        <p:nvPicPr>
          <p:cNvPr id="8" name="Picture 7">
            <a:extLst>
              <a:ext uri="{FF2B5EF4-FFF2-40B4-BE49-F238E27FC236}">
                <a16:creationId xmlns:a16="http://schemas.microsoft.com/office/drawing/2014/main" id="{C7925C7A-9587-4CF1-E7EF-5A49CFDEF20C}"/>
              </a:ext>
            </a:extLst>
          </p:cNvPr>
          <p:cNvPicPr>
            <a:picLocks noChangeAspect="1"/>
          </p:cNvPicPr>
          <p:nvPr/>
        </p:nvPicPr>
        <p:blipFill>
          <a:blip r:embed="rId3"/>
          <a:stretch>
            <a:fillRect/>
          </a:stretch>
        </p:blipFill>
        <p:spPr>
          <a:xfrm>
            <a:off x="731520" y="4234552"/>
            <a:ext cx="10728960" cy="2084597"/>
          </a:xfrm>
          <a:prstGeom prst="rect">
            <a:avLst/>
          </a:prstGeom>
        </p:spPr>
      </p:pic>
    </p:spTree>
    <p:extLst>
      <p:ext uri="{BB962C8B-B14F-4D97-AF65-F5344CB8AC3E}">
        <p14:creationId xmlns:p14="http://schemas.microsoft.com/office/powerpoint/2010/main" val="22154849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DAC7D70-6257-504C-9E5D-09F8C854FB17}"/>
              </a:ext>
            </a:extLst>
          </p:cNvPr>
          <p:cNvSpPr>
            <a:spLocks noGrp="1"/>
          </p:cNvSpPr>
          <p:nvPr>
            <p:ph type="sldNum" sz="quarter" idx="4"/>
          </p:nvPr>
        </p:nvSpPr>
        <p:spPr/>
        <p:txBody>
          <a:bodyPr/>
          <a:lstStyle/>
          <a:p>
            <a:fld id="{933A556B-7C63-244D-9B7C-B0EA8042B330}" type="slidenum">
              <a:rPr lang="en-US" smtClean="0"/>
              <a:pPr/>
              <a:t>30</a:t>
            </a:fld>
            <a:endParaRPr lang="en-US"/>
          </a:p>
        </p:txBody>
      </p:sp>
      <p:sp>
        <p:nvSpPr>
          <p:cNvPr id="3" name="Title 2">
            <a:extLst>
              <a:ext uri="{FF2B5EF4-FFF2-40B4-BE49-F238E27FC236}">
                <a16:creationId xmlns:a16="http://schemas.microsoft.com/office/drawing/2014/main" id="{EC7E51D4-A091-99CA-E970-B9FEA68D2BBB}"/>
              </a:ext>
            </a:extLst>
          </p:cNvPr>
          <p:cNvSpPr>
            <a:spLocks noGrp="1"/>
          </p:cNvSpPr>
          <p:nvPr>
            <p:ph type="title"/>
          </p:nvPr>
        </p:nvSpPr>
        <p:spPr/>
        <p:txBody>
          <a:bodyPr/>
          <a:lstStyle/>
          <a:p>
            <a:r>
              <a:rPr lang="en-US"/>
              <a:t>Summary</a:t>
            </a:r>
          </a:p>
        </p:txBody>
      </p:sp>
      <p:sp>
        <p:nvSpPr>
          <p:cNvPr id="4" name="Text Placeholder 3">
            <a:extLst>
              <a:ext uri="{FF2B5EF4-FFF2-40B4-BE49-F238E27FC236}">
                <a16:creationId xmlns:a16="http://schemas.microsoft.com/office/drawing/2014/main" id="{6EF7ACF0-8722-2073-9682-EAAB92E5E1CF}"/>
              </a:ext>
            </a:extLst>
          </p:cNvPr>
          <p:cNvSpPr>
            <a:spLocks noGrp="1"/>
          </p:cNvSpPr>
          <p:nvPr>
            <p:ph type="body" sz="quarter" idx="10"/>
          </p:nvPr>
        </p:nvSpPr>
        <p:spPr>
          <a:xfrm>
            <a:off x="461963" y="981075"/>
            <a:ext cx="11499850" cy="5335520"/>
          </a:xfrm>
        </p:spPr>
        <p:txBody>
          <a:bodyPr vert="horz" lIns="91440" tIns="45720" rIns="91440" bIns="45720" rtlCol="0" anchor="t">
            <a:normAutofit/>
          </a:bodyPr>
          <a:lstStyle/>
          <a:p>
            <a:r>
              <a:rPr lang="en-US">
                <a:solidFill>
                  <a:srgbClr val="000000"/>
                </a:solidFill>
                <a:latin typeface="Arial"/>
                <a:cs typeface="Arial"/>
              </a:rPr>
              <a:t>EPICS 7 with pvAccess-first architecture is the controls baseline for new EIC systems</a:t>
            </a:r>
          </a:p>
          <a:p>
            <a:r>
              <a:rPr lang="en-US">
                <a:solidFill>
                  <a:srgbClr val="000000"/>
                </a:solidFill>
                <a:latin typeface="Arial"/>
                <a:cs typeface="Arial"/>
              </a:rPr>
              <a:t>Legacy ADO systems remain part of the near-term plan, with defined coexistence paths through AdoPvaSrv, AdoEpicsBridge, and Ado Datasource</a:t>
            </a:r>
          </a:p>
          <a:p>
            <a:r>
              <a:rPr lang="en-US">
                <a:solidFill>
                  <a:srgbClr val="000000"/>
                </a:solidFill>
                <a:latin typeface="Arial"/>
                <a:cs typeface="Arial"/>
              </a:rPr>
              <a:t>Network architecture provides the structure for scalable and maintainable operations</a:t>
            </a:r>
          </a:p>
          <a:p>
            <a:r>
              <a:rPr lang="en-US">
                <a:solidFill>
                  <a:srgbClr val="000000"/>
                </a:solidFill>
                <a:latin typeface="Arial"/>
                <a:cs typeface="Arial"/>
              </a:rPr>
              <a:t>Middle-layer services and Phoebus tooling provide the operator and integration framework for the controls stack</a:t>
            </a:r>
          </a:p>
          <a:p>
            <a:r>
              <a:rPr lang="en-US">
                <a:solidFill>
                  <a:srgbClr val="000000"/>
                </a:solidFill>
                <a:latin typeface="Arial"/>
                <a:cs typeface="Arial"/>
              </a:rPr>
              <a:t>The controls stack is designed to support long-term operability, collaboration, and phased migration during EIC construction</a:t>
            </a:r>
          </a:p>
          <a:p>
            <a:r>
              <a:rPr lang="en-US">
                <a:solidFill>
                  <a:srgbClr val="000000"/>
                </a:solidFill>
                <a:latin typeface="Arial"/>
                <a:cs typeface="Arial"/>
              </a:rPr>
              <a:t>QA/QC gates and CI/CD automation provide the delivery and governance framework needed for final design progression</a:t>
            </a:r>
            <a:endParaRPr lang="en-US">
              <a:cs typeface="Arial"/>
            </a:endParaRPr>
          </a:p>
          <a:p>
            <a:endParaRPr lang="en-US">
              <a:cs typeface="Arial"/>
            </a:endParaRPr>
          </a:p>
        </p:txBody>
      </p:sp>
    </p:spTree>
    <p:extLst>
      <p:ext uri="{BB962C8B-B14F-4D97-AF65-F5344CB8AC3E}">
        <p14:creationId xmlns:p14="http://schemas.microsoft.com/office/powerpoint/2010/main" val="2812832004"/>
      </p:ext>
    </p:extLst>
  </p:cSld>
  <p:clrMapOvr>
    <a:masterClrMapping/>
  </p:clrMapOvr>
</p:sld>
</file>

<file path=ppt/theme/theme1.xml><?xml version="1.0" encoding="utf-8"?>
<a:theme xmlns:a="http://schemas.openxmlformats.org/drawingml/2006/main" name="BNL">
  <a:themeElements>
    <a:clrScheme name="BNL_NSLS-II">
      <a:dk1>
        <a:srgbClr val="000000"/>
      </a:dk1>
      <a:lt1>
        <a:srgbClr val="FFFFFF"/>
      </a:lt1>
      <a:dk2>
        <a:srgbClr val="105B78"/>
      </a:dk2>
      <a:lt2>
        <a:srgbClr val="00ACDB"/>
      </a:lt2>
      <a:accent1>
        <a:srgbClr val="B2D33A"/>
      </a:accent1>
      <a:accent2>
        <a:srgbClr val="F68A1F"/>
      </a:accent2>
      <a:accent3>
        <a:srgbClr val="B62466"/>
      </a:accent3>
      <a:accent4>
        <a:srgbClr val="FFCC33"/>
      </a:accent4>
      <a:accent5>
        <a:srgbClr val="DA3525"/>
      </a:accent5>
      <a:accent6>
        <a:srgbClr val="50489D"/>
      </a:accent6>
      <a:hlink>
        <a:srgbClr val="4881C3"/>
      </a:hlink>
      <a:folHlink>
        <a:srgbClr val="24B574"/>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 Template.pptx" id="{DB6D734E-BB37-674B-901B-2399B35085C7}" vid="{99678696-B00B-AA46-9759-1FE8045A2629}"/>
    </a:ext>
  </a:extLst>
</a:theme>
</file>

<file path=ppt/theme/theme2.xml><?xml version="1.0" encoding="utf-8"?>
<a:theme xmlns:a="http://schemas.openxmlformats.org/drawingml/2006/main" name="1_BNL">
  <a:themeElements>
    <a:clrScheme name="BNL_NSLS-II">
      <a:dk1>
        <a:srgbClr val="000000"/>
      </a:dk1>
      <a:lt1>
        <a:srgbClr val="FFFFFF"/>
      </a:lt1>
      <a:dk2>
        <a:srgbClr val="105B78"/>
      </a:dk2>
      <a:lt2>
        <a:srgbClr val="00ACDB"/>
      </a:lt2>
      <a:accent1>
        <a:srgbClr val="B2D33A"/>
      </a:accent1>
      <a:accent2>
        <a:srgbClr val="F68A1F"/>
      </a:accent2>
      <a:accent3>
        <a:srgbClr val="B62466"/>
      </a:accent3>
      <a:accent4>
        <a:srgbClr val="FFCC33"/>
      </a:accent4>
      <a:accent5>
        <a:srgbClr val="DA3525"/>
      </a:accent5>
      <a:accent6>
        <a:srgbClr val="50489D"/>
      </a:accent6>
      <a:hlink>
        <a:srgbClr val="4881C3"/>
      </a:hlink>
      <a:folHlink>
        <a:srgbClr val="24B574"/>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3" id="{40B03456-9B8D-484F-87DB-076ADB43E9F3}" vid="{D3F09972-1605-9348-86B6-2FB56E667A30}"/>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Review Presentation" ma:contentTypeID="0x010100334C119A7B7AAD4B8531CC12C18B34A1020028F255E0DCC10B47BE594092C2246F45" ma:contentTypeVersion="" ma:contentTypeDescription="" ma:contentTypeScope="" ma:versionID="1b1771e368daafdc353345dbee73caa1">
  <xsd:schema xmlns:xsd="http://www.w3.org/2001/XMLSchema" xmlns:xs="http://www.w3.org/2001/XMLSchema" xmlns:p="http://schemas.microsoft.com/office/2006/metadata/properties" xmlns:ns2="3d20bb5b-8f2d-40ba-9a11-048b4f05bd17" targetNamespace="http://schemas.microsoft.com/office/2006/metadata/properties" ma:root="true" ma:fieldsID="282579a5cdabafc5245d86af0e16d00e" ns2:_="">
    <xsd:import namespace="3d20bb5b-8f2d-40ba-9a11-048b4f05bd17"/>
    <xsd:element name="properties">
      <xsd:complexType>
        <xsd:sequence>
          <xsd:element name="documentManagement">
            <xsd:complexType>
              <xsd:all>
                <xsd:element ref="ns2:Presente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d20bb5b-8f2d-40ba-9a11-048b4f05bd17" elementFormDefault="qualified">
    <xsd:import namespace="http://schemas.microsoft.com/office/2006/documentManagement/types"/>
    <xsd:import namespace="http://schemas.microsoft.com/office/infopath/2007/PartnerControls"/>
    <xsd:element name="Presenter" ma:index="8" nillable="true" ma:displayName="Presenter" ma:list="UserInfo" ma:internalName="Present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resenter xmlns="3d20bb5b-8f2d-40ba-9a11-048b4f05bd17">
      <UserInfo>
        <DisplayName/>
        <AccountId xsi:nil="true"/>
        <AccountType/>
      </UserInfo>
    </Presenter>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E9EDF1F-50AA-4D68-9E60-EFA2C106FA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d20bb5b-8f2d-40ba-9a11-048b4f05bd1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65637A3-DEB1-4C7D-9F81-D2184D65C3B4}">
  <ds:schemaRefs>
    <ds:schemaRef ds:uri="E006D8A9-0A03-48B7-A952-162888A85472"/>
    <ds:schemaRef ds:uri="e006d8a9-0a03-48b7-a952-162888a8547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3d20bb5b-8f2d-40ba-9a11-048b4f05bd17"/>
  </ds:schemaRefs>
</ds:datastoreItem>
</file>

<file path=customXml/itemProps3.xml><?xml version="1.0" encoding="utf-8"?>
<ds:datastoreItem xmlns:ds="http://schemas.openxmlformats.org/officeDocument/2006/customXml" ds:itemID="{0F209D19-ECD3-440E-A44C-BD3D2F26689B}">
  <ds:schemaRefs>
    <ds:schemaRef ds:uri="http://schemas.microsoft.com/sharepoint/v3/contenttype/forms"/>
  </ds:schemaRefs>
</ds:datastoreItem>
</file>

<file path=docMetadata/LabelInfo.xml><?xml version="1.0" encoding="utf-8"?>
<clbl:labelList xmlns:clbl="http://schemas.microsoft.com/office/2020/mipLabelMetadata">
  <clbl:label id="{89561e60-dc75-4c28-a1c9-2e8d8870196b}" enabled="0" method="" siteId="{89561e60-dc75-4c28-a1c9-2e8d8870196b}" removed="1"/>
</clbl:labelList>
</file>

<file path=docProps/app.xml><?xml version="1.0" encoding="utf-8"?>
<Properties xmlns="http://schemas.openxmlformats.org/officeDocument/2006/extended-properties" xmlns:vt="http://schemas.openxmlformats.org/officeDocument/2006/docPropsVTypes">
  <Template>BNL</Template>
  <Application>Microsoft Office PowerPoint</Application>
  <PresentationFormat>Widescreen</PresentationFormat>
  <Slides>30</Slides>
  <Notes>10</Notes>
  <HiddenSlides>0</HiddenSlides>
  <ScaleCrop>false</ScaleCrop>
  <HeadingPairs>
    <vt:vector size="4" baseType="variant">
      <vt:variant>
        <vt:lpstr>Theme</vt:lpstr>
      </vt:variant>
      <vt:variant>
        <vt:i4>2</vt:i4>
      </vt:variant>
      <vt:variant>
        <vt:lpstr>Slide Titles</vt:lpstr>
      </vt:variant>
      <vt:variant>
        <vt:i4>30</vt:i4>
      </vt:variant>
    </vt:vector>
  </HeadingPairs>
  <TitlesOfParts>
    <vt:vector size="32" baseType="lpstr">
      <vt:lpstr>BNL</vt:lpstr>
      <vt:lpstr>1_BNL</vt:lpstr>
      <vt:lpstr>Controls System Architecture</vt:lpstr>
      <vt:lpstr>About Me – Kunal Shroff</vt:lpstr>
      <vt:lpstr>Charge Questions</vt:lpstr>
      <vt:lpstr>Outline</vt:lpstr>
      <vt:lpstr>Scope</vt:lpstr>
      <vt:lpstr>Requirements</vt:lpstr>
      <vt:lpstr>Control System Architecture</vt:lpstr>
      <vt:lpstr>Control System Architecture</vt:lpstr>
      <vt:lpstr>EPICS Control System</vt:lpstr>
      <vt:lpstr>EPICS for EIC</vt:lpstr>
      <vt:lpstr>EPICS for EIC</vt:lpstr>
      <vt:lpstr>pvAccess Protocol for EIC</vt:lpstr>
      <vt:lpstr>ADO Control System</vt:lpstr>
      <vt:lpstr>Dual System Architecture Diagram</vt:lpstr>
      <vt:lpstr>Dual System Architecture Diagram</vt:lpstr>
      <vt:lpstr>Dual System Architecture Diagram</vt:lpstr>
      <vt:lpstr>Dual System Architecture Diagram</vt:lpstr>
      <vt:lpstr>Network Architecture and Subnet Strategy</vt:lpstr>
      <vt:lpstr>Network Architecture and Subnet Strategy</vt:lpstr>
      <vt:lpstr>Middle-Layer Services</vt:lpstr>
      <vt:lpstr>Middle-Layer Services</vt:lpstr>
      <vt:lpstr>Middle-Layer Services</vt:lpstr>
      <vt:lpstr>Phoebus Operator Toolkit</vt:lpstr>
      <vt:lpstr>Phoebus Operator Toolkit</vt:lpstr>
      <vt:lpstr>Phoebus Operator Toolkit</vt:lpstr>
      <vt:lpstr>Web Tools</vt:lpstr>
      <vt:lpstr>QA/QC</vt:lpstr>
      <vt:lpstr>CI/CD and Automation Stack</vt:lpstr>
      <vt:lpstr>CI/CD Pipelines</vt:lpstr>
      <vt:lpstr>Summary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Verdu Andres, Silvia</dc:creator>
  <cp:keywords/>
  <dc:description/>
  <cp:revision>2</cp:revision>
  <dcterms:created xsi:type="dcterms:W3CDTF">2025-05-26T22:03:26Z</dcterms:created>
  <dcterms:modified xsi:type="dcterms:W3CDTF">2026-06-12T19:35:08Z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0x010100334C119A7B7AAD4B8531CC12C18B34A1020028F255E0DCC10B47BE594092C2246F45</vt:lpwstr>
  </property>
  <property fmtid="{D5CDD505-2E9C-101B-9397-08002B2CF9AE}" pid="3" name="MediaServiceImageTags">
    <vt:lpwstr/>
  </property>
  <property fmtid="{D5CDD505-2E9C-101B-9397-08002B2CF9AE}" pid="4" name="Order">
    <vt:r8>41700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EndDate">
    <vt:lpwstr>S. Notaro</vt:lpwstr>
  </property>
  <property fmtid="{D5CDD505-2E9C-101B-9397-08002B2CF9AE}" pid="10" name="_ExtendedDescription">
    <vt:lpwstr/>
  </property>
  <property fmtid="{D5CDD505-2E9C-101B-9397-08002B2CF9AE}" pid="11" name="TriggerFlowInfo">
    <vt:lpwstr/>
  </property>
  <property fmtid="{D5CDD505-2E9C-101B-9397-08002B2CF9AE}" pid="12" name="AssignedTo">
    <vt:lpwstr/>
  </property>
  <property fmtid="{D5CDD505-2E9C-101B-9397-08002B2CF9AE}" pid="13" name="Status">
    <vt:lpwstr>Draft in Progress</vt:lpwstr>
  </property>
</Properties>
</file>